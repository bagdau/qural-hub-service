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41fcfe87b84b67" /><Relationship Type="http://schemas.openxmlformats.org/officeDocument/2006/relationships/extended-properties" Target="/docProps/app.xml" Id="R5d1d9d93187c4869" /><Relationship Type="http://schemas.openxmlformats.org/officeDocument/2006/relationships/officeDocument" Target="/ppt/presentation.xml" Id="R21c9bc1878f44d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921ee540184a7a"/>
  </p:sldMasterIdLst>
  <p:notesMasterIdLst>
    <p:notesMasterId xmlns:r="http://schemas.openxmlformats.org/officeDocument/2006/relationships" r:id="Rfd552f971edb47e5"/>
  </p:notesMasterIdLst>
  <p:sldIdLst>
    <p:sldId xmlns:r="http://schemas.openxmlformats.org/officeDocument/2006/relationships" id="256" r:id="R862e1c897bb74ad0"/>
    <p:sldId xmlns:r="http://schemas.openxmlformats.org/officeDocument/2006/relationships" id="257" r:id="Rc37682fc50514c58"/>
    <p:sldId xmlns:r="http://schemas.openxmlformats.org/officeDocument/2006/relationships" id="258" r:id="R9495c021a3e8435c"/>
    <p:sldId xmlns:r="http://schemas.openxmlformats.org/officeDocument/2006/relationships" id="259" r:id="R7104a04e5ab54bfb"/>
    <p:sldId xmlns:r="http://schemas.openxmlformats.org/officeDocument/2006/relationships" id="260" r:id="R106a74b8f9df4a71"/>
    <p:sldId xmlns:r="http://schemas.openxmlformats.org/officeDocument/2006/relationships" id="261" r:id="Rff7b3f50697c4f3f"/>
    <p:sldId xmlns:r="http://schemas.openxmlformats.org/officeDocument/2006/relationships" id="262" r:id="R9393f68a05874c82"/>
    <p:sldId xmlns:r="http://schemas.openxmlformats.org/officeDocument/2006/relationships" id="263" r:id="R02307d01fea9487f"/>
    <p:sldId xmlns:r="http://schemas.openxmlformats.org/officeDocument/2006/relationships" id="264" r:id="Re103874001ed4b49"/>
    <p:sldId xmlns:r="http://schemas.openxmlformats.org/officeDocument/2006/relationships" id="265" r:id="Rb99ec8f708fc4e00"/>
    <p:sldId xmlns:r="http://schemas.openxmlformats.org/officeDocument/2006/relationships" id="266" r:id="R73a64e53a3454a67"/>
    <p:sldId xmlns:r="http://schemas.openxmlformats.org/officeDocument/2006/relationships" id="267" r:id="R3e02cc174e554cb7"/>
    <p:sldId xmlns:r="http://schemas.openxmlformats.org/officeDocument/2006/relationships" id="268" r:id="R8f369e80a8064673"/>
    <p:sldId xmlns:r="http://schemas.openxmlformats.org/officeDocument/2006/relationships" id="269" r:id="Rcf2313d1ce604a4a"/>
    <p:sldId xmlns:r="http://schemas.openxmlformats.org/officeDocument/2006/relationships" id="270" r:id="R98a1ef84f56f43a8"/>
    <p:sldId xmlns:r="http://schemas.openxmlformats.org/officeDocument/2006/relationships" id="271" r:id="R8c797185a9b947be"/>
    <p:sldId xmlns:r="http://schemas.openxmlformats.org/officeDocument/2006/relationships" id="272" r:id="R7f6c7830911942b6"/>
    <p:sldId xmlns:r="http://schemas.openxmlformats.org/officeDocument/2006/relationships" id="273" r:id="Re612e8946c3641cb"/>
    <p:sldId xmlns:r="http://schemas.openxmlformats.org/officeDocument/2006/relationships" id="274" r:id="Ra2fa67bb2f604260"/>
    <p:sldId xmlns:r="http://schemas.openxmlformats.org/officeDocument/2006/relationships" id="275" r:id="R6878d358d8a947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64796a507b4e74" /><Relationship Type="http://schemas.openxmlformats.org/officeDocument/2006/relationships/slideMaster" Target="/ppt/slideMasters/slideMaster1.xml" Id="Rd1921ee540184a7a" /><Relationship Type="http://schemas.openxmlformats.org/officeDocument/2006/relationships/notesMaster" Target="/ppt/notesMasters/notesMaster1.xml" Id="Rfd552f971edb47e5" /><Relationship Type="http://schemas.openxmlformats.org/officeDocument/2006/relationships/presProps" Target="/ppt/presProps.xml" Id="Rd9334e46d0254d17" /><Relationship Type="http://schemas.openxmlformats.org/officeDocument/2006/relationships/tableStyles" Target="/ppt/tableStyles.xml" Id="Rbdd019eb9e814050" /><Relationship Type="http://schemas.openxmlformats.org/officeDocument/2006/relationships/slide" Target="/ppt/slides/slide1.xml" Id="R862e1c897bb74ad0" /><Relationship Type="http://schemas.openxmlformats.org/officeDocument/2006/relationships/slide" Target="/ppt/slides/slide2.xml" Id="Rc37682fc50514c58" /><Relationship Type="http://schemas.openxmlformats.org/officeDocument/2006/relationships/slide" Target="/ppt/slides/slide3.xml" Id="R9495c021a3e8435c" /><Relationship Type="http://schemas.openxmlformats.org/officeDocument/2006/relationships/slide" Target="/ppt/slides/slide4.xml" Id="R7104a04e5ab54bfb" /><Relationship Type="http://schemas.openxmlformats.org/officeDocument/2006/relationships/slide" Target="/ppt/slides/slide5.xml" Id="R106a74b8f9df4a71" /><Relationship Type="http://schemas.openxmlformats.org/officeDocument/2006/relationships/slide" Target="/ppt/slides/slide6.xml" Id="Rff7b3f50697c4f3f" /><Relationship Type="http://schemas.openxmlformats.org/officeDocument/2006/relationships/slide" Target="/ppt/slides/slide7.xml" Id="R9393f68a05874c82" /><Relationship Type="http://schemas.openxmlformats.org/officeDocument/2006/relationships/slide" Target="/ppt/slides/slide8.xml" Id="R02307d01fea9487f" /><Relationship Type="http://schemas.openxmlformats.org/officeDocument/2006/relationships/slide" Target="/ppt/slides/slide9.xml" Id="Re103874001ed4b49" /><Relationship Type="http://schemas.openxmlformats.org/officeDocument/2006/relationships/slide" Target="/ppt/slides/slide10.xml" Id="Rb99ec8f708fc4e00" /><Relationship Type="http://schemas.openxmlformats.org/officeDocument/2006/relationships/slide" Target="/ppt/slides/slide11.xml" Id="R73a64e53a3454a67" /><Relationship Type="http://schemas.openxmlformats.org/officeDocument/2006/relationships/slide" Target="/ppt/slides/slide12.xml" Id="R3e02cc174e554cb7" /><Relationship Type="http://schemas.openxmlformats.org/officeDocument/2006/relationships/slide" Target="/ppt/slides/slide13.xml" Id="R8f369e80a8064673" /><Relationship Type="http://schemas.openxmlformats.org/officeDocument/2006/relationships/slide" Target="/ppt/slides/slide14.xml" Id="Rcf2313d1ce604a4a" /><Relationship Type="http://schemas.openxmlformats.org/officeDocument/2006/relationships/slide" Target="/ppt/slides/slide15.xml" Id="R98a1ef84f56f43a8" /><Relationship Type="http://schemas.openxmlformats.org/officeDocument/2006/relationships/slide" Target="/ppt/slides/slide16.xml" Id="R8c797185a9b947be" /><Relationship Type="http://schemas.openxmlformats.org/officeDocument/2006/relationships/slide" Target="/ppt/slides/slide17.xml" Id="R7f6c7830911942b6" /><Relationship Type="http://schemas.openxmlformats.org/officeDocument/2006/relationships/slide" Target="/ppt/slides/slide18.xml" Id="Re612e8946c3641cb" /><Relationship Type="http://schemas.openxmlformats.org/officeDocument/2006/relationships/slide" Target="/ppt/slides/slide19.xml" Id="Ra2fa67bb2f604260" /><Relationship Type="http://schemas.openxmlformats.org/officeDocument/2006/relationships/slide" Target="/ppt/slides/slide20.xml" Id="R6878d358d8a947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38b9337f804d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8d1eb9b5bb4609" /><Relationship Type="http://schemas.openxmlformats.org/officeDocument/2006/relationships/notesMaster" Target="/ppt/notesMasters/notesMaster1.xml" Id="Rbafd74fb179b42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03864ed3ae4534" /><Relationship Type="http://schemas.openxmlformats.org/officeDocument/2006/relationships/notesMaster" Target="/ppt/notesMasters/notesMaster1.xml" Id="R1bb5b96a63e94e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41627140df444d" /><Relationship Type="http://schemas.openxmlformats.org/officeDocument/2006/relationships/notesMaster" Target="/ppt/notesMasters/notesMaster1.xml" Id="R5e13debdb3b743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8eba5bb8f4460c" /><Relationship Type="http://schemas.openxmlformats.org/officeDocument/2006/relationships/notesMaster" Target="/ppt/notesMasters/notesMaster1.xml" Id="R7affb69073b74b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1c2b62b39442ad" /><Relationship Type="http://schemas.openxmlformats.org/officeDocument/2006/relationships/notesMaster" Target="/ppt/notesMasters/notesMaster1.xml" Id="Rc1596f56fc3748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20172810634635" /><Relationship Type="http://schemas.openxmlformats.org/officeDocument/2006/relationships/notesMaster" Target="/ppt/notesMasters/notesMaster1.xml" Id="R42fb7dd46ec747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9539a7ea024d42" /><Relationship Type="http://schemas.openxmlformats.org/officeDocument/2006/relationships/notesMaster" Target="/ppt/notesMasters/notesMaster1.xml" Id="R32a634b3f1324b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cce33dab1547f2" /><Relationship Type="http://schemas.openxmlformats.org/officeDocument/2006/relationships/notesMaster" Target="/ppt/notesMasters/notesMaster1.xml" Id="Rdc0994bfd5bf43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b1c35dbe6f4944" /><Relationship Type="http://schemas.openxmlformats.org/officeDocument/2006/relationships/notesMaster" Target="/ppt/notesMasters/notesMaster1.xml" Id="R75683eb59de34a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a482de3eae4274" /><Relationship Type="http://schemas.openxmlformats.org/officeDocument/2006/relationships/notesMaster" Target="/ppt/notesMasters/notesMaster1.xml" Id="R47fd9b6c939549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8fc5e5c19045c4" /><Relationship Type="http://schemas.openxmlformats.org/officeDocument/2006/relationships/notesMaster" Target="/ppt/notesMasters/notesMaster1.xml" Id="Rd9bc70dab6fb4f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8c7f5add844bd7" /><Relationship Type="http://schemas.openxmlformats.org/officeDocument/2006/relationships/notesMaster" Target="/ppt/notesMasters/notesMaster1.xml" Id="R940ee1c5293c43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a8bed3b4684307" /><Relationship Type="http://schemas.openxmlformats.org/officeDocument/2006/relationships/notesMaster" Target="/ppt/notesMasters/notesMaster1.xml" Id="R976946f27e174f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53a9172a7d4583" /><Relationship Type="http://schemas.openxmlformats.org/officeDocument/2006/relationships/notesMaster" Target="/ppt/notesMasters/notesMaster1.xml" Id="R529964d7485341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5cedd11d2543ae" /><Relationship Type="http://schemas.openxmlformats.org/officeDocument/2006/relationships/notesMaster" Target="/ppt/notesMasters/notesMaster1.xml" Id="Rc7fbeda8452a42f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43a8d4e16b4293" /><Relationship Type="http://schemas.openxmlformats.org/officeDocument/2006/relationships/notesMaster" Target="/ppt/notesMasters/notesMaster1.xml" Id="Rebd2fcdb2f1442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35365b1f2e44d5" /><Relationship Type="http://schemas.openxmlformats.org/officeDocument/2006/relationships/notesMaster" Target="/ppt/notesMasters/notesMaster1.xml" Id="R6187c9e046814bc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642a8138844aa1" /><Relationship Type="http://schemas.openxmlformats.org/officeDocument/2006/relationships/notesMaster" Target="/ppt/notesMasters/notesMaster1.xml" Id="R61913bcc3b014bd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1d0ad422be743fa" /><Relationship Type="http://schemas.openxmlformats.org/officeDocument/2006/relationships/notesMaster" Target="/ppt/notesMasters/notesMaster1.xml" Id="R8589f8dbfb9b4fa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c8615f100a44390" /><Relationship Type="http://schemas.openxmlformats.org/officeDocument/2006/relationships/notesMaster" Target="/ppt/notesMasters/notesMaster1.xml" Id="Rfa24dc2d258640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Alageum Service Hub объединяет оборудование и весь процесс сервисного обслуживания. Проект студенческой команды университета предлагается для обсуждения возможного пилота. В интерфейсе используются демонстрационные данные, сотрудничество и внедрение в компании пока не подтверждены.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https://next.auezov.edu.kz/; официальный логотип: https://next.auezov.edu.kz/assets/img/logo-white.svg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описаны гипотезы проблем, а не результаты обследования конкретного предприятия. Если обращения и документы распределены между разными каналами, контроль требует дополнительных уточнений. На рабочей встрече важно определить, какие из этих ситуаций действительно возникают и как часто.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Исходная презентация, слайд 2;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Платформа связывает действия клиента, диспетчера и инженера вокруг одного объекта. Руководитель получает обзор текущих обращений, а клиент видит состояние своих заявок. Снимок показывает действующий интерфейс на синтетических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backend/app/visibility.py; assets/client-home.png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Роли разделяют выполнение работ, диспетчеризацию и контроль. Инженер работает со своими назначениями, а клиент ограничен своей организацией. Администратор настраивает систему, но его роль сама по себе не подменяет диспетчера в операционных действиях.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backend/app/visibility.py; backend/app/workflow.py; assets/users.png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Рабочий маршрут включает новую, принятую и назначенную заявку, работу инженера, ожидание подтверждения и закрытие. При задержке участник фиксирует причину паузы, следующее действие и ожидаемый срок возобновления. Клиент может вернуть результат на доработку, при этом история сохраняется.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backend/app/workflow.py; assets/ticket.png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Реестр охватывает трансформаторы, подстанции и распределительные устройства. Каждая единица относится к организации и площадке. В системе можно искать оборудование и переходить к его паспорту, не собирая сведения из отдельных файлов.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backend/app; assets/equipment.png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паспорте собраны идентификационные и технические сведения, документы, карта и план обслуживания. История позволяет проверить предыдущие обращения по тому же объекту. Это помогает инженеру подготовиться и не запрашивать заново уже сохранённую информацию.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assets/passport.png; assets/equipment-history.png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QR-код содержит ссылку на карточку оборудования. Он ускоряет доступ, но не заменяет авторизацию и проверку прав. Для камеры нужны защищённое соединение и разрешение браузера, а для напечатанных кодов при пилоте следует согласовать постоянный адрес приложения.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assets/qr.png; assets/scanner.png; frontend/src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Клиент или диспетчер создаёт заявку по существующему оборудованию. Диспетчер проверяет срочность и назначает исполнителя с плановой датой и комментарием. При повторном активном обращении и высокой загрузке инженера система показывает предупреждение.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assets/create.png; assets/assign.png; backend/app/workflow.py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Диспетчер видит путь обращений по колонкам и может быстро открыть карточку заявки. Фильтры позволяют работать с конкретным приоритетом, исполнителем или оборудованием. Доступные переходы зависят от роли и текущего состояния заявки.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assets/board.png; frontend/src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Инженер видит свои задания по состоянию и срокам. Мобильная версия позволяет открыть задачу и перейти к выполнению на площадке. Текущая версия требует подключения для действий, полноценная автономная работа с последующей синхронизацией не реализована.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assets/tasks.png; assets/mobile-tasks.png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завершением система проверяет заполнение обязательных полей и чек-листа. Инженер фиксирует диагностику, выполненные работы, использованные материалы и результат проверки. Для фотографий до и после предусмотрены обязательность либо согласованное диспетчером исключение.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assets/report.png; assets/checklist.png; backend/app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SLA задаёт контрольные сроки реакции и выполнения с учётом приоритета. При паузе и ожидании подтверждения останавливается отсчёт времени выполнения. Значения нормативов и правила рабочего времени следует согласовать с сервисным подразделением перед пилотом.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assets/timeline.png; backend/app/workflow.py; backend/app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завершения работ клиент получает результат на подтверждение. PDF-акт формируется по сохранённому отчёту, а возврат на доработку не стирает предыдущие версии. Подтверждение в кабинете реализовано, квалифицированная электронная подпись не подключена.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assets/confirmation.png; assets/act.png; backend/app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Диспетчер задаёт периодичность, дату и заблаговременность создания заявки. Фоновая задача формирует плановое обращение и защищает от повторного создания на ту же дату плана. Это помогает учитывать профилактику вместе с текущими ремонтами.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assets/maintenance.png; backend/app/worker.py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Карта использует координаты оборудования или его площадки. Сигналы помогают выделить объекты, по которым есть обращения или плановые работы. Это обзор расположения объектов, автоматическое построение оптимального маршрута выездов не заявляется.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assets/map.png; frontend/src; картографическая основа © OpenStreetMap contributors, https://www.openstreetmap.org/copyright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Показатели помогают руководителю определить, какие заявки требуют внимания и где повторяются обращения. Переход от показателя к списку заявок позволяет уточнить причину. Числа на снимке относятся к демонстрационному набору и не подтверждают экономический эффект.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assets/dashboard.png; backend/app/analytics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Сервер проверяет доступ к данным и действиям, включая документы и вложения. Администратор управляет учётными записями и настройками, а аудит помогает разбирать события. Текущая архитектура использует React, FastAPI и PostgreSQL с контейнерным развёртыванием.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assets/users.png; backend/app/visibility.py; 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Преимущество предлагаемого подхода заключается в связанности данных внутри конкретного сервисного процесса. Для завода полезны реестр объектов и планирование, для сервисной организации — диспетчеризация и подтверждение результата. Интеграции с ERP и 1С, полноценный склад и электронная подпись относятся к дальнейшему развитию, а не к готовым функциям.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docs/12-implementation-status.md; текущие экраны приложения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 начать с одного согласованного сценария и небольшой группы участников. Срок и состав пилота — ориентир из первоначального предложения, а не договорённость с компанией. Перед запуском следует зафиксировать исходные значения и критерии успеха, а бюджет определить после согласования масштаба и инфраструктуры.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Исходная презентация, слайды 9–10; README.md; assets/tablet-dashboard.png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69348a37945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74945397e4e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dd213ed304c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350aaabd84a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42257f404045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d2b6dddf644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BF2E7E-8221-478C-8751-4BD36871A1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4963D4-8B85-403B-9FC7-E412160B7A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8C73BA-1F50-404E-BD8A-064CA588B0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DE0C12-45EF-41D7-87A2-9F432B094E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DAF169-D3DB-43D0-B1A7-604064EC81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EF23D8-6BE7-4BA0-8508-58C6EFBD89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F9CA21-D168-4BC1-A0A3-C24EAAC1D3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A431E1-D8AB-45D0-9F90-1F385305F9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B0EF6F-8310-49BA-B10D-8F9CA9377A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660B3B-8DB3-406F-BC5E-49F753150A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4b15d315d741cb" /><Relationship Type="http://schemas.openxmlformats.org/officeDocument/2006/relationships/slideLayout" Target="/ppt/slideLayouts/slideLayout1.xml" Id="Rf8f4d0316c564ecc" /><Relationship Type="http://schemas.openxmlformats.org/officeDocument/2006/relationships/slideLayout" Target="/ppt/slideLayouts/slideLayout2.xml" Id="Rddad9b27200b4365" /><Relationship Type="http://schemas.openxmlformats.org/officeDocument/2006/relationships/slideLayout" Target="/ppt/slideLayouts/slideLayout3.xml" Id="Rfeef36ec230a4bcd" /><Relationship Type="http://schemas.openxmlformats.org/officeDocument/2006/relationships/slideLayout" Target="/ppt/slideLayouts/slideLayout4.xml" Id="Rce6a05b56d21421f" /><Relationship Type="http://schemas.openxmlformats.org/officeDocument/2006/relationships/slideLayout" Target="/ppt/slideLayouts/slideLayout5.xml" Id="R02b35cfcaae5458b" /><Relationship Type="http://schemas.openxmlformats.org/officeDocument/2006/relationships/slideLayout" Target="/ppt/slideLayouts/slideLayout6.xml" Id="Rb858dd0466e944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f4d0316c564ecc"/>
    <p:sldLayoutId xmlns:r="http://schemas.openxmlformats.org/officeDocument/2006/relationships" id="2147483650" r:id="Rddad9b27200b4365"/>
    <p:sldLayoutId xmlns:r="http://schemas.openxmlformats.org/officeDocument/2006/relationships" id="2147483651" r:id="Rfeef36ec230a4bcd"/>
    <p:sldLayoutId xmlns:r="http://schemas.openxmlformats.org/officeDocument/2006/relationships" id="2147483652" r:id="Rce6a05b56d21421f"/>
    <p:sldLayoutId xmlns:r="http://schemas.openxmlformats.org/officeDocument/2006/relationships" id="2147483653" r:id="R02b35cfcaae5458b"/>
    <p:sldLayoutId xmlns:r="http://schemas.openxmlformats.org/officeDocument/2006/relationships" id="2147483654" r:id="Rb858dd0466e944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5100bf08c4d54" /><Relationship Type="http://schemas.openxmlformats.org/officeDocument/2006/relationships/image" Target="/ppt/media/image.png" Id="Rde1f707f075a4fb9" /><Relationship Type="http://schemas.openxmlformats.org/officeDocument/2006/relationships/notesSlide" Target="/ppt/notesSlides/notesSlide1.xml" Id="Rf9a87e33f3eb45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dc10d2c83c4b74" /><Relationship Type="http://schemas.openxmlformats.org/officeDocument/2006/relationships/notesSlide" Target="/ppt/notesSlides/notesSlide2.xml" Id="Re8341b0449f54a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b8df186c074939" /><Relationship Type="http://schemas.openxmlformats.org/officeDocument/2006/relationships/image" Target="/ppt/media/image2.png" Id="R0f63322239804d28" /><Relationship Type="http://schemas.openxmlformats.org/officeDocument/2006/relationships/notesSlide" Target="/ppt/notesSlides/notesSlide3.xml" Id="Rb31ab71b89154f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54692b5a7a44f0" /><Relationship Type="http://schemas.openxmlformats.org/officeDocument/2006/relationships/notesSlide" Target="/ppt/notesSlides/notesSlide4.xml" Id="R15a5a859bce241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9b2800ac8c4161" /><Relationship Type="http://schemas.openxmlformats.org/officeDocument/2006/relationships/image" Target="/ppt/media/image3.png" Id="R00c6cd7596554ade" /><Relationship Type="http://schemas.openxmlformats.org/officeDocument/2006/relationships/notesSlide" Target="/ppt/notesSlides/notesSlide5.xml" Id="R58bd380e29f84f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65242617cf4756" /><Relationship Type="http://schemas.openxmlformats.org/officeDocument/2006/relationships/image" Target="/ppt/media/image4.png" Id="Rc3d7e09fd02944c3" /><Relationship Type="http://schemas.openxmlformats.org/officeDocument/2006/relationships/notesSlide" Target="/ppt/notesSlides/notesSlide6.xml" Id="R7826ca954ebe4e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8938c6e0e74bc8" /><Relationship Type="http://schemas.openxmlformats.org/officeDocument/2006/relationships/image" Target="/ppt/media/image5.png" Id="R0d86a9e3e0e34bb2" /><Relationship Type="http://schemas.openxmlformats.org/officeDocument/2006/relationships/image" Target="/ppt/media/image6.png" Id="R09a9f9ce0c344271" /><Relationship Type="http://schemas.openxmlformats.org/officeDocument/2006/relationships/notesSlide" Target="/ppt/notesSlides/notesSlide7.xml" Id="Ra071fa010d8244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6b966ac4504bed" /><Relationship Type="http://schemas.openxmlformats.org/officeDocument/2006/relationships/image" Target="/ppt/media/image7.png" Id="R028264f57f7f49a7" /><Relationship Type="http://schemas.openxmlformats.org/officeDocument/2006/relationships/image" Target="/ppt/media/image8.png" Id="R5599852b1f474128" /><Relationship Type="http://schemas.openxmlformats.org/officeDocument/2006/relationships/notesSlide" Target="/ppt/notesSlides/notesSlide8.xml" Id="R73bff8f5568e48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40599d94c4320" /><Relationship Type="http://schemas.openxmlformats.org/officeDocument/2006/relationships/image" Target="/ppt/media/image9.png" Id="R01b74adc70294f6d" /><Relationship Type="http://schemas.openxmlformats.org/officeDocument/2006/relationships/image" Target="/ppt/media/image10.png" Id="Ref89eb03139a43e2" /><Relationship Type="http://schemas.openxmlformats.org/officeDocument/2006/relationships/notesSlide" Target="/ppt/notesSlides/notesSlide9.xml" Id="R61fdb8e8334842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97d69afe144027" /><Relationship Type="http://schemas.openxmlformats.org/officeDocument/2006/relationships/image" Target="/ppt/media/image11.png" Id="Rce4aeb04b1b64f42" /><Relationship Type="http://schemas.openxmlformats.org/officeDocument/2006/relationships/notesSlide" Target="/ppt/notesSlides/notesSlide10.xml" Id="R66d489c21fc446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48331d6b34edc" /><Relationship Type="http://schemas.openxmlformats.org/officeDocument/2006/relationships/image" Target="/ppt/media/image12.png" Id="R472b6ec259e44d3a" /><Relationship Type="http://schemas.openxmlformats.org/officeDocument/2006/relationships/image" Target="/ppt/media/image13.png" Id="R048e612d017e4b64" /><Relationship Type="http://schemas.openxmlformats.org/officeDocument/2006/relationships/notesSlide" Target="/ppt/notesSlides/notesSlide11.xml" Id="R12af506b7a8d4d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6a25a79a454c00" /><Relationship Type="http://schemas.openxmlformats.org/officeDocument/2006/relationships/image" Target="/ppt/media/image14.png" Id="R01e59ec912aa4208" /><Relationship Type="http://schemas.openxmlformats.org/officeDocument/2006/relationships/image" Target="/ppt/media/image15.png" Id="R39af437c151d4c47" /><Relationship Type="http://schemas.openxmlformats.org/officeDocument/2006/relationships/notesSlide" Target="/ppt/notesSlides/notesSlide12.xml" Id="Ra095aa4cca384e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e2070410a497d" /><Relationship Type="http://schemas.openxmlformats.org/officeDocument/2006/relationships/image" Target="/ppt/media/image16.png" Id="R035b87caca714efb" /><Relationship Type="http://schemas.openxmlformats.org/officeDocument/2006/relationships/notesSlide" Target="/ppt/notesSlides/notesSlide13.xml" Id="Rd7e34fe6a35547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c55709d2c547fa" /><Relationship Type="http://schemas.openxmlformats.org/officeDocument/2006/relationships/image" Target="/ppt/media/image17.png" Id="R92c8a9465908468f" /><Relationship Type="http://schemas.openxmlformats.org/officeDocument/2006/relationships/image" Target="/ppt/media/image18.png" Id="R90cac6c0551d47a7" /><Relationship Type="http://schemas.openxmlformats.org/officeDocument/2006/relationships/notesSlide" Target="/ppt/notesSlides/notesSlide14.xml" Id="Ra1d6d418ef5744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cc80286ff448c7" /><Relationship Type="http://schemas.openxmlformats.org/officeDocument/2006/relationships/image" Target="/ppt/media/image19.png" Id="R57109283b8814337" /><Relationship Type="http://schemas.openxmlformats.org/officeDocument/2006/relationships/notesSlide" Target="/ppt/notesSlides/notesSlide15.xml" Id="Rea63617f6528480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29c40a71104d5f" /><Relationship Type="http://schemas.openxmlformats.org/officeDocument/2006/relationships/image" Target="/ppt/media/image20.png" Id="R419635867248483b" /><Relationship Type="http://schemas.openxmlformats.org/officeDocument/2006/relationships/notesSlide" Target="/ppt/notesSlides/notesSlide16.xml" Id="Rb3cd9d9ce5a344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05253615a149c0" /><Relationship Type="http://schemas.openxmlformats.org/officeDocument/2006/relationships/image" Target="/ppt/media/image21.png" Id="R7bacdd0a83a4480a" /><Relationship Type="http://schemas.openxmlformats.org/officeDocument/2006/relationships/notesSlide" Target="/ppt/notesSlides/notesSlide17.xml" Id="R4d9682d5a1534da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a1c2a954d4cb5" /><Relationship Type="http://schemas.openxmlformats.org/officeDocument/2006/relationships/image" Target="/ppt/media/image22.png" Id="R95e5b78560654558" /><Relationship Type="http://schemas.openxmlformats.org/officeDocument/2006/relationships/notesSlide" Target="/ppt/notesSlides/notesSlide18.xml" Id="Rb7d0455ba48543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78be93cfec4e56" /><Relationship Type="http://schemas.openxmlformats.org/officeDocument/2006/relationships/notesSlide" Target="/ppt/notesSlides/notesSlide19.xml" Id="Rd039132789a94dc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c06fa39bf4293" /><Relationship Type="http://schemas.openxmlformats.org/officeDocument/2006/relationships/image" Target="/ppt/media/image23.png" Id="R150e7595954a4480" /><Relationship Type="http://schemas.openxmlformats.org/officeDocument/2006/relationships/notesSlide" Target="/ppt/notesSlides/notesSlide20.xml" Id="R6462fea6609648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2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202FAA1B-0B92-4267-A48F-33A65A13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DB8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9F7E5-2451-47F5-8F1B-FE1FB1BB66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f707f075a4fb9"/>
          <a:stretch xmlns:a="http://schemas.openxmlformats.org/drawingml/2006/main"/>
        </p:blipFill>
        <p:spPr>
          <a:xfrm xmlns:a="http://schemas.openxmlformats.org/drawingml/2006/main">
            <a:off x="533400" y="411290"/>
            <a:ext cx="2057400" cy="853821"/>
          </a:xfrm>
          <a:prstGeom xmlns:a="http://schemas.openxmlformats.org/drawingml/2006/main" prst="rect">
            <a:avLst/>
          </a:prstGeom>
        </p:spPr>
      </p:pic>
      <p:sp>
        <p:nvSpPr>
          <p:cNvPr id="3" name="Южно-Казахстанский исследовательский университет&#10;имени ">
            <a:extLst xmlns:a="http://schemas.openxmlformats.org/drawingml/2006/main">
              <a:ext uri="{FF2B5EF4-FFF2-40B4-BE49-F238E27FC236}">
                <a16:creationId xmlns:a16="http://schemas.microsoft.com/office/drawing/2014/main" id="{5B69438D-B53F-4E8B-9AF7-23A26A5A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"/>
            <a:ext cx="847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Южно-Казахстанский исследовательский университет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имени Мухтара Ауэзова</a:t>
            </a:r>
          </a:p>
        </p:txBody>
      </p:sp>
      <p:sp>
        <p:nvSpPr>
          <p:cNvPr id="4" name="ALAGEUM&#10;SERVICE HUB">
            <a:extLst xmlns:a="http://schemas.openxmlformats.org/drawingml/2006/main">
              <a:ext uri="{FF2B5EF4-FFF2-40B4-BE49-F238E27FC236}">
                <a16:creationId xmlns:a16="http://schemas.microsoft.com/office/drawing/2014/main" id="{25EE3570-84C9-4203-AFD1-47243A14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1095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ALAGEUM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 HUB</a:t>
            </a:r>
          </a:p>
        </p:txBody>
      </p:sp>
      <p:sp>
        <p:nvSpPr>
          <p:cNvPr id="5" name="Учёт оборудования и управление&#10;сервисным обслуживанием">
            <a:extLst xmlns:a="http://schemas.openxmlformats.org/drawingml/2006/main">
              <a:ext uri="{FF2B5EF4-FFF2-40B4-BE49-F238E27FC236}">
                <a16:creationId xmlns:a16="http://schemas.microsoft.com/office/drawing/2014/main" id="{BA13E57C-1931-4958-9ADC-5A14B1E1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1000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D5CCFF"/>
                </a:solidFill>
                <a:latin typeface="Arial"/>
                <a:ea typeface="Arial"/>
                <a:cs typeface="Arial"/>
              </a:rPr>
              <a:t>Учёт оборудования и управление</a:t>
            </a:r>
          </a:p>
          <a:p xmlns:a="http://schemas.openxmlformats.org/drawingml/2006/main">
            <a: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D5CCFF"/>
                </a:solidFill>
                <a:latin typeface="Arial"/>
                <a:ea typeface="Arial"/>
                <a:cs typeface="Arial"/>
              </a:rPr>
              <a:t>сервисным обслуживанием</a:t>
            </a:r>
          </a:p>
        </p:txBody>
      </p:sp>
      <p:sp>
        <p:nvSpPr>
          <p:cNvPr id="6" name="Проект студенческой команды · Демонстрация работающего ">
            <a:extLst xmlns:a="http://schemas.openxmlformats.org/drawingml/2006/main">
              <a:ext uri="{FF2B5EF4-FFF2-40B4-BE49-F238E27FC236}">
                <a16:creationId xmlns:a16="http://schemas.microsoft.com/office/drawing/2014/main" id="{054809DD-4178-4B89-B215-878CB92D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Проект студенческой команды · Демонстрация работающего MVP</a:t>
            </a:r>
          </a:p>
        </p:txBody>
      </p:sp>
    </p:spTree>
    <p:extLst>
      <p:ext uri="{BB962C8B-B14F-4D97-AF65-F5344CB8AC3E}">
        <p14:creationId xmlns:p14="http://schemas.microsoft.com/office/powerpoint/2010/main" val="1069359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роблемы разрозненного сервисного учёта">
            <a:extLst xmlns:a="http://schemas.openxmlformats.org/drawingml/2006/main">
              <a:ext uri="{FF2B5EF4-FFF2-40B4-BE49-F238E27FC236}">
                <a16:creationId xmlns:a16="http://schemas.microsoft.com/office/drawing/2014/main" id="{84344C51-51CD-4B5D-93BB-A3F111A8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Проблемы разрозненного сервисного учёта</a:t>
            </a:r>
          </a:p>
        </p:txBody>
      </p:sp>
      <p:sp>
        <p:nvSpPr>
          <p:cNvPr id="2" name="Ситуации, которые предлагаем проверить вместе с сервисн">
            <a:extLst xmlns:a="http://schemas.openxmlformats.org/drawingml/2006/main">
              <a:ext uri="{FF2B5EF4-FFF2-40B4-BE49-F238E27FC236}">
                <a16:creationId xmlns:a16="http://schemas.microsoft.com/office/drawing/2014/main" id="{D9257EAC-A09C-47C1-8AD5-2D49A3AB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Ситуации, которые предлагаем проверить вместе с сервисной службой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FEE1413C-28F8-4880-A35C-186F1978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B8531-859E-4EEC-B6C6-E592FED6DC0A}"/>
              </a:ext>
            </a:extLst>
          </p:cNvPr>
          <p:cNvGraphicFramePr/>
          <p:nvPr/>
        </p:nvGraphicFramePr>
        <p:xfrm>
          <a:off xmlns:a="http://schemas.openxmlformats.org/drawingml/2006/main" x="533400" y="2009775"/>
          <a:ext xmlns:a="http://schemas.openxmlformats.org/drawingml/2006/main" cx="111252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76700"/>
                <a:gridCol w="7048500"/>
              </a:tblGrid>
              <a:tr h="6972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Проблема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Последствие для работы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Обращения в разных каналах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Сложно видеть общую очередь и срочные задачи.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Документы отдельно от оборудования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Перед выездом приходится искать паспорт и историю ремонта.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Статус уточняют по телефону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Клиенту и руководителю приходится уточнять ход работ.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Результаты оформляют по-разному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Трудно проверить полноту работ и причины повторного обращения.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5" name="Общая задача: связать объект, заявку, исполнителя и рез">
            <a:extLst xmlns:a="http://schemas.openxmlformats.org/drawingml/2006/main">
              <a:ext uri="{FF2B5EF4-FFF2-40B4-BE49-F238E27FC236}">
                <a16:creationId xmlns:a16="http://schemas.microsoft.com/office/drawing/2014/main" id="{91B1437F-DE1D-4BE8-A60A-07DFE1A3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Общая задача: связать объект, заявку, исполнителя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750728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Решение: общий процесс в одном приложении">
            <a:extLst xmlns:a="http://schemas.openxmlformats.org/drawingml/2006/main">
              <a:ext uri="{FF2B5EF4-FFF2-40B4-BE49-F238E27FC236}">
                <a16:creationId xmlns:a16="http://schemas.microsoft.com/office/drawing/2014/main" id="{04DB3AF2-C53A-454C-B199-AB503072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Решение: общий процесс в одном приложении</a:t>
            </a:r>
          </a:p>
        </p:txBody>
      </p:sp>
      <p:sp>
        <p:nvSpPr>
          <p:cNvPr id="2" name="Каждая заявка связана с конкретной единицей оборудовани">
            <a:extLst xmlns:a="http://schemas.openxmlformats.org/drawingml/2006/main">
              <a:ext uri="{FF2B5EF4-FFF2-40B4-BE49-F238E27FC236}">
                <a16:creationId xmlns:a16="http://schemas.microsoft.com/office/drawing/2014/main" id="{10D04A51-5F8F-49EB-9B26-B29BDB9E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Каждая заявка связана с конкретной единицей оборудования. На экране демоданные.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2882429B-D319-4C78-9D62-783132DA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Оборудование">
            <a:extLst xmlns:a="http://schemas.openxmlformats.org/drawingml/2006/main">
              <a:ext uri="{FF2B5EF4-FFF2-40B4-BE49-F238E27FC236}">
                <a16:creationId xmlns:a16="http://schemas.microsoft.com/office/drawing/2014/main" id="{A039B057-FE63-4C56-80B1-CFB9E32A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Оборудование</a:t>
            </a:r>
          </a:p>
        </p:txBody>
      </p:sp>
      <p:sp>
        <p:nvSpPr>
          <p:cNvPr id="5" name="Паспорт, документы и история работ.">
            <a:extLst xmlns:a="http://schemas.openxmlformats.org/drawingml/2006/main">
              <a:ext uri="{FF2B5EF4-FFF2-40B4-BE49-F238E27FC236}">
                <a16:creationId xmlns:a16="http://schemas.microsoft.com/office/drawing/2014/main" id="{11CD44D4-2040-43F8-B8EF-44A7B4E1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Паспорт, документы и история работ.</a:t>
            </a:r>
          </a:p>
        </p:txBody>
      </p:sp>
      <p:sp>
        <p:nvSpPr>
          <p:cNvPr id="6" name="Обслуживание">
            <a:extLst xmlns:a="http://schemas.openxmlformats.org/drawingml/2006/main">
              <a:ext uri="{FF2B5EF4-FFF2-40B4-BE49-F238E27FC236}">
                <a16:creationId xmlns:a16="http://schemas.microsoft.com/office/drawing/2014/main" id="{3E70F27A-6B4B-4707-AC49-1C5C0202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Обслуживание</a:t>
            </a:r>
          </a:p>
        </p:txBody>
      </p:sp>
      <p:sp>
        <p:nvSpPr>
          <p:cNvPr id="7" name="Ответственный, этап и срок по каждой заявке.">
            <a:extLst xmlns:a="http://schemas.openxmlformats.org/drawingml/2006/main">
              <a:ext uri="{FF2B5EF4-FFF2-40B4-BE49-F238E27FC236}">
                <a16:creationId xmlns:a16="http://schemas.microsoft.com/office/drawing/2014/main" id="{9F856E3D-8021-4242-B364-18F8CD86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Ответственный, этап и срок по каждой заявке.</a:t>
            </a:r>
          </a:p>
        </p:txBody>
      </p:sp>
      <p:sp>
        <p:nvSpPr>
          <p:cNvPr id="8" name="Контроль">
            <a:extLst xmlns:a="http://schemas.openxmlformats.org/drawingml/2006/main">
              <a:ext uri="{FF2B5EF4-FFF2-40B4-BE49-F238E27FC236}">
                <a16:creationId xmlns:a16="http://schemas.microsoft.com/office/drawing/2014/main" id="{339436D0-6147-49E5-A635-89EB1D1A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9" name="Отчёт инженера, подтверждение клиента и показатели.">
            <a:extLst xmlns:a="http://schemas.openxmlformats.org/drawingml/2006/main">
              <a:ext uri="{FF2B5EF4-FFF2-40B4-BE49-F238E27FC236}">
                <a16:creationId xmlns:a16="http://schemas.microsoft.com/office/drawing/2014/main" id="{4369596E-90E7-4388-9CC8-023068FE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Отчёт инженера, подтверждение клиента и показатели.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BF103-B089-4F8F-A1E9-732E81E15B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3322239804d28"/>
          <a:stretch xmlns:a="http://schemas.openxmlformats.org/drawingml/2006/main"/>
        </p:blipFill>
        <p:spPr>
          <a:xfrm xmlns:a="http://schemas.openxmlformats.org/drawingml/2006/main">
            <a:off x="3841661" y="1885950"/>
            <a:ext cx="7785279" cy="3838575"/>
          </a:xfrm>
          <a:prstGeom xmlns:a="http://schemas.openxmlformats.org/drawingml/2006/main" prst="rect">
            <a:avLst/>
          </a:prstGeom>
        </p:spPr>
      </p:pic>
      <p:sp>
        <p:nvSpPr>
          <p:cNvPr id="11" name="Участники видят данные и действия в пределах своей роли">
            <a:extLst xmlns:a="http://schemas.openxmlformats.org/drawingml/2006/main">
              <a:ext uri="{FF2B5EF4-FFF2-40B4-BE49-F238E27FC236}">
                <a16:creationId xmlns:a16="http://schemas.microsoft.com/office/drawing/2014/main" id="{646E5F3F-9D77-46DF-9B21-354C3F70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Участники видят данные и действия в пределах своей роли.</a:t>
            </a:r>
          </a:p>
        </p:txBody>
      </p:sp>
    </p:spTree>
    <p:extLst>
      <p:ext uri="{BB962C8B-B14F-4D97-AF65-F5344CB8AC3E}">
        <p14:creationId xmlns:p14="http://schemas.microsoft.com/office/powerpoint/2010/main" val="11641149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ять ролей с понятной ответственностью">
            <a:extLst xmlns:a="http://schemas.openxmlformats.org/drawingml/2006/main">
              <a:ext uri="{FF2B5EF4-FFF2-40B4-BE49-F238E27FC236}">
                <a16:creationId xmlns:a16="http://schemas.microsoft.com/office/drawing/2014/main" id="{50E69665-3615-4FB8-9E95-78B680DE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Пять ролей с понятной ответственностью</a:t>
            </a:r>
          </a:p>
        </p:txBody>
      </p:sp>
      <p:sp>
        <p:nvSpPr>
          <p:cNvPr id="2" name="Каждый участник получает свой рабочий экран и доступные">
            <a:extLst xmlns:a="http://schemas.openxmlformats.org/drawingml/2006/main">
              <a:ext uri="{FF2B5EF4-FFF2-40B4-BE49-F238E27FC236}">
                <a16:creationId xmlns:a16="http://schemas.microsoft.com/office/drawing/2014/main" id="{7E33DD32-F87F-4E84-9797-6B871B22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Каждый участник получает свой рабочий экран и доступные действия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4268B6F3-C4DE-4C1A-9932-9F4C3ACA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24B64-2B38-4A67-A29B-AA1E391ABBE0}"/>
              </a:ext>
            </a:extLst>
          </p:cNvPr>
          <p:cNvGraphicFramePr/>
          <p:nvPr/>
        </p:nvGraphicFramePr>
        <p:xfrm>
          <a:off xmlns:a="http://schemas.openxmlformats.org/drawingml/2006/main" x="533400" y="1905000"/>
          <a:ext xmlns:a="http://schemas.openxmlformats.org/drawingml/2006/main" cx="111252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17245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делает в системе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Клиент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Создаёт обращение, следит за заявкой, принимает результат.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Диспетчер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Уточняет приоритет, назначает инженера, контролирует очередь.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Инженер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Выполняет задания, заполняет отчёт, фиксирует материалы и фото.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Руководитель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Анализирует сроки, нагрузку и повторные обращения.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Администратор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Управляет пользователями, справочниками и настройками.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</a:tbl>
          </a:graphicData>
        </a:graphic>
      </p:graphicFrame>
      <p:sp>
        <p:nvSpPr>
          <p:cNvPr id="5" name="Клиент видит данные своей организации. Права проверяет ">
            <a:extLst xmlns:a="http://schemas.openxmlformats.org/drawingml/2006/main">
              <a:ext uri="{FF2B5EF4-FFF2-40B4-BE49-F238E27FC236}">
                <a16:creationId xmlns:a16="http://schemas.microsoft.com/office/drawing/2014/main" id="{9C0751C9-C685-4684-A689-C97D620D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Клиент видит данные своей организации. Права проверяет сервер.</a:t>
            </a:r>
          </a:p>
        </p:txBody>
      </p:sp>
    </p:spTree>
    <p:extLst>
      <p:ext uri="{BB962C8B-B14F-4D97-AF65-F5344CB8AC3E}">
        <p14:creationId xmlns:p14="http://schemas.microsoft.com/office/powerpoint/2010/main" val="1404556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Заявка проходит весь путь до подтверждения">
            <a:extLst xmlns:a="http://schemas.openxmlformats.org/drawingml/2006/main">
              <a:ext uri="{FF2B5EF4-FFF2-40B4-BE49-F238E27FC236}">
                <a16:creationId xmlns:a16="http://schemas.microsoft.com/office/drawing/2014/main" id="{AB6E8C28-F84B-4B4A-9B3D-53878F3F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Заявка проходит весь путь до подтверждения</a:t>
            </a:r>
          </a:p>
        </p:txBody>
      </p:sp>
      <p:sp>
        <p:nvSpPr>
          <p:cNvPr id="2" name="Один пример: клиент сообщает о неисправности электротех">
            <a:extLst xmlns:a="http://schemas.openxmlformats.org/drawingml/2006/main">
              <a:ext uri="{FF2B5EF4-FFF2-40B4-BE49-F238E27FC236}">
                <a16:creationId xmlns:a16="http://schemas.microsoft.com/office/drawing/2014/main" id="{33FF7C30-D0E2-4BB8-A4AC-F3BD60EB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Один пример: клиент сообщает о неисправности электротехнического оборудования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46A7E424-9C0E-46BC-87DD-16E38683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058D8BED-FE72-4C52-9E71-A9F8525A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Клиент регистрирует обращение">
            <a:extLst xmlns:a="http://schemas.openxmlformats.org/drawingml/2006/main">
              <a:ext uri="{FF2B5EF4-FFF2-40B4-BE49-F238E27FC236}">
                <a16:creationId xmlns:a16="http://schemas.microsoft.com/office/drawing/2014/main" id="{A58108EA-757E-4151-A1B1-20FFE984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764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Клиент регистрирует обращение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AB487EB3-CF49-452C-AD8B-5902545B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Диспетчер принимает и назначает">
            <a:extLst xmlns:a="http://schemas.openxmlformats.org/drawingml/2006/main">
              <a:ext uri="{FF2B5EF4-FFF2-40B4-BE49-F238E27FC236}">
                <a16:creationId xmlns:a16="http://schemas.microsoft.com/office/drawing/2014/main" id="{8267D073-F010-4719-AFED-1E72EFF5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33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Диспетчер принимает и назначает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8C9ECA31-A2D3-4B44-806A-DB4018A2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Инженер выполняет работу">
            <a:extLst xmlns:a="http://schemas.openxmlformats.org/drawingml/2006/main">
              <a:ext uri="{FF2B5EF4-FFF2-40B4-BE49-F238E27FC236}">
                <a16:creationId xmlns:a16="http://schemas.microsoft.com/office/drawing/2014/main" id="{BC166B7A-0E1E-4DF9-BF45-275919ED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909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Инженер выполняет работу</a:t>
            </a:r>
          </a:p>
        </p:txBody>
      </p:sp>
      <p:sp>
        <p:nvSpPr>
          <p:cNvPr id="10" name="04">
            <a:extLst xmlns:a="http://schemas.openxmlformats.org/drawingml/2006/main">
              <a:ext uri="{FF2B5EF4-FFF2-40B4-BE49-F238E27FC236}">
                <a16:creationId xmlns:a16="http://schemas.microsoft.com/office/drawing/2014/main" id="{37C51226-45A7-4700-A471-47091D25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Клиент подтверждает результат">
            <a:extLst xmlns:a="http://schemas.openxmlformats.org/drawingml/2006/main">
              <a:ext uri="{FF2B5EF4-FFF2-40B4-BE49-F238E27FC236}">
                <a16:creationId xmlns:a16="http://schemas.microsoft.com/office/drawing/2014/main" id="{A7A63F18-3DB3-4FAB-821E-63A43930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482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Клиент подтверждает результат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CA750-A32A-42AA-8CDC-66401104C2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6cd7596554ade"/>
          <a:stretch xmlns:a="http://schemas.openxmlformats.org/drawingml/2006/main"/>
        </p:blipFill>
        <p:spPr>
          <a:xfrm xmlns:a="http://schemas.openxmlformats.org/drawingml/2006/main">
            <a:off x="4667059" y="1952625"/>
            <a:ext cx="6972682" cy="3619500"/>
          </a:xfrm>
          <a:prstGeom xmlns:a="http://schemas.openxmlformats.org/drawingml/2006/main" prst="rect">
            <a:avLst/>
          </a:prstGeom>
        </p:spPr>
      </p:pic>
      <p:sp>
        <p:nvSpPr>
          <p:cNvPr id="13" name="Пауза хранит причину и следующее действие. Возврат запу">
            <a:extLst xmlns:a="http://schemas.openxmlformats.org/drawingml/2006/main">
              <a:ext uri="{FF2B5EF4-FFF2-40B4-BE49-F238E27FC236}">
                <a16:creationId xmlns:a16="http://schemas.microsoft.com/office/drawing/2014/main" id="{68C4F79D-E494-488C-A1D8-DF59BEF3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Пауза хранит причину и следующее действие. Возврат запускает доработку.</a:t>
            </a:r>
          </a:p>
        </p:txBody>
      </p:sp>
    </p:spTree>
    <p:extLst>
      <p:ext uri="{BB962C8B-B14F-4D97-AF65-F5344CB8AC3E}">
        <p14:creationId xmlns:p14="http://schemas.microsoft.com/office/powerpoint/2010/main" val="255524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Реестр оборудования">
            <a:extLst xmlns:a="http://schemas.openxmlformats.org/drawingml/2006/main">
              <a:ext uri="{FF2B5EF4-FFF2-40B4-BE49-F238E27FC236}">
                <a16:creationId xmlns:a16="http://schemas.microsoft.com/office/drawing/2014/main" id="{B628E3BB-59BE-461B-B736-592E4F8D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Реестр оборудования</a:t>
            </a:r>
          </a:p>
        </p:txBody>
      </p:sp>
      <p:sp>
        <p:nvSpPr>
          <p:cNvPr id="2" name="Объекты собраны по организациям и площадкам">
            <a:extLst xmlns:a="http://schemas.openxmlformats.org/drawingml/2006/main">
              <a:ext uri="{FF2B5EF4-FFF2-40B4-BE49-F238E27FC236}">
                <a16:creationId xmlns:a16="http://schemas.microsoft.com/office/drawing/2014/main" id="{6A0964C6-7C6C-4EF6-B4AD-65B9D393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Объекты собраны по организациям и площадкам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73EBAA56-FEFD-4221-81C2-5101458E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Быстрый поиск">
            <a:extLst xmlns:a="http://schemas.openxmlformats.org/drawingml/2006/main">
              <a:ext uri="{FF2B5EF4-FFF2-40B4-BE49-F238E27FC236}">
                <a16:creationId xmlns:a16="http://schemas.microsoft.com/office/drawing/2014/main" id="{0816FCAA-B1BF-40CD-BA05-1C47B613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Быстрый поиск</a:t>
            </a:r>
          </a:p>
        </p:txBody>
      </p:sp>
      <p:sp>
        <p:nvSpPr>
          <p:cNvPr id="5" name="Название, модель или серийный номер.">
            <a:extLst xmlns:a="http://schemas.openxmlformats.org/drawingml/2006/main">
              <a:ext uri="{FF2B5EF4-FFF2-40B4-BE49-F238E27FC236}">
                <a16:creationId xmlns:a16="http://schemas.microsoft.com/office/drawing/2014/main" id="{EB6EF725-9DE5-437F-B625-F75B088A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Название, модель или серийный номер.</a:t>
            </a:r>
          </a:p>
        </p:txBody>
      </p:sp>
      <p:sp>
        <p:nvSpPr>
          <p:cNvPr id="6" name="Единые данные">
            <a:extLst xmlns:a="http://schemas.openxmlformats.org/drawingml/2006/main">
              <a:ext uri="{FF2B5EF4-FFF2-40B4-BE49-F238E27FC236}">
                <a16:creationId xmlns:a16="http://schemas.microsoft.com/office/drawing/2014/main" id="{C6C823AF-81E9-44E4-BE15-ACFECBAD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Единые данные</a:t>
            </a:r>
          </a:p>
        </p:txBody>
      </p:sp>
      <p:sp>
        <p:nvSpPr>
          <p:cNvPr id="7" name="Тип, состояние, площадка и ближайший план.">
            <a:extLst xmlns:a="http://schemas.openxmlformats.org/drawingml/2006/main">
              <a:ext uri="{FF2B5EF4-FFF2-40B4-BE49-F238E27FC236}">
                <a16:creationId xmlns:a16="http://schemas.microsoft.com/office/drawing/2014/main" id="{6A4E1615-315A-4DFF-90A7-3E5F2DDC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Тип, состояние, площадка и ближайший план.</a:t>
            </a:r>
          </a:p>
        </p:txBody>
      </p:sp>
      <p:sp>
        <p:nvSpPr>
          <p:cNvPr id="8" name="Сохранение истории">
            <a:extLst xmlns:a="http://schemas.openxmlformats.org/drawingml/2006/main">
              <a:ext uri="{FF2B5EF4-FFF2-40B4-BE49-F238E27FC236}">
                <a16:creationId xmlns:a16="http://schemas.microsoft.com/office/drawing/2014/main" id="{D299BEE9-65C2-487D-AB4C-1C819A5D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Сохранение истории</a:t>
            </a:r>
          </a:p>
        </p:txBody>
      </p:sp>
      <p:sp>
        <p:nvSpPr>
          <p:cNvPr id="9" name="Архивирование сохраняет связь с прошлыми работами.">
            <a:extLst xmlns:a="http://schemas.openxmlformats.org/drawingml/2006/main">
              <a:ext uri="{FF2B5EF4-FFF2-40B4-BE49-F238E27FC236}">
                <a16:creationId xmlns:a16="http://schemas.microsoft.com/office/drawing/2014/main" id="{287C6405-F8E2-4A4B-BBBA-E58D6FC9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Архивирование сохраняет связь с прошлыми работами.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13D7D-23FA-47EF-846C-3C696D6F86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7e09fd02944c3"/>
          <a:stretch xmlns:a="http://schemas.openxmlformats.org/drawingml/2006/main"/>
        </p:blipFill>
        <p:spPr>
          <a:xfrm xmlns:a="http://schemas.openxmlformats.org/drawingml/2006/main">
            <a:off x="3731363" y="1943100"/>
            <a:ext cx="7910623" cy="3838575"/>
          </a:xfrm>
          <a:prstGeom xmlns:a="http://schemas.openxmlformats.org/drawingml/2006/main" prst="rect">
            <a:avLst/>
          </a:prstGeom>
        </p:spPr>
      </p:pic>
      <p:sp>
        <p:nvSpPr>
          <p:cNvPr id="11" name="Польза для завода: проще определить объект и найти связ">
            <a:extLst xmlns:a="http://schemas.openxmlformats.org/drawingml/2006/main">
              <a:ext uri="{FF2B5EF4-FFF2-40B4-BE49-F238E27FC236}">
                <a16:creationId xmlns:a16="http://schemas.microsoft.com/office/drawing/2014/main" id="{6A0EF0EF-2DD0-4A69-BB4C-65C8D6A0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Польза для завода: проще определить объект и найти связанные обращения.</a:t>
            </a:r>
          </a:p>
        </p:txBody>
      </p:sp>
    </p:spTree>
    <p:extLst>
      <p:ext uri="{BB962C8B-B14F-4D97-AF65-F5344CB8AC3E}">
        <p14:creationId xmlns:p14="http://schemas.microsoft.com/office/powerpoint/2010/main" val="8518424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Цифровой паспорт и история обслуживания">
            <a:extLst xmlns:a="http://schemas.openxmlformats.org/drawingml/2006/main">
              <a:ext uri="{FF2B5EF4-FFF2-40B4-BE49-F238E27FC236}">
                <a16:creationId xmlns:a16="http://schemas.microsoft.com/office/drawing/2014/main" id="{74CE9B02-1DD2-49DC-82B7-DCD5960D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Цифровой паспорт и история обслуживания</a:t>
            </a:r>
          </a:p>
        </p:txBody>
      </p:sp>
      <p:sp>
        <p:nvSpPr>
          <p:cNvPr id="2" name="Характеристики и прошлые обращения доступны из карточки">
            <a:extLst xmlns:a="http://schemas.openxmlformats.org/drawingml/2006/main">
              <a:ext uri="{FF2B5EF4-FFF2-40B4-BE49-F238E27FC236}">
                <a16:creationId xmlns:a16="http://schemas.microsoft.com/office/drawing/2014/main" id="{5C25E1AC-D97E-4B87-A45D-AE6BB296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Характеристики и прошлые обращения доступны из карточки объекта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C2DDA3BA-AB2C-40E7-A6B3-D970F9B5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D5FDA-F842-4717-B904-E8A2723DB8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6a9e3e0e34bb2"/>
          <a:stretch xmlns:a="http://schemas.openxmlformats.org/drawingml/2006/main"/>
        </p:blipFill>
        <p:spPr>
          <a:xfrm xmlns:a="http://schemas.openxmlformats.org/drawingml/2006/main">
            <a:off x="533400" y="2051146"/>
            <a:ext cx="6905625" cy="3212907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B681B-BEAB-4F76-9C9E-E60056AA23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9f9ce0c344271"/>
          <a:stretch xmlns:a="http://schemas.openxmlformats.org/drawingml/2006/main"/>
        </p:blipFill>
        <p:spPr>
          <a:xfrm xmlns:a="http://schemas.openxmlformats.org/drawingml/2006/main">
            <a:off x="7772400" y="2048729"/>
            <a:ext cx="3886200" cy="1941391"/>
          </a:xfrm>
          <a:prstGeom xmlns:a="http://schemas.openxmlformats.org/drawingml/2006/main" prst="rect">
            <a:avLst/>
          </a:prstGeom>
        </p:spPr>
      </p:pic>
      <p:sp>
        <p:nvSpPr>
          <p:cNvPr id="6" name="Технические данные">
            <a:extLst xmlns:a="http://schemas.openxmlformats.org/drawingml/2006/main">
              <a:ext uri="{FF2B5EF4-FFF2-40B4-BE49-F238E27FC236}">
                <a16:creationId xmlns:a16="http://schemas.microsoft.com/office/drawing/2014/main" id="{3267325A-7FCD-4B9F-8C30-9F00F5D5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Технические данные</a:t>
            </a:r>
          </a:p>
        </p:txBody>
      </p:sp>
      <p:sp>
        <p:nvSpPr>
          <p:cNvPr id="7" name="Модель, серийный номер, место установки и параметры.">
            <a:extLst xmlns:a="http://schemas.openxmlformats.org/drawingml/2006/main">
              <a:ext uri="{FF2B5EF4-FFF2-40B4-BE49-F238E27FC236}">
                <a16:creationId xmlns:a16="http://schemas.microsoft.com/office/drawing/2014/main" id="{8FFDCE73-48A5-4894-B098-211EB7A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6905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Модель, серийный номер, место установки и параметры.</a:t>
            </a:r>
          </a:p>
        </p:txBody>
      </p:sp>
      <p:sp>
        <p:nvSpPr>
          <p:cNvPr id="8" name="История по объекту">
            <a:extLst xmlns:a="http://schemas.openxmlformats.org/drawingml/2006/main">
              <a:ext uri="{FF2B5EF4-FFF2-40B4-BE49-F238E27FC236}">
                <a16:creationId xmlns:a16="http://schemas.microsoft.com/office/drawing/2014/main" id="{973044ED-F36E-455F-9112-6FBC0D5A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91025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История по объекту</a:t>
            </a:r>
          </a:p>
        </p:txBody>
      </p:sp>
      <p:sp>
        <p:nvSpPr>
          <p:cNvPr id="9" name="Заявки и результаты прошлых работ помогают подготовитьс">
            <a:extLst xmlns:a="http://schemas.openxmlformats.org/drawingml/2006/main">
              <a:ext uri="{FF2B5EF4-FFF2-40B4-BE49-F238E27FC236}">
                <a16:creationId xmlns:a16="http://schemas.microsoft.com/office/drawing/2014/main" id="{B30278B4-3783-498D-BF8F-7F951556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67275"/>
            <a:ext cx="3886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Заявки и результаты прошлых работ помогают подготовиться к выезду.</a:t>
            </a:r>
          </a:p>
        </p:txBody>
      </p:sp>
    </p:spTree>
    <p:extLst>
      <p:ext uri="{BB962C8B-B14F-4D97-AF65-F5344CB8AC3E}">
        <p14:creationId xmlns:p14="http://schemas.microsoft.com/office/powerpoint/2010/main" val="13091440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QR-код открывает нужный объект">
            <a:extLst xmlns:a="http://schemas.openxmlformats.org/drawingml/2006/main">
              <a:ext uri="{FF2B5EF4-FFF2-40B4-BE49-F238E27FC236}">
                <a16:creationId xmlns:a16="http://schemas.microsoft.com/office/drawing/2014/main" id="{D39F2DF9-A992-4C27-A826-600C7317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QR-код открывает нужный объект</a:t>
            </a:r>
          </a:p>
        </p:txBody>
      </p:sp>
      <p:sp>
        <p:nvSpPr>
          <p:cNvPr id="2" name="Сотрудник на площадке переходит к паспорту без ручного ">
            <a:extLst xmlns:a="http://schemas.openxmlformats.org/drawingml/2006/main">
              <a:ext uri="{FF2B5EF4-FFF2-40B4-BE49-F238E27FC236}">
                <a16:creationId xmlns:a16="http://schemas.microsoft.com/office/drawing/2014/main" id="{6256C426-7382-4628-977D-8DFF3DFA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Сотрудник на площадке переходит к паспорту без ручного поиска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37209902-AABB-4EB0-A66C-6400C1F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80A73-69FE-46A7-BD2B-BFE11F0F34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264f57f7f49a7"/>
          <a:stretch xmlns:a="http://schemas.openxmlformats.org/drawingml/2006/main"/>
        </p:blipFill>
        <p:spPr>
          <a:xfrm xmlns:a="http://schemas.openxmlformats.org/drawingml/2006/main">
            <a:off x="1089061" y="2038350"/>
            <a:ext cx="4222677" cy="3238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47FB9-A913-474B-80EF-4545FEDF81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9852b1f474128"/>
          <a:stretch xmlns:a="http://schemas.openxmlformats.org/drawingml/2006/main"/>
        </p:blipFill>
        <p:spPr>
          <a:xfrm xmlns:a="http://schemas.openxmlformats.org/drawingml/2006/main">
            <a:off x="6486719" y="2038350"/>
            <a:ext cx="5009761" cy="3238500"/>
          </a:xfrm>
          <a:prstGeom xmlns:a="http://schemas.openxmlformats.org/drawingml/2006/main" prst="rect">
            <a:avLst/>
          </a:prstGeom>
        </p:spPr>
      </p:pic>
      <p:sp>
        <p:nvSpPr>
          <p:cNvPr id="6" name="Печать маркировки">
            <a:extLst xmlns:a="http://schemas.openxmlformats.org/drawingml/2006/main">
              <a:ext uri="{FF2B5EF4-FFF2-40B4-BE49-F238E27FC236}">
                <a16:creationId xmlns:a16="http://schemas.microsoft.com/office/drawing/2014/main" id="{E4E11C27-E4D9-4AC1-8C39-1FA9C50C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Печать маркировки</a:t>
            </a:r>
          </a:p>
        </p:txBody>
      </p:sp>
      <p:sp>
        <p:nvSpPr>
          <p:cNvPr id="7" name="Этикетки и экспорт в PDF, PNG или SVG.">
            <a:extLst xmlns:a="http://schemas.openxmlformats.org/drawingml/2006/main">
              <a:ext uri="{FF2B5EF4-FFF2-40B4-BE49-F238E27FC236}">
                <a16:creationId xmlns:a16="http://schemas.microsoft.com/office/drawing/2014/main" id="{2E713E7C-CFB8-4DE3-B04A-8EAA4EF7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Этикетки и экспорт в PDF, PNG или SVG.</a:t>
            </a:r>
          </a:p>
        </p:txBody>
      </p:sp>
      <p:sp>
        <p:nvSpPr>
          <p:cNvPr id="8" name="Сканирование в браузере">
            <a:extLst xmlns:a="http://schemas.openxmlformats.org/drawingml/2006/main">
              <a:ext uri="{FF2B5EF4-FFF2-40B4-BE49-F238E27FC236}">
                <a16:creationId xmlns:a16="http://schemas.microsoft.com/office/drawing/2014/main" id="{87E7470D-20A8-46DD-A5E9-B423159E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054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Сканирование в браузере</a:t>
            </a:r>
          </a:p>
        </p:txBody>
      </p:sp>
      <p:sp>
        <p:nvSpPr>
          <p:cNvPr id="9" name="Камера, изображение с кодом или ручной поиск.">
            <a:extLst xmlns:a="http://schemas.openxmlformats.org/drawingml/2006/main">
              <a:ext uri="{FF2B5EF4-FFF2-40B4-BE49-F238E27FC236}">
                <a16:creationId xmlns:a16="http://schemas.microsoft.com/office/drawing/2014/main" id="{13C997E6-A8B9-49C8-8BFE-BDFD9CB7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05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Камера, изображение с кодом или ручной поиск.</a:t>
            </a:r>
          </a:p>
        </p:txBody>
      </p:sp>
    </p:spTree>
    <p:extLst>
      <p:ext uri="{BB962C8B-B14F-4D97-AF65-F5344CB8AC3E}">
        <p14:creationId xmlns:p14="http://schemas.microsoft.com/office/powerpoint/2010/main" val="10578507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Регистрация и назначение исполнителя">
            <a:extLst xmlns:a="http://schemas.openxmlformats.org/drawingml/2006/main">
              <a:ext uri="{FF2B5EF4-FFF2-40B4-BE49-F238E27FC236}">
                <a16:creationId xmlns:a16="http://schemas.microsoft.com/office/drawing/2014/main" id="{1122E1E7-0A37-4352-ABCA-E529CE92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Регистрация и назначение исполнителя</a:t>
            </a:r>
          </a:p>
        </p:txBody>
      </p:sp>
      <p:sp>
        <p:nvSpPr>
          <p:cNvPr id="2" name="Обращение сразу получает объект, описание и приоритет">
            <a:extLst xmlns:a="http://schemas.openxmlformats.org/drawingml/2006/main">
              <a:ext uri="{FF2B5EF4-FFF2-40B4-BE49-F238E27FC236}">
                <a16:creationId xmlns:a16="http://schemas.microsoft.com/office/drawing/2014/main" id="{8B8DB4F1-CAFA-4B7A-947E-02AAAB00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Обращение сразу получает объект, описание и приоритет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FC5B14A3-47F9-4886-AF07-41ABCE68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AC945-BD1D-479D-BC8C-FCDF336F77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74adc70294f6d"/>
          <a:stretch xmlns:a="http://schemas.openxmlformats.org/drawingml/2006/main"/>
        </p:blipFill>
        <p:spPr>
          <a:xfrm xmlns:a="http://schemas.openxmlformats.org/drawingml/2006/main">
            <a:off x="936886" y="2009775"/>
            <a:ext cx="5793852" cy="34956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15E1C-9D1F-4EAC-9342-72C06F69C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9eb03139a43e2"/>
          <a:stretch xmlns:a="http://schemas.openxmlformats.org/drawingml/2006/main"/>
        </p:blipFill>
        <p:spPr>
          <a:xfrm xmlns:a="http://schemas.openxmlformats.org/drawingml/2006/main">
            <a:off x="7577526" y="2009775"/>
            <a:ext cx="4066397" cy="3495675"/>
          </a:xfrm>
          <a:prstGeom xmlns:a="http://schemas.openxmlformats.org/drawingml/2006/main" prst="rect">
            <a:avLst/>
          </a:prstGeom>
        </p:spPr>
      </p:pic>
      <p:sp>
        <p:nvSpPr>
          <p:cNvPr id="6" name="Регистрация обращения">
            <a:extLst xmlns:a="http://schemas.openxmlformats.org/drawingml/2006/main">
              <a:ext uri="{FF2B5EF4-FFF2-40B4-BE49-F238E27FC236}">
                <a16:creationId xmlns:a16="http://schemas.microsoft.com/office/drawing/2014/main" id="{AF0437E3-2CC8-4967-9CB6-78BCA112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6600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Регистрация обращения</a:t>
            </a:r>
          </a:p>
        </p:txBody>
      </p:sp>
      <p:sp>
        <p:nvSpPr>
          <p:cNvPr id="7" name="Диспетчер назначает инженера">
            <a:extLst xmlns:a="http://schemas.openxmlformats.org/drawingml/2006/main">
              <a:ext uri="{FF2B5EF4-FFF2-40B4-BE49-F238E27FC236}">
                <a16:creationId xmlns:a16="http://schemas.microsoft.com/office/drawing/2014/main" id="{C2F17A3F-C099-4060-8B66-CB2DCABF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7435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Диспетчер назначает инженера</a:t>
            </a:r>
          </a:p>
        </p:txBody>
      </p:sp>
    </p:spTree>
    <p:extLst>
      <p:ext uri="{BB962C8B-B14F-4D97-AF65-F5344CB8AC3E}">
        <p14:creationId xmlns:p14="http://schemas.microsoft.com/office/powerpoint/2010/main" val="3955691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Канбан показывает общую очередь">
            <a:extLst xmlns:a="http://schemas.openxmlformats.org/drawingml/2006/main">
              <a:ext uri="{FF2B5EF4-FFF2-40B4-BE49-F238E27FC236}">
                <a16:creationId xmlns:a16="http://schemas.microsoft.com/office/drawing/2014/main" id="{C420E794-ACB8-4262-870A-20FC8451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Канбан показывает общую очередь</a:t>
            </a:r>
          </a:p>
        </p:txBody>
      </p:sp>
      <p:sp>
        <p:nvSpPr>
          <p:cNvPr id="2" name="Статусы, исполнители и приоритеты видны на одной доске">
            <a:extLst xmlns:a="http://schemas.openxmlformats.org/drawingml/2006/main">
              <a:ext uri="{FF2B5EF4-FFF2-40B4-BE49-F238E27FC236}">
                <a16:creationId xmlns:a16="http://schemas.microsoft.com/office/drawing/2014/main" id="{6A781123-B7E2-47D8-836B-8B11C5FE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Статусы, исполнители и приоритеты видны на одной доске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EB81361B-8993-45EE-863C-B31B760B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BDD5E-2F0F-46AB-939A-D58D3B37A0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aeb04b1b64f42"/>
          <a:stretch xmlns:a="http://schemas.openxmlformats.org/drawingml/2006/main"/>
        </p:blipFill>
        <p:spPr>
          <a:xfrm xmlns:a="http://schemas.openxmlformats.org/drawingml/2006/main">
            <a:off x="1891004" y="1885950"/>
            <a:ext cx="8409992" cy="3962400"/>
          </a:xfrm>
          <a:prstGeom xmlns:a="http://schemas.openxmlformats.org/drawingml/2006/main" prst="rect">
            <a:avLst/>
          </a:prstGeom>
        </p:spPr>
      </p:pic>
      <p:sp>
        <p:nvSpPr>
          <p:cNvPr id="5" name="Фильтры помогают выделить срочные, просроченные и назна">
            <a:extLst xmlns:a="http://schemas.openxmlformats.org/drawingml/2006/main">
              <a:ext uri="{FF2B5EF4-FFF2-40B4-BE49-F238E27FC236}">
                <a16:creationId xmlns:a16="http://schemas.microsoft.com/office/drawing/2014/main" id="{DE85547D-163E-454E-905C-174AFD61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Фильтры помогают выделить срочные, просроченные и назначенные заявки.</a:t>
            </a:r>
          </a:p>
        </p:txBody>
      </p:sp>
    </p:spTree>
    <p:extLst>
      <p:ext uri="{BB962C8B-B14F-4D97-AF65-F5344CB8AC3E}">
        <p14:creationId xmlns:p14="http://schemas.microsoft.com/office/powerpoint/2010/main" val="5429079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Инженер получает персональный список задач">
            <a:extLst xmlns:a="http://schemas.openxmlformats.org/drawingml/2006/main">
              <a:ext uri="{FF2B5EF4-FFF2-40B4-BE49-F238E27FC236}">
                <a16:creationId xmlns:a16="http://schemas.microsoft.com/office/drawing/2014/main" id="{A61D32C6-AE8F-4E2F-840A-5A441FC7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Инженер получает персональный список задач</a:t>
            </a:r>
          </a:p>
        </p:txBody>
      </p:sp>
      <p:sp>
        <p:nvSpPr>
          <p:cNvPr id="2" name="Рабочий интерфейс доступен с компьютера и телефона">
            <a:extLst xmlns:a="http://schemas.openxmlformats.org/drawingml/2006/main">
              <a:ext uri="{FF2B5EF4-FFF2-40B4-BE49-F238E27FC236}">
                <a16:creationId xmlns:a16="http://schemas.microsoft.com/office/drawing/2014/main" id="{8812AEA9-549F-43D4-8A05-AEA7CBB8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Рабочий интерфейс доступен с компьютера и телефона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2DA690D5-CC6E-4F11-B979-6C03BB64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5D688-B981-483C-9746-1D75B3FAB5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b6ec259e44d3a"/>
          <a:stretch xmlns:a="http://schemas.openxmlformats.org/drawingml/2006/main"/>
        </p:blipFill>
        <p:spPr>
          <a:xfrm xmlns:a="http://schemas.openxmlformats.org/drawingml/2006/main">
            <a:off x="614939" y="2076450"/>
            <a:ext cx="6837798" cy="31813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7DA9C-071F-4848-A114-AB13C767C6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e612d017e4b64"/>
          <a:stretch xmlns:a="http://schemas.openxmlformats.org/drawingml/2006/main"/>
        </p:blipFill>
        <p:spPr>
          <a:xfrm xmlns:a="http://schemas.openxmlformats.org/drawingml/2006/main">
            <a:off x="8884884" y="1885950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6" name="На первом плане текущие задания">
            <a:extLst xmlns:a="http://schemas.openxmlformats.org/drawingml/2006/main">
              <a:ext uri="{FF2B5EF4-FFF2-40B4-BE49-F238E27FC236}">
                <a16:creationId xmlns:a16="http://schemas.microsoft.com/office/drawing/2014/main" id="{E5ED1DE8-E1B2-4044-BA13-6B4B0051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723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На первом плане текущие задания</a:t>
            </a:r>
          </a:p>
        </p:txBody>
      </p:sp>
      <p:sp>
        <p:nvSpPr>
          <p:cNvPr id="7" name="Объект, адрес, срок и действие для продолжения работы.">
            <a:extLst xmlns:a="http://schemas.openxmlformats.org/drawingml/2006/main">
              <a:ext uri="{FF2B5EF4-FFF2-40B4-BE49-F238E27FC236}">
                <a16:creationId xmlns:a16="http://schemas.microsoft.com/office/drawing/2014/main" id="{254ECF01-B3B7-4B23-A378-5577C388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912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Объект, адрес, срок и действие для продолжения работы.</a:t>
            </a:r>
          </a:p>
        </p:txBody>
      </p:sp>
    </p:spTree>
    <p:extLst>
      <p:ext uri="{BB962C8B-B14F-4D97-AF65-F5344CB8AC3E}">
        <p14:creationId xmlns:p14="http://schemas.microsoft.com/office/powerpoint/2010/main" val="8194242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Отчёт помогает проверить полноту работ">
            <a:extLst xmlns:a="http://schemas.openxmlformats.org/drawingml/2006/main">
              <a:ext uri="{FF2B5EF4-FFF2-40B4-BE49-F238E27FC236}">
                <a16:creationId xmlns:a16="http://schemas.microsoft.com/office/drawing/2014/main" id="{F76B5932-5533-46F2-A7C4-C21FCD52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Отчёт помогает проверить полноту работ</a:t>
            </a:r>
          </a:p>
        </p:txBody>
      </p:sp>
      <p:sp>
        <p:nvSpPr>
          <p:cNvPr id="2" name="Диагностика и чек-лист фиксируют результат в едином фор">
            <a:extLst xmlns:a="http://schemas.openxmlformats.org/drawingml/2006/main">
              <a:ext uri="{FF2B5EF4-FFF2-40B4-BE49-F238E27FC236}">
                <a16:creationId xmlns:a16="http://schemas.microsoft.com/office/drawing/2014/main" id="{1009789D-9C7C-4752-A491-6C145825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Диагностика и чек-лист фиксируют результат в едином формате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3FE45BE0-2DC4-4C5B-ABD9-34FF36D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5AA41-B7A4-481E-B7AD-EDDBD471F5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59ec912aa4208"/>
          <a:stretch xmlns:a="http://schemas.openxmlformats.org/drawingml/2006/main"/>
        </p:blipFill>
        <p:spPr>
          <a:xfrm xmlns:a="http://schemas.openxmlformats.org/drawingml/2006/main">
            <a:off x="533400" y="2104284"/>
            <a:ext cx="6858000" cy="3039958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84B34-3351-4F1F-865B-DF5822E049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f437c151d4c47"/>
          <a:stretch xmlns:a="http://schemas.openxmlformats.org/drawingml/2006/main"/>
        </p:blipFill>
        <p:spPr>
          <a:xfrm xmlns:a="http://schemas.openxmlformats.org/drawingml/2006/main">
            <a:off x="7829550" y="2087483"/>
            <a:ext cx="3829050" cy="3521234"/>
          </a:xfrm>
          <a:prstGeom xmlns:a="http://schemas.openxmlformats.org/drawingml/2006/main" prst="rect">
            <a:avLst/>
          </a:prstGeom>
        </p:spPr>
      </p:pic>
      <p:sp>
        <p:nvSpPr>
          <p:cNvPr id="6" name="Последовательное заполнение">
            <a:extLst xmlns:a="http://schemas.openxmlformats.org/drawingml/2006/main">
              <a:ext uri="{FF2B5EF4-FFF2-40B4-BE49-F238E27FC236}">
                <a16:creationId xmlns:a16="http://schemas.microsoft.com/office/drawing/2014/main" id="{E6B1B3C5-8E12-4C40-AFFC-306DC0AA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78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Последовательное заполнение</a:t>
            </a:r>
          </a:p>
        </p:txBody>
      </p:sp>
      <p:sp>
        <p:nvSpPr>
          <p:cNvPr id="7" name="Диагностика, работы, материалы, фото и итоговая проверк">
            <a:extLst xmlns:a="http://schemas.openxmlformats.org/drawingml/2006/main">
              <a:ext uri="{FF2B5EF4-FFF2-40B4-BE49-F238E27FC236}">
                <a16:creationId xmlns:a16="http://schemas.microsoft.com/office/drawing/2014/main" id="{F05623D4-595F-4443-95E4-59FFC93F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Диагностика, работы, материалы, фото и итоговая проверка.</a:t>
            </a:r>
          </a:p>
        </p:txBody>
      </p:sp>
      <p:sp>
        <p:nvSpPr>
          <p:cNvPr id="8" name="Обязательные пункты">
            <a:extLst xmlns:a="http://schemas.openxmlformats.org/drawingml/2006/main">
              <a:ext uri="{FF2B5EF4-FFF2-40B4-BE49-F238E27FC236}">
                <a16:creationId xmlns:a16="http://schemas.microsoft.com/office/drawing/2014/main" id="{4AACEB6C-E402-48E1-86D4-86FF7C1C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857875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Обязательные пункты</a:t>
            </a:r>
          </a:p>
        </p:txBody>
      </p:sp>
    </p:spTree>
    <p:extLst>
      <p:ext uri="{BB962C8B-B14F-4D97-AF65-F5344CB8AC3E}">
        <p14:creationId xmlns:p14="http://schemas.microsoft.com/office/powerpoint/2010/main" val="7146876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Контроль сроков и причин задержек">
            <a:extLst xmlns:a="http://schemas.openxmlformats.org/drawingml/2006/main">
              <a:ext uri="{FF2B5EF4-FFF2-40B4-BE49-F238E27FC236}">
                <a16:creationId xmlns:a16="http://schemas.microsoft.com/office/drawing/2014/main" id="{4812C509-7863-48FB-BB4E-14C2947C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Контроль сроков и причин задержек</a:t>
            </a:r>
          </a:p>
        </p:txBody>
      </p:sp>
      <p:sp>
        <p:nvSpPr>
          <p:cNvPr id="2" name="Шкала SLA дополняет канбан и календарь работ">
            <a:extLst xmlns:a="http://schemas.openxmlformats.org/drawingml/2006/main">
              <a:ext uri="{FF2B5EF4-FFF2-40B4-BE49-F238E27FC236}">
                <a16:creationId xmlns:a16="http://schemas.microsoft.com/office/drawing/2014/main" id="{A53B2F2A-4205-44F5-8B3E-E257FE1B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Шкала SLA дополняет канбан и календарь работ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2A1BB730-7536-43C3-A75A-AC3DF7C6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A4A81-0D96-4BA1-A9BE-9A5B59E4A2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b87caca714efb"/>
          <a:stretch xmlns:a="http://schemas.openxmlformats.org/drawingml/2006/main"/>
        </p:blipFill>
        <p:spPr>
          <a:xfrm xmlns:a="http://schemas.openxmlformats.org/drawingml/2006/main">
            <a:off x="1074986" y="2038350"/>
            <a:ext cx="6917829" cy="3629025"/>
          </a:xfrm>
          <a:prstGeom xmlns:a="http://schemas.openxmlformats.org/drawingml/2006/main" prst="rect">
            <a:avLst/>
          </a:prstGeom>
        </p:spPr>
      </p:pic>
      <p:sp>
        <p:nvSpPr>
          <p:cNvPr id="5" name="Контроль сроков">
            <a:extLst xmlns:a="http://schemas.openxmlformats.org/drawingml/2006/main">
              <a:ext uri="{FF2B5EF4-FFF2-40B4-BE49-F238E27FC236}">
                <a16:creationId xmlns:a16="http://schemas.microsoft.com/office/drawing/2014/main" id="{D8BAA8C0-B5BC-431F-8B36-C6613C59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Контроль сроков</a:t>
            </a:r>
          </a:p>
        </p:txBody>
      </p:sp>
      <p:sp>
        <p:nvSpPr>
          <p:cNvPr id="6" name="Срок реакции и срок выполнения по приоритету.">
            <a:extLst xmlns:a="http://schemas.openxmlformats.org/drawingml/2006/main">
              <a:ext uri="{FF2B5EF4-FFF2-40B4-BE49-F238E27FC236}">
                <a16:creationId xmlns:a16="http://schemas.microsoft.com/office/drawing/2014/main" id="{D844BBB6-3386-4FEB-8CD6-FD5DBB6E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95575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Срок реакции и срок выполнения по приоритету.</a:t>
            </a:r>
          </a:p>
        </p:txBody>
      </p:sp>
      <p:sp>
        <p:nvSpPr>
          <p:cNvPr id="7" name="Понятная пауза">
            <a:extLst xmlns:a="http://schemas.openxmlformats.org/drawingml/2006/main">
              <a:ext uri="{FF2B5EF4-FFF2-40B4-BE49-F238E27FC236}">
                <a16:creationId xmlns:a16="http://schemas.microsoft.com/office/drawing/2014/main" id="{D6CFF2E9-201F-4F4F-84ED-00612370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Понятная пауза</a:t>
            </a:r>
          </a:p>
        </p:txBody>
      </p:sp>
      <p:sp>
        <p:nvSpPr>
          <p:cNvPr id="8" name="Причина, следующее действие и срок возобновления.">
            <a:extLst xmlns:a="http://schemas.openxmlformats.org/drawingml/2006/main">
              <a:ext uri="{FF2B5EF4-FFF2-40B4-BE49-F238E27FC236}">
                <a16:creationId xmlns:a16="http://schemas.microsoft.com/office/drawing/2014/main" id="{F254A409-D3FA-4BF7-B11C-917A7861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Причина, следующее действие и срок возобновления.</a:t>
            </a:r>
          </a:p>
        </p:txBody>
      </p:sp>
      <p:sp>
        <p:nvSpPr>
          <p:cNvPr id="9" name="Просроченные обращения помогают определить, где требует">
            <a:extLst xmlns:a="http://schemas.openxmlformats.org/drawingml/2006/main">
              <a:ext uri="{FF2B5EF4-FFF2-40B4-BE49-F238E27FC236}">
                <a16:creationId xmlns:a16="http://schemas.microsoft.com/office/drawing/2014/main" id="{894B88F9-25D7-4A30-B600-97AE5BCE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Просроченные обращения помогают определить, где требуется вмешательство.</a:t>
            </a:r>
          </a:p>
        </p:txBody>
      </p:sp>
    </p:spTree>
    <p:extLst>
      <p:ext uri="{BB962C8B-B14F-4D97-AF65-F5344CB8AC3E}">
        <p14:creationId xmlns:p14="http://schemas.microsoft.com/office/powerpoint/2010/main" val="2235453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Результат подтверждает клиент">
            <a:extLst xmlns:a="http://schemas.openxmlformats.org/drawingml/2006/main">
              <a:ext uri="{FF2B5EF4-FFF2-40B4-BE49-F238E27FC236}">
                <a16:creationId xmlns:a16="http://schemas.microsoft.com/office/drawing/2014/main" id="{F18D62FD-36A6-428E-B52A-35B87464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Результат подтверждает клиент</a:t>
            </a:r>
          </a:p>
        </p:txBody>
      </p:sp>
      <p:sp>
        <p:nvSpPr>
          <p:cNvPr id="2" name="Система формирует акт по отчёту и сохраняет историю вер">
            <a:extLst xmlns:a="http://schemas.openxmlformats.org/drawingml/2006/main">
              <a:ext uri="{FF2B5EF4-FFF2-40B4-BE49-F238E27FC236}">
                <a16:creationId xmlns:a16="http://schemas.microsoft.com/office/drawing/2014/main" id="{9B602DB0-88B3-4953-AD43-3DAE00CA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Система формирует акт по отчёту и сохраняет историю версий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EC4891A7-83B3-4690-B550-4354506B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86C45-82EB-454C-9F47-51DEFFA9A2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8a9465908468f"/>
          <a:stretch xmlns:a="http://schemas.openxmlformats.org/drawingml/2006/main"/>
        </p:blipFill>
        <p:spPr>
          <a:xfrm xmlns:a="http://schemas.openxmlformats.org/drawingml/2006/main">
            <a:off x="753658" y="2038350"/>
            <a:ext cx="6484159" cy="35814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57B24-890F-4F79-A716-83D542DEA7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ac6c0551d47a7"/>
          <a:stretch xmlns:a="http://schemas.openxmlformats.org/drawingml/2006/main"/>
        </p:blipFill>
        <p:spPr>
          <a:xfrm xmlns:a="http://schemas.openxmlformats.org/drawingml/2006/main">
            <a:off x="7934325" y="2423042"/>
            <a:ext cx="3724275" cy="2812016"/>
          </a:xfrm>
          <a:prstGeom xmlns:a="http://schemas.openxmlformats.org/drawingml/2006/main" prst="rect">
            <a:avLst/>
          </a:prstGeom>
        </p:spPr>
      </p:pic>
      <p:sp>
        <p:nvSpPr>
          <p:cNvPr id="6" name="Клиент принимает работу или возвращает её на доработку ">
            <a:extLst xmlns:a="http://schemas.openxmlformats.org/drawingml/2006/main">
              <a:ext uri="{FF2B5EF4-FFF2-40B4-BE49-F238E27FC236}">
                <a16:creationId xmlns:a16="http://schemas.microsoft.com/office/drawing/2014/main" id="{11DBBD11-BE69-444A-AA9D-77E7E00A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Клиент принимает работу или возвращает её на доработку с замечаниями.</a:t>
            </a:r>
          </a:p>
        </p:txBody>
      </p:sp>
    </p:spTree>
    <p:extLst>
      <p:ext uri="{BB962C8B-B14F-4D97-AF65-F5344CB8AC3E}">
        <p14:creationId xmlns:p14="http://schemas.microsoft.com/office/powerpoint/2010/main" val="15181667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лановое обслуживание по графику">
            <a:extLst xmlns:a="http://schemas.openxmlformats.org/drawingml/2006/main">
              <a:ext uri="{FF2B5EF4-FFF2-40B4-BE49-F238E27FC236}">
                <a16:creationId xmlns:a16="http://schemas.microsoft.com/office/drawing/2014/main" id="{B9158FC9-DF24-4E25-83B9-B4D936CE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Плановое обслуживание по графику</a:t>
            </a:r>
          </a:p>
        </p:txBody>
      </p:sp>
      <p:sp>
        <p:nvSpPr>
          <p:cNvPr id="2" name="Периодические планы связаны с оборудованием">
            <a:extLst xmlns:a="http://schemas.openxmlformats.org/drawingml/2006/main">
              <a:ext uri="{FF2B5EF4-FFF2-40B4-BE49-F238E27FC236}">
                <a16:creationId xmlns:a16="http://schemas.microsoft.com/office/drawing/2014/main" id="{281B4E87-25BA-4064-814A-4FE7E12E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Периодические планы связаны с оборудованием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08AE1FC1-876F-445E-92F5-FE1FB3E7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793B7-4C9C-4075-9910-53F40FC92F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09283b8814337"/>
          <a:stretch xmlns:a="http://schemas.openxmlformats.org/drawingml/2006/main"/>
        </p:blipFill>
        <p:spPr>
          <a:xfrm xmlns:a="http://schemas.openxmlformats.org/drawingml/2006/main">
            <a:off x="1081440" y="2114550"/>
            <a:ext cx="10029121" cy="2505075"/>
          </a:xfrm>
          <a:prstGeom xmlns:a="http://schemas.openxmlformats.org/drawingml/2006/main" prst="rect">
            <a:avLst/>
          </a:prstGeom>
        </p:spPr>
      </p:pic>
      <p:sp>
        <p:nvSpPr>
          <p:cNvPr id="5" name="Периодичность">
            <a:extLst xmlns:a="http://schemas.openxmlformats.org/drawingml/2006/main">
              <a:ext uri="{FF2B5EF4-FFF2-40B4-BE49-F238E27FC236}">
                <a16:creationId xmlns:a16="http://schemas.microsoft.com/office/drawing/2014/main" id="{45BA5E1E-EF5F-4B0A-A6AF-F5546085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Периодичность</a:t>
            </a:r>
          </a:p>
        </p:txBody>
      </p:sp>
      <p:sp>
        <p:nvSpPr>
          <p:cNvPr id="6" name="Интервал и дата следующего обслуживания.">
            <a:extLst xmlns:a="http://schemas.openxmlformats.org/drawingml/2006/main">
              <a:ext uri="{FF2B5EF4-FFF2-40B4-BE49-F238E27FC236}">
                <a16:creationId xmlns:a16="http://schemas.microsoft.com/office/drawing/2014/main" id="{896A05AD-9288-4ADD-B90F-B3D29C11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340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Интервал и дата следующего обслуживания.</a:t>
            </a:r>
          </a:p>
        </p:txBody>
      </p:sp>
      <p:sp>
        <p:nvSpPr>
          <p:cNvPr id="7" name="Подготовка заранее">
            <a:extLst xmlns:a="http://schemas.openxmlformats.org/drawingml/2006/main">
              <a:ext uri="{FF2B5EF4-FFF2-40B4-BE49-F238E27FC236}">
                <a16:creationId xmlns:a16="http://schemas.microsoft.com/office/drawing/2014/main" id="{34DBDAEE-EFC8-4D5B-A02C-32C8D12B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577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Подготовка заранее</a:t>
            </a:r>
          </a:p>
        </p:txBody>
      </p:sp>
      <p:sp>
        <p:nvSpPr>
          <p:cNvPr id="8" name="Плановая заявка появляется до срока выполнения.">
            <a:extLst xmlns:a="http://schemas.openxmlformats.org/drawingml/2006/main">
              <a:ext uri="{FF2B5EF4-FFF2-40B4-BE49-F238E27FC236}">
                <a16:creationId xmlns:a16="http://schemas.microsoft.com/office/drawing/2014/main" id="{6CD55D09-AEA8-4A28-9C15-99C0A9F4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340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Плановая заявка появляется до срока выполнения.</a:t>
            </a:r>
          </a:p>
        </p:txBody>
      </p:sp>
      <p:sp>
        <p:nvSpPr>
          <p:cNvPr id="9" name="Общая очередь">
            <a:extLst xmlns:a="http://schemas.openxmlformats.org/drawingml/2006/main">
              <a:ext uri="{FF2B5EF4-FFF2-40B4-BE49-F238E27FC236}">
                <a16:creationId xmlns:a16="http://schemas.microsoft.com/office/drawing/2014/main" id="{C5A8F295-790D-443B-9006-4DE29E10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57775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Общая очередь</a:t>
            </a:r>
          </a:p>
        </p:txBody>
      </p:sp>
      <p:sp>
        <p:nvSpPr>
          <p:cNvPr id="10" name="Плановые работы проходят обычный сервисный процесс.">
            <a:extLst xmlns:a="http://schemas.openxmlformats.org/drawingml/2006/main">
              <a:ext uri="{FF2B5EF4-FFF2-40B4-BE49-F238E27FC236}">
                <a16:creationId xmlns:a16="http://schemas.microsoft.com/office/drawing/2014/main" id="{88EAC61D-DC91-4E25-984C-A05917FB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34025"/>
            <a:ext cx="350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Плановые работы проходят обычный сервисный процесс.</a:t>
            </a:r>
          </a:p>
        </p:txBody>
      </p:sp>
    </p:spTree>
    <p:extLst>
      <p:ext uri="{BB962C8B-B14F-4D97-AF65-F5344CB8AC3E}">
        <p14:creationId xmlns:p14="http://schemas.microsoft.com/office/powerpoint/2010/main" val="13568102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Карта помогает ориентироваться по площадкам">
            <a:extLst xmlns:a="http://schemas.openxmlformats.org/drawingml/2006/main">
              <a:ext uri="{FF2B5EF4-FFF2-40B4-BE49-F238E27FC236}">
                <a16:creationId xmlns:a16="http://schemas.microsoft.com/office/drawing/2014/main" id="{F01A19E4-A937-4292-A9A3-CA9DE9D7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Карта помогает ориентироваться по площадкам</a:t>
            </a:r>
          </a:p>
        </p:txBody>
      </p:sp>
      <p:sp>
        <p:nvSpPr>
          <p:cNvPr id="2" name="Оборудование и сервисные сигналы отображаются по местоп">
            <a:extLst xmlns:a="http://schemas.openxmlformats.org/drawingml/2006/main">
              <a:ext uri="{FF2B5EF4-FFF2-40B4-BE49-F238E27FC236}">
                <a16:creationId xmlns:a16="http://schemas.microsoft.com/office/drawing/2014/main" id="{DD6B3C1C-CC14-4E9E-A555-FDE98F3D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Оборудование и сервисные сигналы отображаются по местоположению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F2089C89-C0F1-4C46-9EF2-17698856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5133D-73BD-4631-A0F9-1F5B6DA785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635867248483b"/>
          <a:stretch xmlns:a="http://schemas.openxmlformats.org/drawingml/2006/main"/>
        </p:blipFill>
        <p:spPr>
          <a:xfrm xmlns:a="http://schemas.openxmlformats.org/drawingml/2006/main">
            <a:off x="1414752" y="2019300"/>
            <a:ext cx="6647871" cy="3800475"/>
          </a:xfrm>
          <a:prstGeom xmlns:a="http://schemas.openxmlformats.org/drawingml/2006/main" prst="rect">
            <a:avLst/>
          </a:prstGeom>
        </p:spPr>
      </p:pic>
      <p:sp>
        <p:nvSpPr>
          <p:cNvPr id="5" name="Объекты на карте">
            <a:extLst xmlns:a="http://schemas.openxmlformats.org/drawingml/2006/main">
              <a:ext uri="{FF2B5EF4-FFF2-40B4-BE49-F238E27FC236}">
                <a16:creationId xmlns:a16="http://schemas.microsoft.com/office/drawing/2014/main" id="{D347C2C7-7220-4F86-95F8-31FA5647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38375"/>
            <a:ext cx="240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Объекты на карте</a:t>
            </a:r>
          </a:p>
        </p:txBody>
      </p:sp>
      <p:sp>
        <p:nvSpPr>
          <p:cNvPr id="6" name="Переход к оборудованию и связанным заявкам.">
            <a:extLst xmlns:a="http://schemas.openxmlformats.org/drawingml/2006/main">
              <a:ext uri="{FF2B5EF4-FFF2-40B4-BE49-F238E27FC236}">
                <a16:creationId xmlns:a16="http://schemas.microsoft.com/office/drawing/2014/main" id="{384DAB6D-9EAD-41B1-8ABA-44ACAE09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24150"/>
            <a:ext cx="2409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Переход к оборудованию и связанным заявкам.</a:t>
            </a:r>
          </a:p>
        </p:txBody>
      </p:sp>
      <p:sp>
        <p:nvSpPr>
          <p:cNvPr id="7" name="Фильтры сигналов">
            <a:extLst xmlns:a="http://schemas.openxmlformats.org/drawingml/2006/main">
              <a:ext uri="{FF2B5EF4-FFF2-40B4-BE49-F238E27FC236}">
                <a16:creationId xmlns:a16="http://schemas.microsoft.com/office/drawing/2014/main" id="{08FA8F4C-4619-4E06-95B4-024D38A0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905250"/>
            <a:ext cx="240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Фильтры сигналов</a:t>
            </a:r>
          </a:p>
        </p:txBody>
      </p:sp>
      <p:sp>
        <p:nvSpPr>
          <p:cNvPr id="8" name="Авария, вызов, плановые работы и нормальное состояние.">
            <a:extLst xmlns:a="http://schemas.openxmlformats.org/drawingml/2006/main">
              <a:ext uri="{FF2B5EF4-FFF2-40B4-BE49-F238E27FC236}">
                <a16:creationId xmlns:a16="http://schemas.microsoft.com/office/drawing/2014/main" id="{2BE1F90A-B694-4B51-8A9C-1EC369FF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91025"/>
            <a:ext cx="2409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Авария, вызов, плановые работы и нормальное состояние.</a:t>
            </a:r>
          </a:p>
        </p:txBody>
      </p:sp>
      <p:sp>
        <p:nvSpPr>
          <p:cNvPr id="9" name="Польза для выездного сервиса: объект и контекст доступн">
            <a:extLst xmlns:a="http://schemas.openxmlformats.org/drawingml/2006/main">
              <a:ext uri="{FF2B5EF4-FFF2-40B4-BE49-F238E27FC236}">
                <a16:creationId xmlns:a16="http://schemas.microsoft.com/office/drawing/2014/main" id="{497DD06B-ED39-456F-9112-AC6E0E49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Польза для выездного сервиса: объект и контекст доступны перед поездкой.</a:t>
            </a:r>
          </a:p>
        </p:txBody>
      </p:sp>
    </p:spTree>
    <p:extLst>
      <p:ext uri="{BB962C8B-B14F-4D97-AF65-F5344CB8AC3E}">
        <p14:creationId xmlns:p14="http://schemas.microsoft.com/office/powerpoint/2010/main" val="17266991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Руководитель видит состояние сервиса">
            <a:extLst xmlns:a="http://schemas.openxmlformats.org/drawingml/2006/main">
              <a:ext uri="{FF2B5EF4-FFF2-40B4-BE49-F238E27FC236}">
                <a16:creationId xmlns:a16="http://schemas.microsoft.com/office/drawing/2014/main" id="{D8E7C371-81ED-44CD-A9A1-191B0624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Руководитель видит состояние сервиса</a:t>
            </a:r>
          </a:p>
        </p:txBody>
      </p:sp>
      <p:sp>
        <p:nvSpPr>
          <p:cNvPr id="2" name="Дашборд объединяет очередь, сроки и результаты обслужив">
            <a:extLst xmlns:a="http://schemas.openxmlformats.org/drawingml/2006/main">
              <a:ext uri="{FF2B5EF4-FFF2-40B4-BE49-F238E27FC236}">
                <a16:creationId xmlns:a16="http://schemas.microsoft.com/office/drawing/2014/main" id="{53E9AD4D-D88C-49B9-A35F-F72D5D69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Дашборд объединяет очередь, сроки и результаты обслуживания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0BB5F522-5AB3-414E-99BF-826BBF1D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EC1BA-7FA9-4002-85FC-5E259EECBD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cdd0a83a4480a"/>
          <a:stretch xmlns:a="http://schemas.openxmlformats.org/drawingml/2006/main"/>
        </p:blipFill>
        <p:spPr>
          <a:xfrm xmlns:a="http://schemas.openxmlformats.org/drawingml/2006/main">
            <a:off x="538217" y="2000250"/>
            <a:ext cx="8086617" cy="3762375"/>
          </a:xfrm>
          <a:prstGeom xmlns:a="http://schemas.openxmlformats.org/drawingml/2006/main" prst="rect">
            <a:avLst/>
          </a:prstGeom>
        </p:spPr>
      </p:pic>
      <p:sp>
        <p:nvSpPr>
          <p:cNvPr id="5" name="Текущая ситуация">
            <a:extLst xmlns:a="http://schemas.openxmlformats.org/drawingml/2006/main">
              <a:ext uri="{FF2B5EF4-FFF2-40B4-BE49-F238E27FC236}">
                <a16:creationId xmlns:a16="http://schemas.microsoft.com/office/drawing/2014/main" id="{9082F105-CF0E-4791-907B-1772FA28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7170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Текущая ситуация</a:t>
            </a:r>
          </a:p>
        </p:txBody>
      </p:sp>
      <p:sp>
        <p:nvSpPr>
          <p:cNvPr id="6" name="Активные заявки, просрочки и загрузка инженеров.">
            <a:extLst xmlns:a="http://schemas.openxmlformats.org/drawingml/2006/main">
              <a:ext uri="{FF2B5EF4-FFF2-40B4-BE49-F238E27FC236}">
                <a16:creationId xmlns:a16="http://schemas.microsoft.com/office/drawing/2014/main" id="{AC72B20F-00CD-40F1-B706-01B26DC6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57475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Активные заявки, просрочки и загрузка инженеров.</a:t>
            </a:r>
          </a:p>
        </p:txBody>
      </p:sp>
      <p:sp>
        <p:nvSpPr>
          <p:cNvPr id="7" name="Результат работы">
            <a:extLst xmlns:a="http://schemas.openxmlformats.org/drawingml/2006/main">
              <a:ext uri="{FF2B5EF4-FFF2-40B4-BE49-F238E27FC236}">
                <a16:creationId xmlns:a16="http://schemas.microsoft.com/office/drawing/2014/main" id="{A0F021E9-827A-4BF1-91CC-8861F694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Результат работы</a:t>
            </a:r>
          </a:p>
        </p:txBody>
      </p:sp>
      <p:sp>
        <p:nvSpPr>
          <p:cNvPr id="8" name="Время реакции, выполнение в срок и повторные обращения.">
            <a:extLst xmlns:a="http://schemas.openxmlformats.org/drawingml/2006/main">
              <a:ext uri="{FF2B5EF4-FFF2-40B4-BE49-F238E27FC236}">
                <a16:creationId xmlns:a16="http://schemas.microsoft.com/office/drawing/2014/main" id="{A1364143-3DA0-4E6F-B02B-D6AD20E5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Время реакции, выполнение в срок и повторные обращения.</a:t>
            </a:r>
          </a:p>
        </p:txBody>
      </p:sp>
      <p:sp>
        <p:nvSpPr>
          <p:cNvPr id="9" name="На экране демонстрационные данные, а не показатели внед">
            <a:extLst xmlns:a="http://schemas.openxmlformats.org/drawingml/2006/main">
              <a:ext uri="{FF2B5EF4-FFF2-40B4-BE49-F238E27FC236}">
                <a16:creationId xmlns:a16="http://schemas.microsoft.com/office/drawing/2014/main" id="{4B351936-439F-4FD2-B0D3-207D0437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На экране демонстрационные данные, а не показатели внедрения.</a:t>
            </a:r>
          </a:p>
        </p:txBody>
      </p:sp>
    </p:spTree>
    <p:extLst>
      <p:ext uri="{BB962C8B-B14F-4D97-AF65-F5344CB8AC3E}">
        <p14:creationId xmlns:p14="http://schemas.microsoft.com/office/powerpoint/2010/main" val="10413131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Администрирование и разграничение доступа">
            <a:extLst xmlns:a="http://schemas.openxmlformats.org/drawingml/2006/main">
              <a:ext uri="{FF2B5EF4-FFF2-40B4-BE49-F238E27FC236}">
                <a16:creationId xmlns:a16="http://schemas.microsoft.com/office/drawing/2014/main" id="{38699A93-7219-40DD-8DD4-78FCC931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Администрирование и разграничение доступа</a:t>
            </a:r>
          </a:p>
        </p:txBody>
      </p:sp>
      <p:sp>
        <p:nvSpPr>
          <p:cNvPr id="2" name="Пользователи, организации и правила сервиса настраивают">
            <a:extLst xmlns:a="http://schemas.openxmlformats.org/drawingml/2006/main">
              <a:ext uri="{FF2B5EF4-FFF2-40B4-BE49-F238E27FC236}">
                <a16:creationId xmlns:a16="http://schemas.microsoft.com/office/drawing/2014/main" id="{7675EFEA-8949-41DC-BF3E-7583CF19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Пользователи, организации и правила сервиса настраиваются централизованно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00D838DC-CE15-43A9-9B06-47FBDC0F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75231-ECFC-4862-B518-BBC85B309D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5b78560654558"/>
          <a:stretch xmlns:a="http://schemas.openxmlformats.org/drawingml/2006/main"/>
        </p:blipFill>
        <p:spPr>
          <a:xfrm xmlns:a="http://schemas.openxmlformats.org/drawingml/2006/main">
            <a:off x="1136350" y="2066925"/>
            <a:ext cx="6718900" cy="3533775"/>
          </a:xfrm>
          <a:prstGeom xmlns:a="http://schemas.openxmlformats.org/drawingml/2006/main" prst="rect">
            <a:avLst/>
          </a:prstGeom>
        </p:spPr>
      </p:pic>
      <p:sp>
        <p:nvSpPr>
          <p:cNvPr id="5" name="Доступ по роли">
            <a:extLst xmlns:a="http://schemas.openxmlformats.org/drawingml/2006/main">
              <a:ext uri="{FF2B5EF4-FFF2-40B4-BE49-F238E27FC236}">
                <a16:creationId xmlns:a16="http://schemas.microsoft.com/office/drawing/2014/main" id="{52312EBD-8A18-4010-9639-F8EA46D3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21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Доступ по роли</a:t>
            </a:r>
          </a:p>
        </p:txBody>
      </p:sp>
      <p:sp>
        <p:nvSpPr>
          <p:cNvPr id="6" name="Организация и назначение определяют доступные данные.">
            <a:extLst xmlns:a="http://schemas.openxmlformats.org/drawingml/2006/main">
              <a:ext uri="{FF2B5EF4-FFF2-40B4-BE49-F238E27FC236}">
                <a16:creationId xmlns:a16="http://schemas.microsoft.com/office/drawing/2014/main" id="{0FA4A347-9AD8-4670-A7AB-854E6F09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Организация и назначение определяют доступные данные.</a:t>
            </a:r>
          </a:p>
        </p:txBody>
      </p:sp>
      <p:sp>
        <p:nvSpPr>
          <p:cNvPr id="7" name="Настройки сервиса">
            <a:extLst xmlns:a="http://schemas.openxmlformats.org/drawingml/2006/main">
              <a:ext uri="{FF2B5EF4-FFF2-40B4-BE49-F238E27FC236}">
                <a16:creationId xmlns:a16="http://schemas.microsoft.com/office/drawing/2014/main" id="{67267339-BBEF-4E64-AD91-2A7E9DF4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Настройки сервиса</a:t>
            </a:r>
          </a:p>
        </p:txBody>
      </p:sp>
      <p:sp>
        <p:nvSpPr>
          <p:cNvPr id="8" name="Пользователи, чек-листы, нормативы SLA и журнал аудита.">
            <a:extLst xmlns:a="http://schemas.openxmlformats.org/drawingml/2006/main">
              <a:ext uri="{FF2B5EF4-FFF2-40B4-BE49-F238E27FC236}">
                <a16:creationId xmlns:a16="http://schemas.microsoft.com/office/drawing/2014/main" id="{6584D17E-5065-40DC-BA20-911C0EE4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148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Пользователи, чек-листы, нормативы SLA и журнал аудита.</a:t>
            </a:r>
          </a:p>
        </p:txBody>
      </p:sp>
      <p:sp>
        <p:nvSpPr>
          <p:cNvPr id="9" name="Веб-приложение: React, FastAPI, PostgreSQL. Развёртыван">
            <a:extLst xmlns:a="http://schemas.openxmlformats.org/drawingml/2006/main">
              <a:ext uri="{FF2B5EF4-FFF2-40B4-BE49-F238E27FC236}">
                <a16:creationId xmlns:a16="http://schemas.microsoft.com/office/drawing/2014/main" id="{F0D8415C-5ED7-458B-A5BC-BA767D15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Веб-приложение: React, FastAPI, PostgreSQL. Развёртывание через Docker Compose.</a:t>
            </a:r>
          </a:p>
        </p:txBody>
      </p:sp>
    </p:spTree>
    <p:extLst>
      <p:ext uri="{BB962C8B-B14F-4D97-AF65-F5344CB8AC3E}">
        <p14:creationId xmlns:p14="http://schemas.microsoft.com/office/powerpoint/2010/main" val="2147652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рактическая польза для предприятия">
            <a:extLst xmlns:a="http://schemas.openxmlformats.org/drawingml/2006/main">
              <a:ext uri="{FF2B5EF4-FFF2-40B4-BE49-F238E27FC236}">
                <a16:creationId xmlns:a16="http://schemas.microsoft.com/office/drawing/2014/main" id="{1B08345B-4DA2-4EC1-B9B9-AE8B2369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Практическая польза для предприятия</a:t>
            </a:r>
          </a:p>
        </p:txBody>
      </p:sp>
      <p:sp>
        <p:nvSpPr>
          <p:cNvPr id="2" name="Приложение связывает ежедневную работу с проверяемым ре">
            <a:extLst xmlns:a="http://schemas.openxmlformats.org/drawingml/2006/main">
              <a:ext uri="{FF2B5EF4-FFF2-40B4-BE49-F238E27FC236}">
                <a16:creationId xmlns:a16="http://schemas.microsoft.com/office/drawing/2014/main" id="{43C7D01B-0979-43E1-8002-9F502A98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Приложение связывает ежедневную работу с проверяемым результатом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4F7FF36B-E2DF-40D7-B247-9F888199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F2890-8A5F-4D83-ABD1-3272108E851B}"/>
              </a:ext>
            </a:extLst>
          </p:cNvPr>
          <p:cNvGraphicFramePr/>
          <p:nvPr/>
        </p:nvGraphicFramePr>
        <p:xfrm>
          <a:off xmlns:a="http://schemas.openxmlformats.org/drawingml/2006/main" x="533400" y="2000250"/>
          <a:ext xmlns:a="http://schemas.openxmlformats.org/drawingml/2006/main" cx="111252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7029450"/>
              </a:tblGrid>
              <a:tr h="68389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 предприятия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даёт Alageum Service Hub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Обслуживать парк оборудования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Паспорта и история доступны по объекту и QR-коду.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Распределять обращения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Общая очередь, приоритет и назначенный инженер.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Контролировать выполнение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Сроки, причины пауз, отчёт и подтверждение клиента.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Принимать управленческие решения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Показатели сервиса связаны с конкретными заявками.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5" name="Для развития: интеграция с ERP/1С, складской учёт и эле">
            <a:extLst xmlns:a="http://schemas.openxmlformats.org/drawingml/2006/main">
              <a:ext uri="{FF2B5EF4-FFF2-40B4-BE49-F238E27FC236}">
                <a16:creationId xmlns:a16="http://schemas.microsoft.com/office/drawing/2014/main" id="{FDD1E9C3-E687-4772-A59E-31EE7574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085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Для развития: интеграция с ERP/1С, складской учёт и электронная подпись.</a:t>
            </a:r>
          </a:p>
        </p:txBody>
      </p:sp>
    </p:spTree>
    <p:extLst>
      <p:ext uri="{BB962C8B-B14F-4D97-AF65-F5344CB8AC3E}">
        <p14:creationId xmlns:p14="http://schemas.microsoft.com/office/powerpoint/2010/main" val="7079391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22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Предложение: пилот на одном процессе">
            <a:extLst xmlns:a="http://schemas.openxmlformats.org/drawingml/2006/main">
              <a:ext uri="{FF2B5EF4-FFF2-40B4-BE49-F238E27FC236}">
                <a16:creationId xmlns:a16="http://schemas.microsoft.com/office/drawing/2014/main" id="{C4211793-1785-4C12-9B30-3A7E40AF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Предложение: пилот на одном процессе</a:t>
            </a:r>
          </a:p>
        </p:txBody>
      </p:sp>
      <p:sp>
        <p:nvSpPr>
          <p:cNvPr id="2" name="Небольшой масштаб позволит проверить пользу на реальной">
            <a:extLst xmlns:a="http://schemas.openxmlformats.org/drawingml/2006/main">
              <a:ext uri="{FF2B5EF4-FFF2-40B4-BE49-F238E27FC236}">
                <a16:creationId xmlns:a16="http://schemas.microsoft.com/office/drawing/2014/main" id="{66448EBC-B88E-43ED-A3B8-D4842F6F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Небольшой масштаб позволит проверить пользу на реальной работе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1B31AC0E-2A41-4C76-B746-110495BB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DB8D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2–4 недели">
            <a:extLst xmlns:a="http://schemas.openxmlformats.org/drawingml/2006/main">
              <a:ext uri="{FF2B5EF4-FFF2-40B4-BE49-F238E27FC236}">
                <a16:creationId xmlns:a16="http://schemas.microsoft.com/office/drawing/2014/main" id="{C5199302-0FD0-4EC5-8893-A28A88FE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D5CCFF"/>
                </a:solidFill>
                <a:latin typeface="Arial"/>
                <a:ea typeface="Arial"/>
                <a:cs typeface="Arial"/>
              </a:rPr>
              <a:t>2–4 недели</a:t>
            </a:r>
          </a:p>
        </p:txBody>
      </p:sp>
      <p:sp>
        <p:nvSpPr>
          <p:cNvPr id="5" name="Ориентир для согласования:&#10;до 10 объектов, 1 диспетчер ">
            <a:extLst xmlns:a="http://schemas.openxmlformats.org/drawingml/2006/main">
              <a:ext uri="{FF2B5EF4-FFF2-40B4-BE49-F238E27FC236}">
                <a16:creationId xmlns:a16="http://schemas.microsoft.com/office/drawing/2014/main" id="{3B4609AF-5325-43AD-B55D-1CBF9425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76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Ориентир для согласования: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10 объектов, 1 диспетчер и 2 инженера.</a:t>
            </a:r>
          </a:p>
        </p:txBody>
      </p:sp>
      <p:sp>
        <p:nvSpPr>
          <p:cNvPr id="6" name="Что сравним до и после">
            <a:extLst xmlns:a="http://schemas.openxmlformats.org/drawingml/2006/main">
              <a:ext uri="{FF2B5EF4-FFF2-40B4-BE49-F238E27FC236}">
                <a16:creationId xmlns:a16="http://schemas.microsoft.com/office/drawing/2014/main" id="{9C19A2B5-E705-4612-B822-9C775785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сравним до и после</a:t>
            </a:r>
          </a:p>
        </p:txBody>
      </p:sp>
      <p:sp>
        <p:nvSpPr>
          <p:cNvPr id="7" name="Время назначения и поиска документов.&#10;Полноту отчётов и">
            <a:extLst xmlns:a="http://schemas.openxmlformats.org/drawingml/2006/main">
              <a:ext uri="{FF2B5EF4-FFF2-40B4-BE49-F238E27FC236}">
                <a16:creationId xmlns:a16="http://schemas.microsoft.com/office/drawing/2014/main" id="{2A3378A0-65FA-4092-8AD0-42927ACA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695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Время назначения и поиска документов.</a:t>
            </a:r>
          </a:p>
          <a:p xmlns:a="http://schemas.openxmlformats.org/drawingml/2006/main">
            <a: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Полноту отчётов и актуальность статусов.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3AD1B-A9B4-40F9-80CE-E32F948F3C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e7595954a4480"/>
          <a:stretch xmlns:a="http://schemas.openxmlformats.org/drawingml/2006/main"/>
        </p:blipFill>
        <p:spPr>
          <a:xfrm xmlns:a="http://schemas.openxmlformats.org/drawingml/2006/main">
            <a:off x="9115425" y="2374900"/>
            <a:ext cx="2295525" cy="3060700"/>
          </a:xfrm>
          <a:prstGeom xmlns:a="http://schemas.openxmlformats.org/drawingml/2006/main" prst="rect">
            <a:avLst/>
          </a:prstGeom>
        </p:spPr>
      </p:pic>
      <p:sp>
        <p:nvSpPr>
          <p:cNvPr id="9" name="Следующий шаг: рабочая встреча и выбор сервисного сцена">
            <a:extLst xmlns:a="http://schemas.openxmlformats.org/drawingml/2006/main">
              <a:ext uri="{FF2B5EF4-FFF2-40B4-BE49-F238E27FC236}">
                <a16:creationId xmlns:a16="http://schemas.microsoft.com/office/drawing/2014/main" id="{8B7FC550-A1A1-4212-BA4E-9736D290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5CCFF"/>
                </a:solidFill>
                <a:latin typeface="Arial"/>
                <a:ea typeface="Arial"/>
                <a:cs typeface="Arial"/>
              </a:rPr>
              <a:t>Следующий шаг: рабочая встреча и выбор сервисного сценария.</a:t>
            </a:r>
          </a:p>
        </p:txBody>
      </p:sp>
    </p:spTree>
    <p:extLst>
      <p:ext uri="{BB962C8B-B14F-4D97-AF65-F5344CB8AC3E}">
        <p14:creationId xmlns:p14="http://schemas.microsoft.com/office/powerpoint/2010/main" val="716409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2026-10-20T06:00:55.4900000Z</dcterms:created>
  <dcterms:modified xsi:type="dcterms:W3CDTF">2026-10-20T06:00:55.4900000Z</dcterms:modified>
</coreProperties>
</file>