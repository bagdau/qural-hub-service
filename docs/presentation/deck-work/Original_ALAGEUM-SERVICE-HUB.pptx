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54da84fd24f1e" /><Relationship Type="http://schemas.openxmlformats.org/officeDocument/2006/relationships/extended-properties" Target="/docProps/app.xml" Id="R86fc35075c534516" /><Relationship Type="http://schemas.openxmlformats.org/officeDocument/2006/relationships/officeDocument" Target="/ppt/presentation.xml" Id="R7a1397c29d264f3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4b6394a679a42e6"/>
  </p:sldMasterIdLst>
  <p:notesMasterIdLst>
    <p:notesMasterId xmlns:r="http://schemas.openxmlformats.org/officeDocument/2006/relationships" r:id="Rcbe2d1fdc2644c8b"/>
  </p:notesMasterIdLst>
  <p:sldIdLst>
    <p:sldId xmlns:r="http://schemas.openxmlformats.org/officeDocument/2006/relationships" id="256" r:id="Rabb544721e064b5c"/>
    <p:sldId xmlns:r="http://schemas.openxmlformats.org/officeDocument/2006/relationships" id="257" r:id="R69f066f8a0e3425e"/>
    <p:sldId xmlns:r="http://schemas.openxmlformats.org/officeDocument/2006/relationships" id="258" r:id="Reed64a847b264f80"/>
    <p:sldId xmlns:r="http://schemas.openxmlformats.org/officeDocument/2006/relationships" id="259" r:id="R2806ceeb6de444ef"/>
    <p:sldId xmlns:r="http://schemas.openxmlformats.org/officeDocument/2006/relationships" id="260" r:id="R8fa36cdb1b6d46e1"/>
    <p:sldId xmlns:r="http://schemas.openxmlformats.org/officeDocument/2006/relationships" id="261" r:id="Rdd4b7222a7f14785"/>
    <p:sldId xmlns:r="http://schemas.openxmlformats.org/officeDocument/2006/relationships" id="262" r:id="Rbebb8f825d8040f1"/>
    <p:sldId xmlns:r="http://schemas.openxmlformats.org/officeDocument/2006/relationships" id="263" r:id="Rde4a960ec4d342ba"/>
    <p:sldId xmlns:r="http://schemas.openxmlformats.org/officeDocument/2006/relationships" id="264" r:id="R0000ab24c6a24b4c"/>
    <p:sldId xmlns:r="http://schemas.openxmlformats.org/officeDocument/2006/relationships" id="265" r:id="R60b84ff28f554034"/>
  </p:sldIdLst>
  <p:sldSz cx="12192000" cy="6858000"/>
  <p:notesSz cx="6858000" cy="9144000"/>
  <p:embeddedFontLst>
    <p:embeddedFont>
      <p:font typeface="Calibri"/>
      <p:regular xmlns:r="http://schemas.openxmlformats.org/officeDocument/2006/relationships" r:id="R3a8747272ced4149"/>
      <p:bold xmlns:r="http://schemas.openxmlformats.org/officeDocument/2006/relationships" r:id="R017fa7b873c84986"/>
      <p:italic xmlns:r="http://schemas.openxmlformats.org/officeDocument/2006/relationships" r:id="Rc7e0745e0e344f9f"/>
      <p:boldItalic xmlns:r="http://schemas.openxmlformats.org/officeDocument/2006/relationships" r:id="Rb904245b72c44ad1"/>
    </p:embeddedFont>
    <p:embeddedFont>
      <p:font typeface="Noto Sans Bold"/>
      <p:regular xmlns:r="http://schemas.openxmlformats.org/officeDocument/2006/relationships" r:id="Raef670de0d2c4159"/>
    </p:embeddedFont>
    <p:embeddedFont>
      <p:font typeface="Onest"/>
      <p:regular xmlns:r="http://schemas.openxmlformats.org/officeDocument/2006/relationships" r:id="R9902507e6aaa4061"/>
    </p:embeddedFont>
    <p:embeddedFont>
      <p:font typeface="Onest Bold"/>
      <p:regular xmlns:r="http://schemas.openxmlformats.org/officeDocument/2006/relationships" r:id="Rc0f7929d43fa425d"/>
    </p:embeddedFont>
    <p:embeddedFont>
      <p:font typeface="Onest SemiBold"/>
      <p:regular xmlns:r="http://schemas.openxmlformats.org/officeDocument/2006/relationships" r:id="R0cc971d341874069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849a9b5464e18" /><Relationship Type="http://schemas.openxmlformats.org/officeDocument/2006/relationships/slideMaster" Target="/ppt/slideMasters/slideMaster1.xml" Id="R44b6394a679a42e6" /><Relationship Type="http://schemas.openxmlformats.org/officeDocument/2006/relationships/notesMaster" Target="/ppt/notesMasters/notesMaster1.xml" Id="Rcbe2d1fdc2644c8b" /><Relationship Type="http://schemas.openxmlformats.org/officeDocument/2006/relationships/presProps" Target="/ppt/presProps.xml" Id="R044d6ef4234144bd" /><Relationship Type="http://schemas.openxmlformats.org/officeDocument/2006/relationships/viewProps" Target="/ppt/viewProps.xml" Id="Rfbe996946eed4fde" /><Relationship Type="http://schemas.openxmlformats.org/officeDocument/2006/relationships/tableStyles" Target="/ppt/tableStyles.xml" Id="R3cf725c243ca48af" /><Relationship Type="http://schemas.openxmlformats.org/officeDocument/2006/relationships/font" Target="/ppt/fonts/font.dat" Id="R3a8747272ced4149" /><Relationship Type="http://schemas.openxmlformats.org/officeDocument/2006/relationships/font" Target="/ppt/fonts/font2.dat" Id="R017fa7b873c84986" /><Relationship Type="http://schemas.openxmlformats.org/officeDocument/2006/relationships/font" Target="/ppt/fonts/font3.dat" Id="Rc7e0745e0e344f9f" /><Relationship Type="http://schemas.openxmlformats.org/officeDocument/2006/relationships/font" Target="/ppt/fonts/font4.dat" Id="Rb904245b72c44ad1" /><Relationship Type="http://schemas.openxmlformats.org/officeDocument/2006/relationships/font" Target="/ppt/fonts/font5.dat" Id="Raef670de0d2c4159" /><Relationship Type="http://schemas.openxmlformats.org/officeDocument/2006/relationships/font" Target="/ppt/fonts/font6.dat" Id="R9902507e6aaa4061" /><Relationship Type="http://schemas.openxmlformats.org/officeDocument/2006/relationships/font" Target="/ppt/fonts/font7.dat" Id="Rc0f7929d43fa425d" /><Relationship Type="http://schemas.openxmlformats.org/officeDocument/2006/relationships/font" Target="/ppt/fonts/font8.dat" Id="R0cc971d341874069" /><Relationship Type="http://schemas.openxmlformats.org/officeDocument/2006/relationships/slide" Target="/ppt/slides/slide1.xml" Id="Rabb544721e064b5c" /><Relationship Type="http://schemas.openxmlformats.org/officeDocument/2006/relationships/slide" Target="/ppt/slides/slide2.xml" Id="R69f066f8a0e3425e" /><Relationship Type="http://schemas.openxmlformats.org/officeDocument/2006/relationships/slide" Target="/ppt/slides/slide3.xml" Id="Reed64a847b264f80" /><Relationship Type="http://schemas.openxmlformats.org/officeDocument/2006/relationships/slide" Target="/ppt/slides/slide4.xml" Id="R2806ceeb6de444ef" /><Relationship Type="http://schemas.openxmlformats.org/officeDocument/2006/relationships/slide" Target="/ppt/slides/slide5.xml" Id="R8fa36cdb1b6d46e1" /><Relationship Type="http://schemas.openxmlformats.org/officeDocument/2006/relationships/slide" Target="/ppt/slides/slide6.xml" Id="Rdd4b7222a7f14785" /><Relationship Type="http://schemas.openxmlformats.org/officeDocument/2006/relationships/slide" Target="/ppt/slides/slide7.xml" Id="Rbebb8f825d8040f1" /><Relationship Type="http://schemas.openxmlformats.org/officeDocument/2006/relationships/slide" Target="/ppt/slides/slide8.xml" Id="Rde4a960ec4d342ba" /><Relationship Type="http://schemas.openxmlformats.org/officeDocument/2006/relationships/slide" Target="/ppt/slides/slide9.xml" Id="R0000ab24c6a24b4c" /><Relationship Type="http://schemas.openxmlformats.org/officeDocument/2006/relationships/slide" Target="/ppt/slides/slide10.xml" Id="R60b84ff28f55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525655263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3d209f198490d" /><Relationship Type="http://schemas.openxmlformats.org/officeDocument/2006/relationships/notesMaster" Target="/ppt/notesMasters/notesMaster1.xml" Id="R40c2190b979e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96c4e22284042" /><Relationship Type="http://schemas.openxmlformats.org/officeDocument/2006/relationships/notesMaster" Target="/ppt/notesMasters/notesMaster1.xml" Id="Re295ebddf6d0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a5bdb0b95d457a" /><Relationship Type="http://schemas.openxmlformats.org/officeDocument/2006/relationships/notesMaster" Target="/ppt/notesMasters/notesMaster1.xml" Id="R9d8454fa02e7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d3f6b33094a26" /><Relationship Type="http://schemas.openxmlformats.org/officeDocument/2006/relationships/notesMaster" Target="/ppt/notesMasters/notesMaster1.xml" Id="R0021e1d28487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9de3efd4d45ed" /><Relationship Type="http://schemas.openxmlformats.org/officeDocument/2006/relationships/notesMaster" Target="/ppt/notesMasters/notesMaster1.xml" Id="R800b9d91f26a40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d7ee8809845a7" /><Relationship Type="http://schemas.openxmlformats.org/officeDocument/2006/relationships/notesMaster" Target="/ppt/notesMasters/notesMaster1.xml" Id="R9c0e58d6eab04c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6a494feff44796" /><Relationship Type="http://schemas.openxmlformats.org/officeDocument/2006/relationships/notesMaster" Target="/ppt/notesMasters/notesMaster1.xml" Id="Rcfebfa561d36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7ea8a7beb24379" /><Relationship Type="http://schemas.openxmlformats.org/officeDocument/2006/relationships/notesMaster" Target="/ppt/notesMasters/notesMaster1.xml" Id="R571dfb33d85346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f29c59e71c4e44" /><Relationship Type="http://schemas.openxmlformats.org/officeDocument/2006/relationships/notesMaster" Target="/ppt/notesMasters/notesMaster1.xml" Id="R0fb7a0afe18948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c339a0a187434f" /><Relationship Type="http://schemas.openxmlformats.org/officeDocument/2006/relationships/notesMaster" Target="/ppt/notesMasters/notesMaster1.xml" Id="R56a365efb24d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https://asiatrafo.kz/images/production_img_5.png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https://asiatrafo.kz/images/production_img_3.png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Сгенерировано ИИ для этой презентации. Концептуальная иллюстрация, не фотография реального оборудования или события.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https://yvision.kz/post/asia-trafo-samyy-krupnyy-transformatornyy-zavod-sredney-azii-835646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Сгенерировано ИИ для этой презентации. Концептуальная иллюстрация, не фотография реального оборудования или события.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https://asiatrafo.kz/images/production_img_1.png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https://asiatrafo.kz/images/production_img_2.png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https://asiatrafo.kz/images/production_img_4.png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https://yvision.kz/post/asia-trafo-samyy-krupnyy-transformatornyy-zavod-sredney-azii-835646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https://asiatrafo.kz/images/production_img_6.png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ab4b3d11343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3b938ed4e449b" /><Relationship Type="http://schemas.openxmlformats.org/officeDocument/2006/relationships/image" Target="/ppt/media/image.png" Id="R8837574185104f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D17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64BE14F-3994-4E9D-A863-D893EFDF5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57418510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76875" y="6558991"/>
            <a:ext cx="1071843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512b3f3ee4491" /><Relationship Type="http://schemas.openxmlformats.org/officeDocument/2006/relationships/slideLayout" Target="/ppt/slideLayouts/slideLayout1.xml" Id="R6bc64392ba9f4f40" /><Relationship Type="http://schemas.openxmlformats.org/officeDocument/2006/relationships/slideLayout" Target="/ppt/slideLayouts/slideLayout2.xml" Id="R3c969f5d9c0643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64392ba9f4f40"/>
    <p:sldLayoutId xmlns:r="http://schemas.openxmlformats.org/officeDocument/2006/relationships" id="2147483650" r:id="R3c969f5d9c06437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eb698b51e494d" /><Relationship Type="http://schemas.openxmlformats.org/officeDocument/2006/relationships/image" Target="/ppt/media/image.jpeg" Id="R11c8039431a64f3c" /><Relationship Type="http://schemas.openxmlformats.org/officeDocument/2006/relationships/image" Target="/ppt/media/image2.png" Id="Re48f5d315a1949cd" /><Relationship Type="http://schemas.openxmlformats.org/officeDocument/2006/relationships/image" Target="/ppt/media/image3.png" Id="R5549ec384c3c44b3" /><Relationship Type="http://schemas.openxmlformats.org/officeDocument/2006/relationships/image" Target="/ppt/media/image4.png" Id="Rcf5d95a836c042ad" /><Relationship Type="http://schemas.openxmlformats.org/officeDocument/2006/relationships/notesSlide" Target="/ppt/notesSlides/notesSlide1.xml" Id="Rf2ac63b06639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fb6ac2db84bdc" /><Relationship Type="http://schemas.openxmlformats.org/officeDocument/2006/relationships/image" Target="/ppt/media/image2.jpeg" Id="Rd4439a6475564c9b" /><Relationship Type="http://schemas.openxmlformats.org/officeDocument/2006/relationships/notesSlide" Target="/ppt/notesSlides/notesSlide2.xml" Id="R4b6101682b0941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da31689db4804" /><Relationship Type="http://schemas.openxmlformats.org/officeDocument/2006/relationships/image" Target="/ppt/media/image5.png" Id="R03bdbfb0d03340a7" /><Relationship Type="http://schemas.openxmlformats.org/officeDocument/2006/relationships/notesSlide" Target="/ppt/notesSlides/notesSlide3.xml" Id="R62a3688e6894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a1073d0474015" /><Relationship Type="http://schemas.openxmlformats.org/officeDocument/2006/relationships/image" Target="/ppt/media/image3.jpeg" Id="Re0d968459b024069" /><Relationship Type="http://schemas.openxmlformats.org/officeDocument/2006/relationships/image" Target="/ppt/media/image6.png" Id="Rfae4050003e247ad" /><Relationship Type="http://schemas.openxmlformats.org/officeDocument/2006/relationships/image" Target="/ppt/media/image7.png" Id="Rcf714816b01044cf" /><Relationship Type="http://schemas.openxmlformats.org/officeDocument/2006/relationships/image" Target="/ppt/media/image8.png" Id="Rfd83b58ee8864913" /><Relationship Type="http://schemas.openxmlformats.org/officeDocument/2006/relationships/image" Target="/ppt/media/image9.png" Id="R973d89c5374a4451" /><Relationship Type="http://schemas.openxmlformats.org/officeDocument/2006/relationships/notesSlide" Target="/ppt/notesSlides/notesSlide4.xml" Id="R7d413b40ec9e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7fe1577394d52" /><Relationship Type="http://schemas.openxmlformats.org/officeDocument/2006/relationships/image" Target="/ppt/media/image10.png" Id="R9403581631dd44fe" /><Relationship Type="http://schemas.openxmlformats.org/officeDocument/2006/relationships/notesSlide" Target="/ppt/notesSlides/notesSlide5.xml" Id="R646eaf1a4d2b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a014d19a34c24" /><Relationship Type="http://schemas.openxmlformats.org/officeDocument/2006/relationships/image" Target="/ppt/media/image4.jpeg" Id="Rc8571986d09647b6" /><Relationship Type="http://schemas.openxmlformats.org/officeDocument/2006/relationships/notesSlide" Target="/ppt/notesSlides/notesSlide6.xml" Id="R20eb157e6f8049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f553c59134257" /><Relationship Type="http://schemas.openxmlformats.org/officeDocument/2006/relationships/image" Target="/ppt/media/image5.jpeg" Id="Rfd3ed9475b4a4151" /><Relationship Type="http://schemas.openxmlformats.org/officeDocument/2006/relationships/image" Target="/ppt/media/image11.png" Id="R03060bf8fe69455b" /><Relationship Type="http://schemas.openxmlformats.org/officeDocument/2006/relationships/image" Target="/ppt/media/image4.png" Id="R7f977b459d4641bc" /><Relationship Type="http://schemas.openxmlformats.org/officeDocument/2006/relationships/image" Target="/ppt/media/image12.png" Id="R5018f064782e4d1a" /><Relationship Type="http://schemas.openxmlformats.org/officeDocument/2006/relationships/notesSlide" Target="/ppt/notesSlides/notesSlide7.xml" Id="R2861b946293b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05b9e59e54ac4" /><Relationship Type="http://schemas.openxmlformats.org/officeDocument/2006/relationships/image" Target="/ppt/media/image6.jpeg" Id="R52debb45c3b440cb" /><Relationship Type="http://schemas.openxmlformats.org/officeDocument/2006/relationships/notesSlide" Target="/ppt/notesSlides/notesSlide8.xml" Id="Rc8d8c757542a4f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6c1f058d54437" /><Relationship Type="http://schemas.openxmlformats.org/officeDocument/2006/relationships/image" Target="/ppt/media/image7.jpeg" Id="R50a6febd20d94e77" /><Relationship Type="http://schemas.openxmlformats.org/officeDocument/2006/relationships/notesSlide" Target="/ppt/notesSlides/notesSlide9.xml" Id="R65e5497ef7864e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786255ace4b8b" /><Relationship Type="http://schemas.openxmlformats.org/officeDocument/2006/relationships/image" Target="/ppt/media/image8.jpeg" Id="R24436369044d45f0" /><Relationship Type="http://schemas.openxmlformats.org/officeDocument/2006/relationships/notesSlide" Target="/ppt/notesSlides/notesSlide10.xml" Id="R3cd054d787bb4f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32435-3999-4377-936B-A048DFA64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8039431a64f3c"/>
          <a:srcRect xmlns:a="http://schemas.openxmlformats.org/drawingml/2006/main" l="0" t="1625" r="0" b="1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8BFE1-C542-452D-89FC-4AD5F5D8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100000"/>
                </a:srgbClr>
              </a:gs>
              <a:gs pos="43000">
                <a:srgbClr val="0D174F">
                  <a:alpha val="96000"/>
                </a:srgbClr>
              </a:gs>
              <a:gs pos="75000">
                <a:srgbClr val="0D174F">
                  <a:alpha val="34000"/>
                </a:srgbClr>
              </a:gs>
              <a:gs pos="100000">
                <a:srgbClr val="0D174F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236538-F28B-4ECC-BFBF-DAFCB86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92560"/>
            <a:ext cx="6522577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ПРЕДЛОЖЕНИЕ MVP И ПИЛОТНОГО ТЕСТИРОВАНИЯ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0EBF3D-2E68-4E09-B73E-ED591AE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905282"/>
            <a:ext cx="5912992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ALAGEUM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SERVICE HUB</a:t>
            </a:r>
            <a:endParaRPr sz="4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E7F511-6AC9-4066-B8DF-510298B3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46326"/>
            <a:ext cx="591299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2000">
                <a:solidFill>
                  <a:srgbClr val="B4C2EC"/>
                </a:solidFill>
                <a:latin typeface="Onest"/>
                <a:ea typeface="Onest"/>
                <a:cs typeface="Onest"/>
              </a:rPr>
              <a:t>Оборудование, заявки и история обслуживания — в одной платформе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7E096C6-F565-42D2-8033-E8858D36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073426"/>
            <a:ext cx="711182" cy="3810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40D6C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DAB6E2-E6F3-47E3-B234-7D6684BC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340126"/>
            <a:ext cx="5912992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Цифровая платформа для управления оборудованием и сервисным обслуживанием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210B2E-059B-4929-B57A-D4EC42C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78869"/>
            <a:ext cx="6522577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Проект студенческой команды университета имени М. Әуезова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C57924-72CB-4A6E-8FED-1CF0ADD9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855" y="0"/>
            <a:ext cx="4754840" cy="2989858"/>
          </a:xfrm>
          <a:prstGeom xmlns:a="http://schemas.openxmlformats.org/drawingml/2006/main" prst="roundRect">
            <a:avLst>
              <a:gd name="adj" fmla="val 4078"/>
            </a:avLst>
          </a:prstGeom>
          <a:solidFill xmlns:a="http://schemas.openxmlformats.org/drawingml/2006/main">
            <a:srgbClr val="0D174F">
              <a:alpha val="55000"/>
            </a:srgbClr>
          </a:solidFill>
          <a:ln xmlns:a="http://schemas.openxmlformats.org/drawingml/2006/main" w="6668">
            <a:solidFill>
              <a:srgbClr val="7FA6F2">
                <a:alpha val="30000"/>
              </a:srgbClr>
            </a:solidFill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BE9C601B-AC8A-405A-853B-2D78EB3D8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f5d315a1949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2789" y="648593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A8618F5-8EE3-40AC-831E-5B15BAF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1493143"/>
            <a:ext cx="3522971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Трансформатор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F6CB82D-E0F6-4554-AEB4-01548D5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2060773"/>
            <a:ext cx="4132556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Цифровой паспорт оборудования</a:t>
            </a:r>
            <a:endParaRPr sz="1600"/>
          </a:p>
        </p:txBody>
      </p:sp>
      <p:pic>
        <p:nvPicPr>
          <p:cNvPr id="12" name="Image 1">
            <a:extLst xmlns:a="http://schemas.openxmlformats.org/drawingml/2006/main">
              <a:ext uri="{FF2B5EF4-FFF2-40B4-BE49-F238E27FC236}">
                <a16:creationId xmlns:a16="http://schemas.microsoft.com/office/drawing/2014/main" id="{08807325-9614-4166-B113-1BFB6E9B2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9ec384c3c44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281" y="3174901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8CD2D47-FA24-4F6D-81DE-57FD204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855" y="3868043"/>
            <a:ext cx="4754840" cy="2989957"/>
          </a:xfrm>
          <a:prstGeom xmlns:a="http://schemas.openxmlformats.org/drawingml/2006/main" prst="roundRect">
            <a:avLst>
              <a:gd name="adj" fmla="val 4078"/>
            </a:avLst>
          </a:prstGeom>
          <a:solidFill xmlns:a="http://schemas.openxmlformats.org/drawingml/2006/main">
            <a:srgbClr val="0D174F">
              <a:alpha val="55000"/>
            </a:srgbClr>
          </a:solidFill>
          <a:ln xmlns:a="http://schemas.openxmlformats.org/drawingml/2006/main" w="6668">
            <a:solidFill>
              <a:srgbClr val="7FA6F2">
                <a:alpha val="30000"/>
              </a:srgbClr>
            </a:solidFill>
          </a:ln>
        </p:spPr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CE7B1D76-F923-4A6F-9465-12981D8F9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d95a836c0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2789" y="4516735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A34C1D0-8420-4326-A877-297BAC6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5361285"/>
            <a:ext cx="3522971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Сервисная заявка</a:t>
            </a:r>
            <a:endParaRPr sz="2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1D66622-A030-4573-82F0-A1224AE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5928916"/>
            <a:ext cx="4132556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История обслуживания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0086134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3BEE-8921-43E8-9EAC-B718883B6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39a6475564c9b"/>
          <a:srcRect xmlns:a="http://schemas.openxmlformats.org/drawingml/2006/main" l="0" t="1625" r="0" b="1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263E-DF7E-463F-838F-7BE1513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823A8C-D30C-4C57-92D4-C60504A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ГИПОТЕЗЫ ДЛЯ ПРОВЕРКИ С КОМПАНИЕЙ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4B14FC-A160-4FA7-BC79-B6B4FCF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Где может теряться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контроль над сервисом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48EBB1-9D74-4842-BDDE-6FB6A94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09639"/>
            <a:ext cx="5333867" cy="737592"/>
          </a:xfrm>
          <a:prstGeom xmlns:a="http://schemas.openxmlformats.org/drawingml/2006/main" prst="roundRect">
            <a:avLst>
              <a:gd name="adj" fmla="val 16529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357AF2-3ED8-4747-8B25-4CD5FE3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738239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Обращения поступают через разные каналы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194E88-82E4-409A-9328-97B423E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509639"/>
            <a:ext cx="5333867" cy="737592"/>
          </a:xfrm>
          <a:prstGeom xmlns:a="http://schemas.openxmlformats.org/drawingml/2006/main" prst="roundRect">
            <a:avLst>
              <a:gd name="adj" fmla="val 16529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1F73E9-4A5B-4126-8F07-1434FED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738239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история ремонта разрознены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D1382B-4C72-49FE-B81A-B501C11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552031"/>
            <a:ext cx="5333867" cy="1017984"/>
          </a:xfrm>
          <a:prstGeom xmlns:a="http://schemas.openxmlformats.org/drawingml/2006/main" prst="roundRect">
            <a:avLst>
              <a:gd name="adj" fmla="val 11976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56E66B-146B-4A00-8C87-7B30903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780631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Клиенту приходится уточнять статус звонками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7510489-0391-44B6-B840-E1DFC6A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552031"/>
            <a:ext cx="5333867" cy="1017984"/>
          </a:xfrm>
          <a:prstGeom xmlns:a="http://schemas.openxmlformats.org/drawingml/2006/main" prst="roundRect">
            <a:avLst>
              <a:gd name="adj" fmla="val 11976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429FE96-C326-4880-9C28-7A0A0D2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780631"/>
            <a:ext cx="48766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Причины задержек и ответственные не всегда видны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F9B1317-F1D6-4D4C-A43B-204F139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47816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Вывод:</a:t>
            </a: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 Сначала подтверждаем проблему, затем автоматизируем процесс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96143697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737EF-97A8-479F-AD71-CDE2FA1A3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dbfb0d03340a7"/>
          <a:stretch xmlns:a="http://schemas.openxmlformats.org/drawingml/2006/main"/>
        </p:blipFill>
        <p:spPr>
          <a:xfrm xmlns:a="http://schemas.openxmlformats.org/drawingml/2006/main">
            <a:off x="1776413" y="2952750"/>
            <a:ext cx="3000375" cy="2000250"/>
          </a:xfrm>
          <a:prstGeom xmlns:a="http://schemas.openxmlformats.org/drawingml/2006/main" prst="rect">
            <a:avLst/>
          </a:prstGeom>
        </p:spPr>
      </p:pic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D98835-21E9-4B7D-9AED-B92BAEB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ОБОРУДОВАНИЕ И ЕГО ИСТОРИЯ</a:t>
            </a:r>
            <a:endParaRPr sz="1050"/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AE389-827B-466E-A354-30D219E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3267"/>
            <a:ext cx="5333905" cy="24443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1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60F677-0B37-4740-970E-719FF77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25497"/>
            <a:ext cx="10972526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Одна система вокруг каждой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единицы оборудования</a:t>
            </a:r>
            <a:endParaRPr sz="4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B767A6-9380-4C19-99C3-43831349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13310"/>
            <a:ext cx="5333867" cy="2444353"/>
          </a:xfrm>
          <a:prstGeom xmlns:a="http://schemas.openxmlformats.org/drawingml/2006/main" prst="roundRect">
            <a:avLst>
              <a:gd name="adj" fmla="val 498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5613B3-6182-4371-B3E1-DDE45184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lnSpc>
                <a:spcPct val="113000"/>
              </a:lnSpc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  <a:latin typeface="Onest"/>
                <a:ea typeface="Onest"/>
                <a:cs typeface="Onest"/>
              </a:rPr>
              <a:t>В центре — цифровой паспорт оборудования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4FE614A-D341-4482-8FBF-5F96A53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513310"/>
            <a:ext cx="5333867" cy="2444353"/>
          </a:xfrm>
          <a:prstGeom xmlns:a="http://schemas.openxmlformats.org/drawingml/2006/main" prst="roundRect">
            <a:avLst>
              <a:gd name="adj" fmla="val 4988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34A07C-FBC6-4863-BB32-AE676BB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741910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Вокруг него: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90D1BD-0380-4995-91C4-E293012E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123902"/>
            <a:ext cx="4876678" cy="1605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Технические документы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Сервисные заявки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Диагностика и фотографии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Использованные запчасти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История работ и сроки обслуживания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0AF812F-5C62-4DE1-B4AC-2DCAF54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184676"/>
            <a:ext cx="3620798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7FA6F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C7507C-FEC5-43F0-A035-6DB1634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443438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Каждое обращение связано с конкретным изделием и сохраняется в его истории</a:t>
            </a:r>
            <a:endParaRPr sz="1600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A52F7-DAB4-402B-B6CF-D7B2CE89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AC9E7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BAC9E7"/>
                </a:solidFill>
              </a:defRPr>
            </a:pPr>
            <a:r>
              <a:rPr sz="900">
                <a:solidFill>
                  <a:srgbClr val="BAC9E7"/>
                </a:solidFill>
              </a:rPr>
              <a:t>ИИ-иллюстрация ·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11777500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237FD-0DBC-4D68-AFD0-E5B5C0889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968459b024069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AF26B-6293-4E87-B6AD-7594E33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0DC01-1822-4607-AD19-A08F57ED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УЧАСТНИКИ ПЛАТФОРМЫ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8BB697-571D-4908-A21C-29C6557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Кто и как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работает в платформе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95C41A-4D88-436D-86CC-B26CB5DA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97A85BF5-AB12-4A3D-BF32-E4DA86441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050003e2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1778298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D39F037-E148-4394-8310-F9113CAF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286298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45FEA9C-8DD0-4EA6-B783-941528A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853928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Выбирает оборудование, отправляет заявку, отслеживает результат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BCF59F-C6C6-48DE-ACB8-572EE1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1543348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F2B51A2F-83F1-4C94-9FE9-85D0081FC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14816b010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3188" y="1778298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E2D77E8-774D-4558-BBCB-1798ADC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286298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Диспетчер</a:t>
            </a:r>
            <a:endParaRPr sz="2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EEE3D6-09FB-451D-B229-F33D5A81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853928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Проверяет обращение, назначает инженера, контролирует сроки</a:t>
            </a:r>
            <a:endParaRPr sz="16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8432D9B-5534-4DDC-AE12-6E73934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067671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3" name="Image 2">
            <a:extLst xmlns:a="http://schemas.openxmlformats.org/drawingml/2006/main">
              <a:ext uri="{FF2B5EF4-FFF2-40B4-BE49-F238E27FC236}">
                <a16:creationId xmlns:a16="http://schemas.microsoft.com/office/drawing/2014/main" id="{F1D4C02E-4DB5-4B18-8853-BDE829DA9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3b58ee8864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4302621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DD5D2336-BD39-4914-A2A3-982FB7B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481062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Инженер</a:t>
            </a:r>
            <a:endParaRPr sz="2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CA8E82E-3CF6-446D-8C1F-3357CD4D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5378252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Открывает паспорт, проводит диагностику, фиксирует выполненные работы</a:t>
            </a:r>
            <a:endParaRPr sz="16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7AEFD62D-008A-4DDE-A158-5D8D0AA7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4067671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52B74965-EF0A-40B4-A290-B009A8E26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d89c5374a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3188" y="4302621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F0D18A31-9073-4B58-BB51-F8E59EE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481062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Руководитель</a:t>
            </a:r>
            <a:endParaRPr sz="22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195B03DF-D83D-4856-B1CB-3058DC8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5378252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Видит задержки, загрузку сотрудников и повторные обращения</a:t>
            </a:r>
            <a:endParaRPr sz="16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4A3A9506-F922-4CAE-A42F-D836223D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4651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У каждого участника свой кабинет и права доступа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799773101"/>
      </p:ext>
    </p:extLst>
  </p:cSld>
  <p:transition spd="med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8F37C-46EF-40E3-A62D-CD5CA6955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3581631dd44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09EC6-498A-447E-A7E9-494FD597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48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048AD6-4216-43C8-90C6-A8F2CDC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3" y="485775"/>
            <a:ext cx="11480513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ЖИЗНЕННЫЙ ЦИКЛ ЗАЯВКИ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6B1BBF-534D-45B9-831D-3C3E1B4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3" y="778494"/>
            <a:ext cx="10870928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От обращения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до закрытия заявки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68C804-AF7C-495E-869E-A3F4F4FA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C29374-3EBC-4BAC-8B8A-0608E23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84" y="2246897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Новая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1E8A2A-310B-4496-B209-7AC7B0C1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936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B35F31-DBD6-4F90-86EC-A589A44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933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F33213-A36A-40F3-AED4-6D06BA3C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038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Принята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74BA840-6968-47AC-9256-CAC67FF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BEEF45-BD54-41FC-86AF-899A5EB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87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CD8EC65-0947-4075-9440-9569FBF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793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Назначена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1A46C8-086C-481B-8683-70EA2D5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445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6B53C2-BEDA-47EA-9EB5-ED244CE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2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40D6C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EABF65-524C-4CBE-9FAA-CFAA01E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47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FFFFFF"/>
                </a:solidFill>
                <a:latin typeface="Onest Bold"/>
                <a:ea typeface="Onest Bold"/>
                <a:cs typeface="Onest Bold"/>
              </a:rPr>
              <a:t>В работе</a:t>
            </a:r>
            <a:endParaRPr sz="16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39FB07E-2799-43DE-8D19-CCEBE6C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99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C7DF050-F0D2-40E1-9B54-9D6321D2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196" y="1866889"/>
            <a:ext cx="1828754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A1E91D-9DA6-45B3-ADBC-F568ECD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94" y="2107197"/>
            <a:ext cx="1650959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На подтверждении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74B810-83B2-4946-8E63-B479D6D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349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B53D337-B490-4C15-BBA9-EE86227C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346" y="1866889"/>
            <a:ext cx="1523962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86B409C-6B2C-4C98-A3EB-8AE139A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452" y="2247393"/>
            <a:ext cx="1955751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Закрыта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F8B9CFF-614C-473F-B8E9-AEFFA87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771" y="3106385"/>
            <a:ext cx="4216295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От «На подтверждении» — возврат в работу</a:t>
            </a:r>
            <a:endParaRPr sz="16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7AB2C1A-12BE-4DEF-BE87-98289A30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21" y="3734285"/>
            <a:ext cx="5384665" cy="1651000"/>
          </a:xfrm>
          <a:prstGeom xmlns:a="http://schemas.openxmlformats.org/drawingml/2006/main" prst="roundRect">
            <a:avLst>
              <a:gd name="adj" fmla="val 7384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40D6C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B61DCA-CFC9-463B-9856-5D49E72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716" y="3838586"/>
            <a:ext cx="5511662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ОТ «В РАБОТЕ»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65D8C8-D4E5-48F9-AA2B-BF4DFBC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017" y="3965516"/>
            <a:ext cx="4902077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B4C2EC"/>
                </a:solidFill>
                <a:latin typeface="Onest"/>
                <a:ea typeface="Onest"/>
                <a:cs typeface="Onest"/>
              </a:rPr>
              <a:t>Приостановлена</a:t>
            </a:r>
            <a:endParaRPr sz="2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480B720-2381-4BC0-8AA0-E444B10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016" y="4289259"/>
            <a:ext cx="4902077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Причина и следующее действие; например, ожидание запчасти — не обязательный этап каждого ремонта.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098B0A-265B-49C5-B625-4695433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160" y="6261100"/>
            <a:ext cx="8991375" cy="315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Видны текущий этап, ответственный и причина задержки</a:t>
            </a:r>
            <a:endParaRPr sz="1800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95274-1DAB-4520-AAC0-AC4F880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6484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AC9E7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BAC9E7"/>
                </a:solidFill>
              </a:defRPr>
            </a:pPr>
            <a:r>
              <a:rPr sz="900">
                <a:solidFill>
                  <a:srgbClr val="BAC9E7"/>
                </a:solidFill>
              </a:rPr>
              <a:t>ИИ-иллюстрация ·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863725758"/>
      </p:ext>
    </p:extLst>
  </p:cSld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22" presetClass="entr" presetSubtype="2" fill="hold" grpId="0" nodeType="withEffect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A1B10-F3D6-41C2-9723-1067875BE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71986d09647b6"/>
          <a:srcRect xmlns:a="http://schemas.openxmlformats.org/drawingml/2006/main" l="0" t="28130" r="0" b="28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A3AB37-2653-47AD-9812-6300C3A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D78E51-85CC-4691-ACDD-BB3AB9C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КОНЦЕПЦИЯ ИНТЕРФЕЙСА · ДЕМОНСТРАЦИОННЫЕ ДАННЫЕ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C3109-BFCF-47AB-A210-A41B06E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Цифровой паспорт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и кабинет инженера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A79C7D-5952-4AF5-95E8-ACB74A1A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6400640" cy="4337447"/>
          </a:xfrm>
          <a:prstGeom xmlns:a="http://schemas.openxmlformats.org/drawingml/2006/main" prst="roundRect">
            <a:avLst>
              <a:gd name="adj" fmla="val 2811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D47152-997C-49E0-A9A9-A4DDD9EE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1778298"/>
            <a:ext cx="5930752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Паспорт оборудования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A39673-B734-4DA5-AF23-CF443016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395141"/>
            <a:ext cx="593075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40D6CE"/>
          </a:solidFill>
        </p:spPr>
      </p:sp>
      <p:graphicFrame>
        <p:nvGraphicFramePr>
          <p:cNvPr id="7" name="Table 0">
            <a:extLst xmlns:a="http://schemas.openxmlformats.org/drawingml/2006/main">
              <a:ext uri="{FF2B5EF4-FFF2-40B4-BE49-F238E27FC236}">
                <a16:creationId xmlns:a16="http://schemas.microsoft.com/office/drawing/2014/main" id="{A6805148-6B3A-4F85-A75F-120F2FC6A097}"/>
              </a:ext>
            </a:extLst>
          </p:cNvPr>
          <p:cNvGraphicFramePr/>
          <p:nvPr/>
        </p:nvGraphicFramePr>
        <p:xfrm>
          <a:off xmlns:a="http://schemas.openxmlformats.org/drawingml/2006/main" x="844529" y="2577703"/>
          <a:ext xmlns:a="http://schemas.openxmlformats.org/drawingml/2006/main" cx="5930752" cy="17692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6713"/>
                <a:gridCol w="3084039"/>
              </a:tblGrid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Модель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15206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Трансформатор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15206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Серийный номер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Место установки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327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Гарантийный срок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15206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15206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E6A1C3-A03D-4032-B70E-87A6C02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4448572"/>
            <a:ext cx="2889079" cy="1068784"/>
          </a:xfrm>
          <a:prstGeom xmlns:a="http://schemas.openxmlformats.org/drawingml/2006/main" prst="roundRect">
            <a:avLst>
              <a:gd name="adj" fmla="val 114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25399">
            <a:solidFill>
              <a:srgbClr val="454F8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D91E583-69A0-4273-9C11-256D22B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23" y="4702572"/>
            <a:ext cx="2381091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история ремонтов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889A5EB-797F-4311-BA34-DCB798F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004" y="4448572"/>
            <a:ext cx="2889178" cy="1068784"/>
          </a:xfrm>
          <a:prstGeom xmlns:a="http://schemas.openxmlformats.org/drawingml/2006/main" prst="roundRect">
            <a:avLst>
              <a:gd name="adj" fmla="val 114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25399">
            <a:solidFill>
              <a:srgbClr val="454F8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9004C4-6977-4F4E-824A-111243C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997" y="4702572"/>
            <a:ext cx="238119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Следующее плановое обслуживание</a:t>
            </a:r>
            <a:endParaRPr sz="16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F928A49-212E-420C-A526-8096474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918" y="1543348"/>
            <a:ext cx="4267192" cy="4337447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42E3C"/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28922C-4CDA-43ED-A479-46A8FE00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1778456"/>
            <a:ext cx="4032248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FFFFFF"/>
                </a:solidFill>
                <a:latin typeface="Onest"/>
                <a:ea typeface="Onest"/>
                <a:cs typeface="Onest"/>
              </a:rPr>
              <a:t>Мобильный экран</a:t>
            </a:r>
            <a:endParaRPr sz="1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E2E9B7-E7BF-45C3-85F8-FB2AF8D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145903"/>
            <a:ext cx="3797304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FFFFFF"/>
                </a:solidFill>
                <a:latin typeface="Onest"/>
                <a:ea typeface="Onest"/>
                <a:cs typeface="Onest"/>
              </a:rPr>
              <a:t>Кабинет инженера</a:t>
            </a:r>
            <a:endParaRPr sz="2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C4145E5-D7EC-407D-A9AC-89AFBF4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762746"/>
            <a:ext cx="3797205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40D6CE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E97A679-B177-4E98-824D-203D3E2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945309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Задание и контакт клиента</a:t>
            </a:r>
            <a:endParaRPr sz="1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42AA2EA-E029-4D89-B612-019E4CE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3682901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Чек-лист диагностики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50833B-6DB0-4C5C-B8E1-BDFF879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420493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Фото до и после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A7EFDC-AF53-47FE-93FA-88E34D9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5158085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Использованные запчасти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90774F8-2963-4693-A257-899B92DC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QR-код открывает карточку; доступ к данным определяется правами пользователя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5F23DA8-6C97-4CB0-8D37-F00E538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3447951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34823F5-4A7E-4DDE-ADC3-258866F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185543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5752555-AB97-4A51-A508-8613E26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923135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</p:spTree>
    <p:extLst>
      <p:ext uri="{BB962C8B-B14F-4D97-AF65-F5344CB8AC3E}">
        <p14:creationId xmlns:p14="http://schemas.microsoft.com/office/powerpoint/2010/main" val="181210327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3CAAE-C649-4299-8CB0-D63F5CC03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ed9475b4a4151"/>
          <a:srcRect xmlns:a="http://schemas.openxmlformats.org/drawingml/2006/main" l="0" t="2279" r="0" b="2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9F73E-2AE3-40FF-B13E-2E6AF91A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551BF9-DAB4-4ECF-B369-0446083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ОБЪЁМ MVP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1350A5-53C3-42D5-BA1D-63B11885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Что войдёт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в первую версию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8565040-D120-4CA3-AAEA-03DF5C11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9F8D390-33B8-44F1-9235-BCB2A3125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60bf8fe6945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CE4A70E-6C2F-4052-B53A-5C41966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Оборудование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32008C-53E4-4A9D-BF2A-B307DB7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955528"/>
            <a:ext cx="2984425" cy="8919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Реестр и цифровые паспорта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QR-коды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791FF3A-94F9-4C87-AF31-4919DF6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B4818449-69B5-4244-8CC2-FA643007D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77b459d4641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3635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CC53AE8-A757-49BE-8D78-4D02681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635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</a:t>
            </a:r>
            <a:endParaRPr sz="2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26BA4A9-6765-4544-9754-A7D6F33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635" y="2955528"/>
            <a:ext cx="2984425" cy="15035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Заявки и назначение инженеров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Статусы и сроки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Уведомления внутри системы</a:t>
            </a:r>
            <a:endParaRPr sz="16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11BBD25-8C89-437C-96E2-7EBD738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3" name="Image 2">
            <a:extLst xmlns:a="http://schemas.openxmlformats.org/drawingml/2006/main">
              <a:ext uri="{FF2B5EF4-FFF2-40B4-BE49-F238E27FC236}">
                <a16:creationId xmlns:a16="http://schemas.microsoft.com/office/drawing/2014/main" id="{DE80065C-570B-4A4A-A572-992B212872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8f064782e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741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2B502C2-CE32-4765-80F8-25387515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741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Результат</a:t>
            </a:r>
            <a:endParaRPr sz="2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CB4518B-30A0-4CF4-8143-428F363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741" y="2955528"/>
            <a:ext cx="2984425" cy="15035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Чек-лист и фотографии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Запись использованных запчастей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PDF-акт и базовый дашборд</a:t>
            </a:r>
            <a:endParaRPr sz="16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F3F4A85-19DC-467A-8FD9-953F71E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Дальнейшее развитие: складской учёт, корпоративные интеграции, согласованный способ электронного подписания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26223580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B624B-7753-47F7-B743-5F7AD0FDB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bb45c3b440cb"/>
          <a:srcRect xmlns:a="http://schemas.openxmlformats.org/drawingml/2006/main" l="0" t="14479" r="0" b="14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1529A-62EC-46B5-9C60-073CC60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85C0A-E5BB-47D7-932A-AF91E83C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ДЕМОНСТРАЦИОННЫЙ СЦЕНАРИЙ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4BCFF7-E2CB-415E-9CFF-E48BB4B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Демонстрация: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неисправность трансформатора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FDEEC8-7020-4A46-88B5-7114079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771948"/>
            <a:ext cx="82161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01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64345D1-08C9-435B-843A-01F26BB4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56408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F2851A-3300-42B4-9CA4-52469DD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197298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Обращение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216C83-9B12-4F4D-8421-D135431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696369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 отправляет заявку с фотографией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E15CDF-8CAB-4419-AFF0-7E8F30C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1771948"/>
            <a:ext cx="855343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02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E44DE1-5510-45A3-B169-BD6F6D0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056408"/>
            <a:ext cx="35051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4557E0B-70BF-440F-9382-EE11C90A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197298"/>
            <a:ext cx="350511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Назначение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C1956A-C38F-454C-B18F-E95C20CB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696369"/>
            <a:ext cx="350511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Диспетчер назначает инженера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41EA0CC-253F-47BF-B3D1-E7E364A4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1771948"/>
            <a:ext cx="867646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03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D4C5ADB-F97F-4485-B9E0-2DFB2E9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056408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9A84B6-5DA1-45D1-8148-26D199B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197298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Диагностика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E5AD410-D2C4-4D82-900A-FA5DE78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696369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Инженер открывает паспорт через QR-код и фиксирует диагностику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20B41B5-F17A-43CF-A7A5-AA8E382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638153"/>
            <a:ext cx="3581310" cy="2222798"/>
          </a:xfrm>
          <a:prstGeom xmlns:a="http://schemas.openxmlformats.org/drawingml/2006/main" prst="roundRect">
            <a:avLst>
              <a:gd name="adj" fmla="val 5485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FDDD99-4521-4A13-9FC8-E3559D1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66753"/>
            <a:ext cx="873202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E9EEFF"/>
                </a:solidFill>
                <a:latin typeface="Onest SemiBold"/>
                <a:ea typeface="Onest SemiBold"/>
                <a:cs typeface="Onest SemiBold"/>
              </a:rPr>
              <a:t>04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AFE4A2-FDB4-421B-9BBA-462FAAB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151213"/>
            <a:ext cx="31241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A32B395-AB05-4253-882A-A26540F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292104"/>
            <a:ext cx="312412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Приостановка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3A87F8-5CCD-4997-B394-5DC712D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791174"/>
            <a:ext cx="3124122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Нужной детали нет. Инженер указывает причину остановки и необходимую запчасть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30BF7A-819D-47D5-B287-26F25A6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3866753"/>
            <a:ext cx="869135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05</a:t>
            </a:r>
            <a:endParaRPr sz="16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6346892-06E5-46F5-BB7B-2540191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151213"/>
            <a:ext cx="35051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1E63DD3-0D13-4021-B3F4-76B93B9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292104"/>
            <a:ext cx="350511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Ремонт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CE1FA53-2062-4678-B826-6D96E35F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791174"/>
            <a:ext cx="3505112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После получения детали инженер завершает ремонт и прикладывает результат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F39F45C-FDC5-48A6-A58E-F017BCF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3866753"/>
            <a:ext cx="870722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06</a:t>
            </a:r>
            <a:endParaRPr sz="16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6AFA0B0-1B7E-4A3B-B684-9ABCA29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151213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01FC43-D3CE-4805-9636-BE70700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292104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Подтверждение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EA1710-C263-4668-A803-2724C27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791174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Формируется PDF-акт. Клиент подтверждает результат в кабинете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7B9798-79BA-413B-AC8D-3BE30EC8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38751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Даже при задержке заявка остаётся под контролем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606302212"/>
      </p:ext>
    </p:extLst>
  </p:cSld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4" dur="4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2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2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D3EFF-59E7-41C0-AB33-5DD1E0BAE1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6febd20d94e77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D185D-07E6-4294-8FA4-F8ECD2C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9485FE-02ED-41F6-952C-A22C77A7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ПРОВЕРКА НА ПРАКТИКЕ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314EC6-7270-48B8-94FE-B8D88B0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Как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проверим пользу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0F8A33-29C5-40E7-83E5-85DD964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10972526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Пилот на одном сервисном направлении, 2–4 недели. Ориентир: до 10 единиц оборудования, 1 диспетчер, 2 инженера. Масштаб согласуется с компанией.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2D1645-4C6A-4CFB-9951-C4C8F6A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281932"/>
            <a:ext cx="5333867" cy="1415455"/>
          </a:xfrm>
          <a:prstGeom xmlns:a="http://schemas.openxmlformats.org/drawingml/2006/main" prst="roundRect">
            <a:avLst>
              <a:gd name="adj" fmla="val 8613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2342CB-4223-4ED6-823E-DC42643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459732"/>
            <a:ext cx="4876678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Демонстрация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4EB7E2-EAB7-4A1B-8D0E-5D5DC91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958802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Тестовые данные, проверка работоспособности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CC500FC-A4CB-4C08-BBA8-34BC41B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281932"/>
            <a:ext cx="5333867" cy="1415455"/>
          </a:xfrm>
          <a:prstGeom xmlns:a="http://schemas.openxmlformats.org/drawingml/2006/main" prst="roundRect">
            <a:avLst>
              <a:gd name="adj" fmla="val 8613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D7BAB7-17B2-496E-B7BF-7C0ACD0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459732"/>
            <a:ext cx="4876678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Пилот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D7967F-5C4F-4CBA-92F0-EC69A86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958802"/>
            <a:ext cx="48766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Реальные сотрудники и согласованные реальные обращения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3FA130-81F4-4371-8B43-6C0459F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0" y="4027587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Время от регистрации до назначения инженера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CB07E9-7447-4B85-ADB0-FC8148F8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042" y="4027587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Время поиска документов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DD4B464-9CA3-4CF3-AF33-76A1ED7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0" y="4935438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Полнота истории выполненных работ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538777-1506-45FE-92AA-6D4CA7C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042" y="4935438"/>
            <a:ext cx="5079873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Доля заявок с актуальным статусом и ответственным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F508D2-11B7-44DD-AA3C-3A8CF6B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868948"/>
            <a:ext cx="10972526" cy="379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До запуска фиксируем исходные значения. После — сравниваем результаты. При небольшом числе обращений выводы предварительные. Без графиков.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A62A88-3082-4F38-BB0B-47A6ADD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498" y="3875187"/>
            <a:ext cx="12700" cy="907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F11118B-779A-4D68-B6F5-6ACEFC6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76688"/>
            <a:ext cx="5486263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F1C9F9-B090-4F53-B0F4-0FF92F9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498" y="4783038"/>
            <a:ext cx="12700" cy="907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D6129E-9EEF-4D05-B86E-ADA46970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4776688"/>
            <a:ext cx="5486263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</p:spTree>
    <p:extLst>
      <p:ext uri="{BB962C8B-B14F-4D97-AF65-F5344CB8AC3E}">
        <p14:creationId xmlns:p14="http://schemas.microsoft.com/office/powerpoint/2010/main" val="27546060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31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231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544C1-B09F-4E39-9A18-4D9388D9C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36369044d45f0"/>
          <a:srcRect xmlns:a="http://schemas.openxmlformats.org/drawingml/2006/main" l="0" t="2214" r="0" b="2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6D70B-06E3-420D-AE63-E65B16A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4AB6E4-A907-44B3-83FD-BD681F1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ПЕРВЫЙ СОВМЕСТНЫЙ ШАГ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DA2386-4741-435D-B61B-549EDCF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25497"/>
            <a:ext cx="10972526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Начнём с одного процесса.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Проверим на практике.</a:t>
            </a:r>
            <a:endParaRPr sz="4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3D4E4D-FE7E-4FE7-A46A-97248424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242741"/>
            <a:ext cx="5333867" cy="3144838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53169C-9BB7-4A2A-A736-09CD1A9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47769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Студенческая команда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50D4E1-3CB8-4A5A-89AB-441DAC7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3045321"/>
            <a:ext cx="4863978" cy="1223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Описывает согласованный процесс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Разрабатывает MVP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Проводит демонстрацию и собирает обратную связь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8187E22-7F99-4033-BAAD-A58A7A3F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242741"/>
            <a:ext cx="5333867" cy="3144838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A1FC02-637B-4360-BB00-8127867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47769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Компания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9A3E021-9973-4768-9283-F4AA0DE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3045321"/>
            <a:ext cx="4863978" cy="1223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Выделяет представителя сервисной службы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Помогает выбрать проблемный процесс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Предоставляет согласованные примеры данных и участников пилота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A9C310-E2B4-499D-AD0B-6D1342EA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565378"/>
            <a:ext cx="11582110" cy="315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Предлагаем рабочую встречу с сервисным подразделением для выбора первого сценария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5DDB88-DA22-439F-AEE7-8D07F5E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От разрозненных обращений к управляемой истории обслуживания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955779053"/>
      </p:ext>
    </p:extLst>
  </p:cSld>
  <p:transition spd="med" advClick="1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DocSecurity>0</DocSecurity>
  <PresentationFormat>Converted Presentation</PresentationFormat>
  <Slides>0</Slides>
  <Notes>0</Notes>
  <HiddenSlides>0</HiddenSlide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BAGDAULET KOPTILEU</dc:creator>
  <dcterms:created xsi:type="dcterms:W3CDTF">2026-10-09T12:35:58Z</dcterms:created>
  <dcterms:modified xsi:type="dcterms:W3CDTF">2026-10-09T12:35:58Z</dcterms:modified>
</cp:coreProperties>
</file>