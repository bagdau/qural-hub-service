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e60c1422249ff" /><Relationship Type="http://schemas.openxmlformats.org/officeDocument/2006/relationships/extended-properties" Target="/docProps/app.xml" Id="R3ef040858c324d11" /><Relationship Type="http://schemas.openxmlformats.org/officeDocument/2006/relationships/officeDocument" Target="/ppt/presentation.xml" Id="Rf043a09f993442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5f8a62b094b4b"/>
  </p:sldMasterIdLst>
  <p:notesMasterIdLst>
    <p:notesMasterId xmlns:r="http://schemas.openxmlformats.org/officeDocument/2006/relationships" r:id="R2f1540e86c6a4322"/>
  </p:notesMasterIdLst>
  <p:sldIdLst>
    <p:sldId xmlns:r="http://schemas.openxmlformats.org/officeDocument/2006/relationships" id="256" r:id="R98f8897e6cf8431a"/>
    <p:sldId xmlns:r="http://schemas.openxmlformats.org/officeDocument/2006/relationships" id="257" r:id="Recf04c971c76455c"/>
    <p:sldId xmlns:r="http://schemas.openxmlformats.org/officeDocument/2006/relationships" id="258" r:id="R396a8972d5814f0e"/>
    <p:sldId xmlns:r="http://schemas.openxmlformats.org/officeDocument/2006/relationships" id="259" r:id="Rad18f4e2af2c4eca"/>
    <p:sldId xmlns:r="http://schemas.openxmlformats.org/officeDocument/2006/relationships" id="260" r:id="Rde6a582df1504aa4"/>
    <p:sldId xmlns:r="http://schemas.openxmlformats.org/officeDocument/2006/relationships" id="261" r:id="Re08010d12b5745a9"/>
    <p:sldId xmlns:r="http://schemas.openxmlformats.org/officeDocument/2006/relationships" id="262" r:id="Rf78009e4fec04b0b"/>
    <p:sldId xmlns:r="http://schemas.openxmlformats.org/officeDocument/2006/relationships" id="263" r:id="Rba1b1b2caf7c4528"/>
    <p:sldId xmlns:r="http://schemas.openxmlformats.org/officeDocument/2006/relationships" id="264" r:id="Rfb1d52759c0f4084"/>
    <p:sldId xmlns:r="http://schemas.openxmlformats.org/officeDocument/2006/relationships" id="265" r:id="R877841ab82014abe"/>
    <p:sldId xmlns:r="http://schemas.openxmlformats.org/officeDocument/2006/relationships" id="266" r:id="R6c0f4d6844e340eb"/>
    <p:sldId xmlns:r="http://schemas.openxmlformats.org/officeDocument/2006/relationships" id="267" r:id="Rf73752ed5c9c43b9"/>
    <p:sldId xmlns:r="http://schemas.openxmlformats.org/officeDocument/2006/relationships" id="268" r:id="R3062f4ebc3744649"/>
    <p:sldId xmlns:r="http://schemas.openxmlformats.org/officeDocument/2006/relationships" id="269" r:id="R6a7793ef34e243da"/>
    <p:sldId xmlns:r="http://schemas.openxmlformats.org/officeDocument/2006/relationships" id="270" r:id="Rb74ff88123844484"/>
    <p:sldId xmlns:r="http://schemas.openxmlformats.org/officeDocument/2006/relationships" id="271" r:id="R02224761194e47ff"/>
    <p:sldId xmlns:r="http://schemas.openxmlformats.org/officeDocument/2006/relationships" id="272" r:id="Rb39a3c11281f4bb4"/>
    <p:sldId xmlns:r="http://schemas.openxmlformats.org/officeDocument/2006/relationships" id="273" r:id="R12339ec127494c7b"/>
    <p:sldId xmlns:r="http://schemas.openxmlformats.org/officeDocument/2006/relationships" id="274" r:id="R8da0f091302042bd"/>
    <p:sldId xmlns:r="http://schemas.openxmlformats.org/officeDocument/2006/relationships" id="275" r:id="R105a4ee052a941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7e87545ccb43da" /><Relationship Type="http://schemas.openxmlformats.org/officeDocument/2006/relationships/slideMaster" Target="/ppt/slideMasters/slideMaster1.xml" Id="R8485f8a62b094b4b" /><Relationship Type="http://schemas.openxmlformats.org/officeDocument/2006/relationships/notesMaster" Target="/ppt/notesMasters/notesMaster1.xml" Id="R2f1540e86c6a4322" /><Relationship Type="http://schemas.openxmlformats.org/officeDocument/2006/relationships/presProps" Target="/ppt/presProps.xml" Id="Ra1017a757d9f4316" /><Relationship Type="http://schemas.openxmlformats.org/officeDocument/2006/relationships/tableStyles" Target="/ppt/tableStyles.xml" Id="Rb4850b4fa5d94e68" /><Relationship Type="http://schemas.openxmlformats.org/officeDocument/2006/relationships/slide" Target="/ppt/slides/slide1.xml" Id="R98f8897e6cf8431a" /><Relationship Type="http://schemas.openxmlformats.org/officeDocument/2006/relationships/slide" Target="/ppt/slides/slide2.xml" Id="Recf04c971c76455c" /><Relationship Type="http://schemas.openxmlformats.org/officeDocument/2006/relationships/slide" Target="/ppt/slides/slide3.xml" Id="R396a8972d5814f0e" /><Relationship Type="http://schemas.openxmlformats.org/officeDocument/2006/relationships/slide" Target="/ppt/slides/slide4.xml" Id="Rad18f4e2af2c4eca" /><Relationship Type="http://schemas.openxmlformats.org/officeDocument/2006/relationships/slide" Target="/ppt/slides/slide5.xml" Id="Rde6a582df1504aa4" /><Relationship Type="http://schemas.openxmlformats.org/officeDocument/2006/relationships/slide" Target="/ppt/slides/slide6.xml" Id="Re08010d12b5745a9" /><Relationship Type="http://schemas.openxmlformats.org/officeDocument/2006/relationships/slide" Target="/ppt/slides/slide7.xml" Id="Rf78009e4fec04b0b" /><Relationship Type="http://schemas.openxmlformats.org/officeDocument/2006/relationships/slide" Target="/ppt/slides/slide8.xml" Id="Rba1b1b2caf7c4528" /><Relationship Type="http://schemas.openxmlformats.org/officeDocument/2006/relationships/slide" Target="/ppt/slides/slide9.xml" Id="Rfb1d52759c0f4084" /><Relationship Type="http://schemas.openxmlformats.org/officeDocument/2006/relationships/slide" Target="/ppt/slides/slide10.xml" Id="R877841ab82014abe" /><Relationship Type="http://schemas.openxmlformats.org/officeDocument/2006/relationships/slide" Target="/ppt/slides/slide11.xml" Id="R6c0f4d6844e340eb" /><Relationship Type="http://schemas.openxmlformats.org/officeDocument/2006/relationships/slide" Target="/ppt/slides/slide12.xml" Id="Rf73752ed5c9c43b9" /><Relationship Type="http://schemas.openxmlformats.org/officeDocument/2006/relationships/slide" Target="/ppt/slides/slide13.xml" Id="R3062f4ebc3744649" /><Relationship Type="http://schemas.openxmlformats.org/officeDocument/2006/relationships/slide" Target="/ppt/slides/slide14.xml" Id="R6a7793ef34e243da" /><Relationship Type="http://schemas.openxmlformats.org/officeDocument/2006/relationships/slide" Target="/ppt/slides/slide15.xml" Id="Rb74ff88123844484" /><Relationship Type="http://schemas.openxmlformats.org/officeDocument/2006/relationships/slide" Target="/ppt/slides/slide16.xml" Id="R02224761194e47ff" /><Relationship Type="http://schemas.openxmlformats.org/officeDocument/2006/relationships/slide" Target="/ppt/slides/slide17.xml" Id="Rb39a3c11281f4bb4" /><Relationship Type="http://schemas.openxmlformats.org/officeDocument/2006/relationships/slide" Target="/ppt/slides/slide18.xml" Id="R12339ec127494c7b" /><Relationship Type="http://schemas.openxmlformats.org/officeDocument/2006/relationships/slide" Target="/ppt/slides/slide19.xml" Id="R8da0f091302042bd" /><Relationship Type="http://schemas.openxmlformats.org/officeDocument/2006/relationships/slide" Target="/ppt/slides/slide20.xml" Id="R105a4ee052a941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18c7012a744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da3396aa784fb1" /><Relationship Type="http://schemas.openxmlformats.org/officeDocument/2006/relationships/notesMaster" Target="/ppt/notesMasters/notesMaster1.xml" Id="R55f790e3cf84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cae648fc44909" /><Relationship Type="http://schemas.openxmlformats.org/officeDocument/2006/relationships/notesMaster" Target="/ppt/notesMasters/notesMaster1.xml" Id="R61576376f99247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e53888cc354934" /><Relationship Type="http://schemas.openxmlformats.org/officeDocument/2006/relationships/notesMaster" Target="/ppt/notesMasters/notesMaster1.xml" Id="Rf3db83a5e24c41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a74bb01ed4130" /><Relationship Type="http://schemas.openxmlformats.org/officeDocument/2006/relationships/notesMaster" Target="/ppt/notesMasters/notesMaster1.xml" Id="Rb0db72b68f5b4c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cd4fdf43974bc6" /><Relationship Type="http://schemas.openxmlformats.org/officeDocument/2006/relationships/notesMaster" Target="/ppt/notesMasters/notesMaster1.xml" Id="Rfd52478ab7b74b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0ffa1761fa46cb" /><Relationship Type="http://schemas.openxmlformats.org/officeDocument/2006/relationships/notesMaster" Target="/ppt/notesMasters/notesMaster1.xml" Id="R64f7cb86eed64c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7cb15ba1da49fd" /><Relationship Type="http://schemas.openxmlformats.org/officeDocument/2006/relationships/notesMaster" Target="/ppt/notesMasters/notesMaster1.xml" Id="R52ffd05f9ace45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9b3bc825194c17" /><Relationship Type="http://schemas.openxmlformats.org/officeDocument/2006/relationships/notesMaster" Target="/ppt/notesMasters/notesMaster1.xml" Id="R9ba62b436c4043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1665622fab48f3" /><Relationship Type="http://schemas.openxmlformats.org/officeDocument/2006/relationships/notesMaster" Target="/ppt/notesMasters/notesMaster1.xml" Id="Ref13c4ed18124a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b94f2b9c4640a2" /><Relationship Type="http://schemas.openxmlformats.org/officeDocument/2006/relationships/notesMaster" Target="/ppt/notesMasters/notesMaster1.xml" Id="Rb2352c41a3c748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f617a9af6144b1" /><Relationship Type="http://schemas.openxmlformats.org/officeDocument/2006/relationships/notesMaster" Target="/ppt/notesMasters/notesMaster1.xml" Id="R7047bd4afd2b48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4b3a0a1cc84655" /><Relationship Type="http://schemas.openxmlformats.org/officeDocument/2006/relationships/notesMaster" Target="/ppt/notesMasters/notesMaster1.xml" Id="Raa7c34bb96e449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03a5d15e204cbc" /><Relationship Type="http://schemas.openxmlformats.org/officeDocument/2006/relationships/notesMaster" Target="/ppt/notesMasters/notesMaster1.xml" Id="R082dd6de940740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bb7ae6a7a047f1" /><Relationship Type="http://schemas.openxmlformats.org/officeDocument/2006/relationships/notesMaster" Target="/ppt/notesMasters/notesMaster1.xml" Id="R929e9eed83b444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f3306c384e4fd6" /><Relationship Type="http://schemas.openxmlformats.org/officeDocument/2006/relationships/notesMaster" Target="/ppt/notesMasters/notesMaster1.xml" Id="R4f2a03528fd440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178879a9af4aab" /><Relationship Type="http://schemas.openxmlformats.org/officeDocument/2006/relationships/notesMaster" Target="/ppt/notesMasters/notesMaster1.xml" Id="R99044945ce114e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9af3c70f1d465d" /><Relationship Type="http://schemas.openxmlformats.org/officeDocument/2006/relationships/notesMaster" Target="/ppt/notesMasters/notesMaster1.xml" Id="R4f3b9186a70440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e669da2a9e441d" /><Relationship Type="http://schemas.openxmlformats.org/officeDocument/2006/relationships/notesMaster" Target="/ppt/notesMasters/notesMaster1.xml" Id="R4f20fc946e8f43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da47fd5c394414" /><Relationship Type="http://schemas.openxmlformats.org/officeDocument/2006/relationships/notesMaster" Target="/ppt/notesMasters/notesMaster1.xml" Id="R0c6a8bf73fba4c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61921094564d5a" /><Relationship Type="http://schemas.openxmlformats.org/officeDocument/2006/relationships/notesMaster" Target="/ppt/notesMasters/notesMaster1.xml" Id="R9f7c3455148a4d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Alageum Service Hub объединяет оборудование и весь процесс сервисного обслуживания. Проект студенческой команды университета предлагается для обсуждения возможного пилота. В интерфейсе используются демонстрационные данные, сотрудничество и внедрение в компании пока не подтверждены.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https://next.auezov.edu.kz/; официальный логотип: https://next.auezov.edu.kz/assets/img/logo-white.svg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описаны гипотезы проблем, а не результаты обследования конкретного предприятия. Если обращения и документы распределены между разными каналами, контроль требует дополнительных уточнений. На рабочей встрече важно определить, какие из этих ситуаций действительно возникают и как часто.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 2;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Платформа связывает действия клиента, диспетчера и инженера вокруг одного объекта. Руководитель получает обзор текущих обращений, а клиент видит состояние своих заявок. Снимок показывает действующий интерфейс на синтетических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backend/app/visibility.py; assets/client-home.png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разделяют выполнение работ, диспетчеризацию и контроль. Инженер работает со своими назначениями, а клиент ограничен своей организацией. Администратор настраивает систему, но его роль сама по себе не подменяет диспетчера в операционных действиях.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backend/app/visibility.py; backend/app/workflow.py; assets/users.png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Рабочий маршрут включает новую, принятую и назначенную заявку, работу инженера, ожидание подтверждения и закрытие. При задержке участник фиксирует причину паузы, следующее действие и ожидаемый срок возобновления. Клиент может вернуть результат на доработку, при этом история сохраняется.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backend/app/workflow.py; assets/ticket.png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охватывает трансформаторы, подстанции и распределительные устройства. Каждая единица относится к организации и площадке. В системе можно искать оборудование и переходить к его паспорту, не собирая сведения из отдельных файлов.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backend/app; assets/equipment.png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паспорте собраны идентификационные и технические сведения, документы, карта и план обслуживания. История позволяет проверить предыдущие обращения по тому же объекту. Это помогает инженеру подготовиться и не запрашивать заново уже сохранённую информацию.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assets/passport.png; assets/equipment-history.png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QR-код содержит ссылку на карточку оборудования. Он ускоряет доступ, но не заменяет авторизацию и проверку прав. Для камеры нужны защищённое соединение и разрешение браузера, а для напечатанных кодов при пилоте следует согласовать постоянный адрес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assets/qr.png; assets/scanner.png;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Клиент или диспетчер создаёт заявку по существующему оборудованию. Диспетчер проверяет срочность и назначает исполнителя с плановой датой и комментарием. При повторном активном обращении и высокой загрузке инженера система показывает предупреждение.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assets/create.png; assets/assign.png; backend/app/workflow.py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видит путь обращений по колонкам и может быстро открыть карточку заявки. Фильтры позволяют работать с конкретным приоритетом, исполнителем или оборудованием. Доступные переходы зависят от роли и текущего состояния заявки.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assets/board.png;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Инженер видит свои задания по состоянию и срокам. Мобильная версия позволяет открыть задачу и перейти к выполнению на площадке. Текущая версия требует подключения для действий, полноценная автономная работа с последующей синхронизацией не реализована.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assets/tasks.png; assets/mobile-tasks.png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завершением система проверяет заполнение обязательных полей и чек-листа. Инженер фиксирует диагностику, выполненные работы, использованные материалы и результат проверки. Для фотографий до и после предусмотрены обязательность либо согласованное диспетчером исключение.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assets/report.png; assets/checklist.png;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SLA задаёт контрольные сроки реакции и выполнения с учётом приоритета. При паузе и ожидании подтверждения останавливается отсчёт времени выполнения. Значения нормативов и правила рабочего времени следует согласовать с сервисным подразделением перед пилотом.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assets/timeline.png; backend/app/workflow.py;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завершения работ клиент получает результат на подтверждение. PDF-акт формируется по сохранённому отчёту, а возврат на доработку не стирает предыдущие версии. Подтверждение в кабинете реализовано, квалифицированная электронная подпись не подключена.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assets/confirmation.png; assets/act.png;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задаёт периодичность, дату и заблаговременность создания заявки. Фоновая задача формирует плановое обращение и защищает от повторного создания на ту же дату плана. Это помогает учитывать профилактику вместе с текущими ремонтами.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assets/maintenance.png; backend/app/worker.py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использует координаты оборудования или его площадки. Сигналы помогают выделить объекты, по которым есть обращения или плановые работы. Это обзор расположения объектов, автоматическое построение оптимального маршрута выездов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assets/map.png;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Показатели помогают руководителю определить, какие заявки требуют внимания и где повторяются обращения. Переход от показателя к списку заявок позволяет уточнить причину. Числа на снимке относятся к демонстрационному набору и не подтверждают экономический эффект.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assets/dashboard.png; backend/app/analytics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Сервер проверяет доступ к данным и действиям, включая документы и вложения. Администратор управляет учётными записями и настройками, а аудит помогает разбирать события. Текущая архитектура использует React, FastAPI и PostgreSQL с контейнерным развёртыванием.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assets/users.png; backend/app/visibility.py;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Преимущество предлагаемого подхода заключается в связанности данных внутри конкретного сервисного процесса. Для завода полезны реестр объектов и планирование, для сервисной организации — диспетчеризация и подтверждение результата. Интеграции с ERP и 1С, полноценный склад и электронная подпись относятся к дальнейшему развитию, а не к готовым функциям.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docs/12-implementation-status.md; текущие экраны приложения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 начать с одного согласованного сценария и небольшой группы участников. Срок и состав пилота — ориентир из первоначального предложения, а не договорённость с компанией. Перед запуском следует зафиксировать исходные значения и критерии успеха, а бюджет определить после согласования масштаба и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слайды 9–10; README.md; assets/tablet-dashboard.png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2384e065a4c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dd888759c4e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df6d94f8146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20d471cf34b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8ed6433ca42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3fcb5638143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83A77A-497A-43E2-B712-7C81F521A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31CA9B-E98E-45DF-A14C-0C01C716D8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7989E1-88A0-41B5-B7B4-5BEA966E9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A151C8-DFBE-4D11-959B-C984972DC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31EAD3-7E85-4350-A88E-218058C0AA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E4FA7A-E640-4469-A221-1358CEB90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1359B0-21B9-4905-B258-CBC8CA109D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A9DBE4-3032-4E2D-BB8A-95719A7A19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621725-07AB-41BF-84A4-B7871F9B5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DB0DF8-E36B-4E88-80CD-04BA133A6F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50a3413f54af0" /><Relationship Type="http://schemas.openxmlformats.org/officeDocument/2006/relationships/slideLayout" Target="/ppt/slideLayouts/slideLayout1.xml" Id="R5172a135d7024aa2" /><Relationship Type="http://schemas.openxmlformats.org/officeDocument/2006/relationships/slideLayout" Target="/ppt/slideLayouts/slideLayout2.xml" Id="Rce57dc3712a8497c" /><Relationship Type="http://schemas.openxmlformats.org/officeDocument/2006/relationships/slideLayout" Target="/ppt/slideLayouts/slideLayout3.xml" Id="Rac389cd26fab4138" /><Relationship Type="http://schemas.openxmlformats.org/officeDocument/2006/relationships/slideLayout" Target="/ppt/slideLayouts/slideLayout4.xml" Id="R97f379bce775469c" /><Relationship Type="http://schemas.openxmlformats.org/officeDocument/2006/relationships/slideLayout" Target="/ppt/slideLayouts/slideLayout5.xml" Id="Ra591d7150ec74eb5" /><Relationship Type="http://schemas.openxmlformats.org/officeDocument/2006/relationships/slideLayout" Target="/ppt/slideLayouts/slideLayout6.xml" Id="R7725de504a4843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2a135d7024aa2"/>
    <p:sldLayoutId xmlns:r="http://schemas.openxmlformats.org/officeDocument/2006/relationships" id="2147483650" r:id="Rce57dc3712a8497c"/>
    <p:sldLayoutId xmlns:r="http://schemas.openxmlformats.org/officeDocument/2006/relationships" id="2147483651" r:id="Rac389cd26fab4138"/>
    <p:sldLayoutId xmlns:r="http://schemas.openxmlformats.org/officeDocument/2006/relationships" id="2147483652" r:id="R97f379bce775469c"/>
    <p:sldLayoutId xmlns:r="http://schemas.openxmlformats.org/officeDocument/2006/relationships" id="2147483653" r:id="Ra591d7150ec74eb5"/>
    <p:sldLayoutId xmlns:r="http://schemas.openxmlformats.org/officeDocument/2006/relationships" id="2147483654" r:id="R7725de504a4843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a8a9e36034e52" /><Relationship Type="http://schemas.openxmlformats.org/officeDocument/2006/relationships/image" Target="/ppt/media/image.png" Id="Rf6a77770659a4596" /><Relationship Type="http://schemas.openxmlformats.org/officeDocument/2006/relationships/notesSlide" Target="/ppt/notesSlides/notesSlide1.xml" Id="Rab074854ed5a42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ff97a0e514ff2" /><Relationship Type="http://schemas.openxmlformats.org/officeDocument/2006/relationships/notesSlide" Target="/ppt/notesSlides/notesSlide2.xml" Id="Ra3af2ce13e924e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1aacc73484c46" /><Relationship Type="http://schemas.openxmlformats.org/officeDocument/2006/relationships/image" Target="/ppt/media/image2.png" Id="Rd11fb9e1d51c42bb" /><Relationship Type="http://schemas.openxmlformats.org/officeDocument/2006/relationships/notesSlide" Target="/ppt/notesSlides/notesSlide3.xml" Id="R1f8b83c6895f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34d623be7457f" /><Relationship Type="http://schemas.openxmlformats.org/officeDocument/2006/relationships/notesSlide" Target="/ppt/notesSlides/notesSlide4.xml" Id="Ra48500c17bd347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50ad8b2984d7b" /><Relationship Type="http://schemas.openxmlformats.org/officeDocument/2006/relationships/image" Target="/ppt/media/image3.png" Id="R4bb134caf7a84b76" /><Relationship Type="http://schemas.openxmlformats.org/officeDocument/2006/relationships/notesSlide" Target="/ppt/notesSlides/notesSlide5.xml" Id="Rcd6f9937b4ed4c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05f38d71b4756" /><Relationship Type="http://schemas.openxmlformats.org/officeDocument/2006/relationships/image" Target="/ppt/media/image4.png" Id="Rdd233c9dc69b4452" /><Relationship Type="http://schemas.openxmlformats.org/officeDocument/2006/relationships/notesSlide" Target="/ppt/notesSlides/notesSlide6.xml" Id="Raaca1273660a41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c06e9ce134b81" /><Relationship Type="http://schemas.openxmlformats.org/officeDocument/2006/relationships/image" Target="/ppt/media/image5.png" Id="Raf963d1e5e014ca0" /><Relationship Type="http://schemas.openxmlformats.org/officeDocument/2006/relationships/image" Target="/ppt/media/image6.png" Id="Ra897dc4d9bb14966" /><Relationship Type="http://schemas.openxmlformats.org/officeDocument/2006/relationships/notesSlide" Target="/ppt/notesSlides/notesSlide7.xml" Id="Re5475f5fd59f40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1391bfcdc4447" /><Relationship Type="http://schemas.openxmlformats.org/officeDocument/2006/relationships/image" Target="/ppt/media/image7.png" Id="Re36f0ebba2284872" /><Relationship Type="http://schemas.openxmlformats.org/officeDocument/2006/relationships/image" Target="/ppt/media/image8.png" Id="Rd37ace485ce441a2" /><Relationship Type="http://schemas.openxmlformats.org/officeDocument/2006/relationships/notesSlide" Target="/ppt/notesSlides/notesSlide8.xml" Id="R4bdd2e3a29054a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d9a0b27134667" /><Relationship Type="http://schemas.openxmlformats.org/officeDocument/2006/relationships/image" Target="/ppt/media/image9.png" Id="Ra6d170eec31a419d" /><Relationship Type="http://schemas.openxmlformats.org/officeDocument/2006/relationships/image" Target="/ppt/media/image10.png" Id="R9374fc8c9df34aaa" /><Relationship Type="http://schemas.openxmlformats.org/officeDocument/2006/relationships/notesSlide" Target="/ppt/notesSlides/notesSlide9.xml" Id="R57a5cd492d0f46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15c5a43174b88" /><Relationship Type="http://schemas.openxmlformats.org/officeDocument/2006/relationships/image" Target="/ppt/media/image11.png" Id="R44b89d6354d74b7d" /><Relationship Type="http://schemas.openxmlformats.org/officeDocument/2006/relationships/notesSlide" Target="/ppt/notesSlides/notesSlide10.xml" Id="Ra3be28badc4446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b46e344d140f8" /><Relationship Type="http://schemas.openxmlformats.org/officeDocument/2006/relationships/image" Target="/ppt/media/image12.png" Id="Rd53f87e8ad3e4a54" /><Relationship Type="http://schemas.openxmlformats.org/officeDocument/2006/relationships/image" Target="/ppt/media/image13.png" Id="R7f063d97ad654321" /><Relationship Type="http://schemas.openxmlformats.org/officeDocument/2006/relationships/notesSlide" Target="/ppt/notesSlides/notesSlide11.xml" Id="R4883810457644d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c779f99604e20" /><Relationship Type="http://schemas.openxmlformats.org/officeDocument/2006/relationships/image" Target="/ppt/media/image14.png" Id="R5430a76593e84603" /><Relationship Type="http://schemas.openxmlformats.org/officeDocument/2006/relationships/image" Target="/ppt/media/image15.png" Id="R1c3e54f5fe704c97" /><Relationship Type="http://schemas.openxmlformats.org/officeDocument/2006/relationships/notesSlide" Target="/ppt/notesSlides/notesSlide12.xml" Id="R5512799b55e042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76e6d36b34c13" /><Relationship Type="http://schemas.openxmlformats.org/officeDocument/2006/relationships/image" Target="/ppt/media/image16.png" Id="Rb8f9ad43720c4983" /><Relationship Type="http://schemas.openxmlformats.org/officeDocument/2006/relationships/notesSlide" Target="/ppt/notesSlides/notesSlide13.xml" Id="R76d6422fda8e4e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cbc1631b04a04" /><Relationship Type="http://schemas.openxmlformats.org/officeDocument/2006/relationships/image" Target="/ppt/media/image17.png" Id="R635a2c1537ff4207" /><Relationship Type="http://schemas.openxmlformats.org/officeDocument/2006/relationships/image" Target="/ppt/media/image18.png" Id="R6acf908764c84657" /><Relationship Type="http://schemas.openxmlformats.org/officeDocument/2006/relationships/notesSlide" Target="/ppt/notesSlides/notesSlide14.xml" Id="R89eee58289544e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c5a6cb43943a8" /><Relationship Type="http://schemas.openxmlformats.org/officeDocument/2006/relationships/image" Target="/ppt/media/image19.png" Id="Re1f4f98e4b594b05" /><Relationship Type="http://schemas.openxmlformats.org/officeDocument/2006/relationships/notesSlide" Target="/ppt/notesSlides/notesSlide15.xml" Id="R836bacec3cc64a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27145d3c34154" /><Relationship Type="http://schemas.openxmlformats.org/officeDocument/2006/relationships/image" Target="/ppt/media/image20.png" Id="Rb2003f12fc2248ce" /><Relationship Type="http://schemas.openxmlformats.org/officeDocument/2006/relationships/notesSlide" Target="/ppt/notesSlides/notesSlide16.xml" Id="R009f0172a6d147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23529f185465c" /><Relationship Type="http://schemas.openxmlformats.org/officeDocument/2006/relationships/image" Target="/ppt/media/image21.png" Id="R67a394719d7543a6" /><Relationship Type="http://schemas.openxmlformats.org/officeDocument/2006/relationships/notesSlide" Target="/ppt/notesSlides/notesSlide17.xml" Id="R8431ba7ae36640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eff9057394c54" /><Relationship Type="http://schemas.openxmlformats.org/officeDocument/2006/relationships/image" Target="/ppt/media/image22.png" Id="R7a5de4de4b6d4c36" /><Relationship Type="http://schemas.openxmlformats.org/officeDocument/2006/relationships/notesSlide" Target="/ppt/notesSlides/notesSlide18.xml" Id="Rab5a382d9aa84a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1e40127194656" /><Relationship Type="http://schemas.openxmlformats.org/officeDocument/2006/relationships/notesSlide" Target="/ppt/notesSlides/notesSlide19.xml" Id="R56df1a9cc1824c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9902bc23c430f" /><Relationship Type="http://schemas.openxmlformats.org/officeDocument/2006/relationships/image" Target="/ppt/media/image23.png" Id="Rd3391eafd617449c" /><Relationship Type="http://schemas.openxmlformats.org/officeDocument/2006/relationships/notesSlide" Target="/ppt/notesSlides/notesSlide20.xml" Id="Raec2995ed76c47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2D84BAFE-7AC9-4166-9DBF-190F8C93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3B0D0-84BE-4964-9CE9-FFE770512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77770659a4596"/>
          <a:stretch xmlns:a="http://schemas.openxmlformats.org/drawingml/2006/main"/>
        </p:blipFill>
        <p:spPr>
          <a:xfrm xmlns:a="http://schemas.openxmlformats.org/drawingml/2006/main">
            <a:off x="533400" y="411290"/>
            <a:ext cx="2057400" cy="853821"/>
          </a:xfrm>
          <a:prstGeom xmlns:a="http://schemas.openxmlformats.org/drawingml/2006/main" prst="rect">
            <a:avLst/>
          </a:prstGeom>
        </p:spPr>
      </p:pic>
      <p:sp>
        <p:nvSpPr>
          <p:cNvPr id="3" name="Южно-Казахстанский исследовательский университет&#10;имени ">
            <a:extLst xmlns:a="http://schemas.openxmlformats.org/drawingml/2006/main">
              <a:ext uri="{FF2B5EF4-FFF2-40B4-BE49-F238E27FC236}">
                <a16:creationId xmlns:a16="http://schemas.microsoft.com/office/drawing/2014/main" id="{267FF00A-F017-45CD-B177-B24908FD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"/>
            <a:ext cx="847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Южно-Казахстанский исследовательский университет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имени Мухтара Ауэзова</a:t>
            </a:r>
          </a:p>
        </p:txBody>
      </p:sp>
      <p:sp>
        <p:nvSpPr>
          <p:cNvPr id="4" name="ALAGEUM&#10;SERVICE HUB">
            <a:extLst xmlns:a="http://schemas.openxmlformats.org/drawingml/2006/main">
              <a:ext uri="{FF2B5EF4-FFF2-40B4-BE49-F238E27FC236}">
                <a16:creationId xmlns:a16="http://schemas.microsoft.com/office/drawing/2014/main" id="{8ACBCC65-B5F9-47CE-AA1F-A2902A80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1095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ALAGEUM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HUB</a:t>
            </a:r>
          </a:p>
        </p:txBody>
      </p:sp>
      <p:sp>
        <p:nvSpPr>
          <p:cNvPr id="5" name="Учёт оборудования и управление&#10;сервисным обслуживанием">
            <a:extLst xmlns:a="http://schemas.openxmlformats.org/drawingml/2006/main">
              <a:ext uri="{FF2B5EF4-FFF2-40B4-BE49-F238E27FC236}">
                <a16:creationId xmlns:a16="http://schemas.microsoft.com/office/drawing/2014/main" id="{05AEE5B0-7E5C-4681-921E-25FFF675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00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Учёт оборудования и управление</a:t>
            </a:r>
          </a:p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сервисным обслуживанием</a:t>
            </a:r>
          </a:p>
        </p:txBody>
      </p:sp>
      <p:sp>
        <p:nvSpPr>
          <p:cNvPr id="6" name="Проект студенческой команды · Демонстрация работающего ">
            <a:extLst xmlns:a="http://schemas.openxmlformats.org/drawingml/2006/main">
              <a:ext uri="{FF2B5EF4-FFF2-40B4-BE49-F238E27FC236}">
                <a16:creationId xmlns:a16="http://schemas.microsoft.com/office/drawing/2014/main" id="{97FFF464-4A82-4EF1-8197-6AC1399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Проект студенческой команды · Демонстрация работающего MVP</a:t>
            </a:r>
          </a:p>
        </p:txBody>
      </p:sp>
    </p:spTree>
    <p:extLst>
      <p:ext uri="{BB962C8B-B14F-4D97-AF65-F5344CB8AC3E}">
        <p14:creationId xmlns:p14="http://schemas.microsoft.com/office/powerpoint/2010/main" val="1808700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облемы разрозненного сервисного учёта">
            <a:extLst xmlns:a="http://schemas.openxmlformats.org/drawingml/2006/main">
              <a:ext uri="{FF2B5EF4-FFF2-40B4-BE49-F238E27FC236}">
                <a16:creationId xmlns:a16="http://schemas.microsoft.com/office/drawing/2014/main" id="{25D57DFB-827E-4548-93A2-F630D2A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Проблемы разрозненного сервисного учёта</a:t>
            </a:r>
          </a:p>
        </p:txBody>
      </p:sp>
      <p:sp>
        <p:nvSpPr>
          <p:cNvPr id="2" name="Ситуации, которые предлагаем проверить вместе с сервисн">
            <a:extLst xmlns:a="http://schemas.openxmlformats.org/drawingml/2006/main">
              <a:ext uri="{FF2B5EF4-FFF2-40B4-BE49-F238E27FC236}">
                <a16:creationId xmlns:a16="http://schemas.microsoft.com/office/drawing/2014/main" id="{9B257F24-ED11-4CA2-B572-7B70D9F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Ситуации, которые предлагаем проверить вместе с сервисной службой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6E2A67A8-E9D0-48B3-B284-E292B66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BB838-49C6-4C2E-9666-35BE2D91D7BA}"/>
              </a:ext>
            </a:extLst>
          </p:cNvPr>
          <p:cNvGraphicFramePr/>
          <p:nvPr/>
        </p:nvGraphicFramePr>
        <p:xfrm>
          <a:off xmlns:a="http://schemas.openxmlformats.org/drawingml/2006/main" x="533400" y="2009775"/>
          <a:ext xmlns:a="http://schemas.openxmlformats.org/drawingml/2006/main" cx="111252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76700"/>
                <a:gridCol w="7048500"/>
              </a:tblGrid>
              <a:tr h="6972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 для работы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Обращения в разных каналах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Сложно видеть общую очередь и срочные задачи.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Документы отдельно от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Перед выездом приходится искать паспорт и историю ремонта.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Статус держится на звонках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Клиенту и руководителю приходится уточнять ход работ.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оформляют по-разному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Трудно проверить полноту работ и причины повторного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Общая задача: связать объект, заявку, исполнителя и рез">
            <a:extLst xmlns:a="http://schemas.openxmlformats.org/drawingml/2006/main">
              <a:ext uri="{FF2B5EF4-FFF2-40B4-BE49-F238E27FC236}">
                <a16:creationId xmlns:a16="http://schemas.microsoft.com/office/drawing/2014/main" id="{5B78A2E9-ADE1-4DA8-A10A-67C33D77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Общая задача: связать объект, заявку, исполнителя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836373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шение: общий процесс в одном приложении">
            <a:extLst xmlns:a="http://schemas.openxmlformats.org/drawingml/2006/main">
              <a:ext uri="{FF2B5EF4-FFF2-40B4-BE49-F238E27FC236}">
                <a16:creationId xmlns:a16="http://schemas.microsoft.com/office/drawing/2014/main" id="{D3B79DCF-B6B1-409E-BD9C-CD14F7C6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Решение: общий процесс в одном приложении</a:t>
            </a:r>
          </a:p>
        </p:txBody>
      </p:sp>
      <p:sp>
        <p:nvSpPr>
          <p:cNvPr id="2" name="Каждая заявка связана с конкретной единицей оборудовани">
            <a:extLst xmlns:a="http://schemas.openxmlformats.org/drawingml/2006/main">
              <a:ext uri="{FF2B5EF4-FFF2-40B4-BE49-F238E27FC236}">
                <a16:creationId xmlns:a16="http://schemas.microsoft.com/office/drawing/2014/main" id="{9DF95DA0-F976-4E8F-B527-8BE74B6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Каждая заявка связана с конкретной единицей оборудования. На экране демоданные.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945A7395-73E7-4C1D-8E40-EC9E5A1F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Оборудование">
            <a:extLst xmlns:a="http://schemas.openxmlformats.org/drawingml/2006/main">
              <a:ext uri="{FF2B5EF4-FFF2-40B4-BE49-F238E27FC236}">
                <a16:creationId xmlns:a16="http://schemas.microsoft.com/office/drawing/2014/main" id="{92892AC3-6D92-4340-96CF-2653C53C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Оборудование</a:t>
            </a:r>
          </a:p>
        </p:txBody>
      </p:sp>
      <p:sp>
        <p:nvSpPr>
          <p:cNvPr id="5" name="Паспорт, документы и история работ.">
            <a:extLst xmlns:a="http://schemas.openxmlformats.org/drawingml/2006/main">
              <a:ext uri="{FF2B5EF4-FFF2-40B4-BE49-F238E27FC236}">
                <a16:creationId xmlns:a16="http://schemas.microsoft.com/office/drawing/2014/main" id="{CA7C0703-FC5B-4C19-AF64-43B1FB02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Паспорт, документы и история работ.</a:t>
            </a:r>
          </a:p>
        </p:txBody>
      </p:sp>
      <p:sp>
        <p:nvSpPr>
          <p:cNvPr id="6" name="Обслуживание">
            <a:extLst xmlns:a="http://schemas.openxmlformats.org/drawingml/2006/main">
              <a:ext uri="{FF2B5EF4-FFF2-40B4-BE49-F238E27FC236}">
                <a16:creationId xmlns:a16="http://schemas.microsoft.com/office/drawing/2014/main" id="{5AD171C9-B9C2-45E5-8BB0-69D0882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7" name="Ответственный, этап и срок по каждой заявке.">
            <a:extLst xmlns:a="http://schemas.openxmlformats.org/drawingml/2006/main">
              <a:ext uri="{FF2B5EF4-FFF2-40B4-BE49-F238E27FC236}">
                <a16:creationId xmlns:a16="http://schemas.microsoft.com/office/drawing/2014/main" id="{66E21075-96EC-4788-8B6F-1D7D83E2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Ответственный, этап и срок по каждой заявке.</a:t>
            </a:r>
          </a:p>
        </p:txBody>
      </p:sp>
      <p:sp>
        <p:nvSpPr>
          <p:cNvPr id="8" name="Контроль">
            <a:extLst xmlns:a="http://schemas.openxmlformats.org/drawingml/2006/main">
              <a:ext uri="{FF2B5EF4-FFF2-40B4-BE49-F238E27FC236}">
                <a16:creationId xmlns:a16="http://schemas.microsoft.com/office/drawing/2014/main" id="{A96B6CE4-364E-4E3E-BEB4-4F1B7F6C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9" name="Отчёт инженера, подтверждение клиента и показатели.">
            <a:extLst xmlns:a="http://schemas.openxmlformats.org/drawingml/2006/main">
              <a:ext uri="{FF2B5EF4-FFF2-40B4-BE49-F238E27FC236}">
                <a16:creationId xmlns:a16="http://schemas.microsoft.com/office/drawing/2014/main" id="{0371E011-DAAB-4305-9D69-0A188049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Отчёт инженера, подтверждение клиента и показатели.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1F092-F845-46B2-AFB1-1D754CE638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fb9e1d51c42bb"/>
          <a:stretch xmlns:a="http://schemas.openxmlformats.org/drawingml/2006/main"/>
        </p:blipFill>
        <p:spPr>
          <a:xfrm xmlns:a="http://schemas.openxmlformats.org/drawingml/2006/main">
            <a:off x="3841661" y="1885950"/>
            <a:ext cx="7785279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Участники видят данные и действия в пределах своей роли">
            <a:extLst xmlns:a="http://schemas.openxmlformats.org/drawingml/2006/main">
              <a:ext uri="{FF2B5EF4-FFF2-40B4-BE49-F238E27FC236}">
                <a16:creationId xmlns:a16="http://schemas.microsoft.com/office/drawing/2014/main" id="{6333EBCC-6C9C-4567-95E0-9834B371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Участники видят данные и действия в пределах своей роли.</a:t>
            </a:r>
          </a:p>
        </p:txBody>
      </p:sp>
    </p:spTree>
    <p:extLst>
      <p:ext uri="{BB962C8B-B14F-4D97-AF65-F5344CB8AC3E}">
        <p14:creationId xmlns:p14="http://schemas.microsoft.com/office/powerpoint/2010/main" val="1110209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ять ролей с понятной ответственностью">
            <a:extLst xmlns:a="http://schemas.openxmlformats.org/drawingml/2006/main">
              <a:ext uri="{FF2B5EF4-FFF2-40B4-BE49-F238E27FC236}">
                <a16:creationId xmlns:a16="http://schemas.microsoft.com/office/drawing/2014/main" id="{071A86D6-A426-4D4F-984B-2FC75F1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Пять ролей с понятной ответственностью</a:t>
            </a:r>
          </a:p>
        </p:txBody>
      </p:sp>
      <p:sp>
        <p:nvSpPr>
          <p:cNvPr id="2" name="Каждый участник получает свой рабочий экран и доступные">
            <a:extLst xmlns:a="http://schemas.openxmlformats.org/drawingml/2006/main">
              <a:ext uri="{FF2B5EF4-FFF2-40B4-BE49-F238E27FC236}">
                <a16:creationId xmlns:a16="http://schemas.microsoft.com/office/drawing/2014/main" id="{05C08955-6772-47AF-928E-32E041E2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Каждый участник получает свой рабочий экран и доступные действия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C14FEC62-3207-4AE3-B355-00157A6C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5726D-2A15-4DE9-A9F5-8883259E11A8}"/>
              </a:ext>
            </a:extLst>
          </p:cNvPr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11125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1724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в системе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Создаёт обращение, следит за заявкой, принимает результат.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Диспетчер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Уточняет приоритет, назначает инженера, контролирует очередь.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Выполняет задания, заполняет отчёт, фиксирует материалы и фото.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Анализирует сроки, нагрузку и повторные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Администратор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Управляет пользователями, справочниками и настройками.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sp>
        <p:nvSpPr>
          <p:cNvPr id="5" name="Клиент видит данные своей организации. Права проверяет ">
            <a:extLst xmlns:a="http://schemas.openxmlformats.org/drawingml/2006/main">
              <a:ext uri="{FF2B5EF4-FFF2-40B4-BE49-F238E27FC236}">
                <a16:creationId xmlns:a16="http://schemas.microsoft.com/office/drawing/2014/main" id="{4BBB63A7-FE72-4275-B854-232B3EF0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видит данные своей организации. Права проверяет сервер.</a:t>
            </a:r>
          </a:p>
        </p:txBody>
      </p:sp>
    </p:spTree>
    <p:extLst>
      <p:ext uri="{BB962C8B-B14F-4D97-AF65-F5344CB8AC3E}">
        <p14:creationId xmlns:p14="http://schemas.microsoft.com/office/powerpoint/2010/main" val="2009322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Заявка проходит весь путь до подтверждения">
            <a:extLst xmlns:a="http://schemas.openxmlformats.org/drawingml/2006/main">
              <a:ext uri="{FF2B5EF4-FFF2-40B4-BE49-F238E27FC236}">
                <a16:creationId xmlns:a16="http://schemas.microsoft.com/office/drawing/2014/main" id="{47C64834-DEB4-43EF-B8F3-3926C73E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Заявка проходит весь путь до подтверждения</a:t>
            </a:r>
          </a:p>
        </p:txBody>
      </p:sp>
      <p:sp>
        <p:nvSpPr>
          <p:cNvPr id="2" name="Один пример: клиент сообщает о неисправности электротех">
            <a:extLst xmlns:a="http://schemas.openxmlformats.org/drawingml/2006/main">
              <a:ext uri="{FF2B5EF4-FFF2-40B4-BE49-F238E27FC236}">
                <a16:creationId xmlns:a16="http://schemas.microsoft.com/office/drawing/2014/main" id="{F9981080-0611-4A03-BAFE-FEDD3764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Один пример: клиент сообщает о неисправности электротехнического оборудования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A4DF7143-B6E3-44D2-B6D7-E7F81CBB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96CEE93-90D4-4D14-9849-4084E96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Клиент регистрирует обращение">
            <a:extLst xmlns:a="http://schemas.openxmlformats.org/drawingml/2006/main">
              <a:ext uri="{FF2B5EF4-FFF2-40B4-BE49-F238E27FC236}">
                <a16:creationId xmlns:a16="http://schemas.microsoft.com/office/drawing/2014/main" id="{6617A710-9C51-468E-A890-00B21A90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регистрирует обращение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40BF2F07-2189-4147-B556-F2C85E17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Диспетчер принимает и назначает">
            <a:extLst xmlns:a="http://schemas.openxmlformats.org/drawingml/2006/main">
              <a:ext uri="{FF2B5EF4-FFF2-40B4-BE49-F238E27FC236}">
                <a16:creationId xmlns:a16="http://schemas.microsoft.com/office/drawing/2014/main" id="{0F08163B-1626-46A8-9B5E-88474F20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принимает и назначает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AA14000C-FFF3-420D-9B14-72303907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Инженер выполняет работу">
            <a:extLst xmlns:a="http://schemas.openxmlformats.org/drawingml/2006/main">
              <a:ext uri="{FF2B5EF4-FFF2-40B4-BE49-F238E27FC236}">
                <a16:creationId xmlns:a16="http://schemas.microsoft.com/office/drawing/2014/main" id="{691AA03C-95A1-42FC-9521-7CBEBCB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909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выполняет работу</a:t>
            </a:r>
          </a:p>
        </p:txBody>
      </p:sp>
      <p:sp>
        <p:nvSpPr>
          <p:cNvPr id="10" name="04">
            <a:extLst xmlns:a="http://schemas.openxmlformats.org/drawingml/2006/main">
              <a:ext uri="{FF2B5EF4-FFF2-40B4-BE49-F238E27FC236}">
                <a16:creationId xmlns:a16="http://schemas.microsoft.com/office/drawing/2014/main" id="{209CDDCA-B914-44A5-B23D-B746D4AE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Клиент подтвержда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0D1A3E50-C0F6-4B09-BB35-F0EDDC00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482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подтверждает результат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713C6-507F-4825-AD58-5699FF252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134caf7a84b76"/>
          <a:stretch xmlns:a="http://schemas.openxmlformats.org/drawingml/2006/main"/>
        </p:blipFill>
        <p:spPr>
          <a:xfrm xmlns:a="http://schemas.openxmlformats.org/drawingml/2006/main">
            <a:off x="4667059" y="1952625"/>
            <a:ext cx="6972682" cy="3619500"/>
          </a:xfrm>
          <a:prstGeom xmlns:a="http://schemas.openxmlformats.org/drawingml/2006/main" prst="rect">
            <a:avLst/>
          </a:prstGeom>
        </p:spPr>
      </p:pic>
      <p:sp>
        <p:nvSpPr>
          <p:cNvPr id="13" name="Пауза хранит причину и следующее действие. Возврат запу">
            <a:extLst xmlns:a="http://schemas.openxmlformats.org/drawingml/2006/main">
              <a:ext uri="{FF2B5EF4-FFF2-40B4-BE49-F238E27FC236}">
                <a16:creationId xmlns:a16="http://schemas.microsoft.com/office/drawing/2014/main" id="{850E59D7-E8FF-4ADF-82D7-D34D7B3A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Пауза хранит причину и следующее действие. Возврат запускает доработку.</a:t>
            </a:r>
          </a:p>
        </p:txBody>
      </p:sp>
    </p:spTree>
    <p:extLst>
      <p:ext uri="{BB962C8B-B14F-4D97-AF65-F5344CB8AC3E}">
        <p14:creationId xmlns:p14="http://schemas.microsoft.com/office/powerpoint/2010/main" val="1564836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естр оборудования">
            <a:extLst xmlns:a="http://schemas.openxmlformats.org/drawingml/2006/main">
              <a:ext uri="{FF2B5EF4-FFF2-40B4-BE49-F238E27FC236}">
                <a16:creationId xmlns:a16="http://schemas.microsoft.com/office/drawing/2014/main" id="{8775C322-A99D-446D-A39F-FF31B7B1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Реестр оборудования</a:t>
            </a:r>
          </a:p>
        </p:txBody>
      </p:sp>
      <p:sp>
        <p:nvSpPr>
          <p:cNvPr id="2" name="Объекты собраны по организациям и площадкам">
            <a:extLst xmlns:a="http://schemas.openxmlformats.org/drawingml/2006/main">
              <a:ext uri="{FF2B5EF4-FFF2-40B4-BE49-F238E27FC236}">
                <a16:creationId xmlns:a16="http://schemas.microsoft.com/office/drawing/2014/main" id="{23756429-60CE-43C2-8B89-090AD0DA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Объекты собраны по организациям и площадкам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D74912F-0A24-4F18-AD8C-CA0A2F1E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Быстрый поиск">
            <a:extLst xmlns:a="http://schemas.openxmlformats.org/drawingml/2006/main">
              <a:ext uri="{FF2B5EF4-FFF2-40B4-BE49-F238E27FC236}">
                <a16:creationId xmlns:a16="http://schemas.microsoft.com/office/drawing/2014/main" id="{F73086D5-8A0E-4334-8142-6F1161D5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Быстрый поиск</a:t>
            </a:r>
          </a:p>
        </p:txBody>
      </p:sp>
      <p:sp>
        <p:nvSpPr>
          <p:cNvPr id="5" name="Название, модель или серийный номер.">
            <a:extLst xmlns:a="http://schemas.openxmlformats.org/drawingml/2006/main">
              <a:ext uri="{FF2B5EF4-FFF2-40B4-BE49-F238E27FC236}">
                <a16:creationId xmlns:a16="http://schemas.microsoft.com/office/drawing/2014/main" id="{9C2238E7-B924-410E-8E30-A9AF0870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Название, модель или серийный номер.</a:t>
            </a:r>
          </a:p>
        </p:txBody>
      </p:sp>
      <p:sp>
        <p:nvSpPr>
          <p:cNvPr id="6" name="Единые данные">
            <a:extLst xmlns:a="http://schemas.openxmlformats.org/drawingml/2006/main">
              <a:ext uri="{FF2B5EF4-FFF2-40B4-BE49-F238E27FC236}">
                <a16:creationId xmlns:a16="http://schemas.microsoft.com/office/drawing/2014/main" id="{DB1F57D1-48B2-4BA4-A247-DC02C4A4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Единые данные</a:t>
            </a:r>
          </a:p>
        </p:txBody>
      </p:sp>
      <p:sp>
        <p:nvSpPr>
          <p:cNvPr id="7" name="Тип, состояние, площадка и ближайший план.">
            <a:extLst xmlns:a="http://schemas.openxmlformats.org/drawingml/2006/main">
              <a:ext uri="{FF2B5EF4-FFF2-40B4-BE49-F238E27FC236}">
                <a16:creationId xmlns:a16="http://schemas.microsoft.com/office/drawing/2014/main" id="{CA74830B-CCBD-4E8A-9794-497CDE2B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Тип, состояние, площадка и ближайший план.</a:t>
            </a:r>
          </a:p>
        </p:txBody>
      </p:sp>
      <p:sp>
        <p:nvSpPr>
          <p:cNvPr id="8" name="Сохранение истории">
            <a:extLst xmlns:a="http://schemas.openxmlformats.org/drawingml/2006/main">
              <a:ext uri="{FF2B5EF4-FFF2-40B4-BE49-F238E27FC236}">
                <a16:creationId xmlns:a16="http://schemas.microsoft.com/office/drawing/2014/main" id="{B13133A6-1376-4B16-9ADE-0948BA22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Сохранение истории</a:t>
            </a:r>
          </a:p>
        </p:txBody>
      </p:sp>
      <p:sp>
        <p:nvSpPr>
          <p:cNvPr id="9" name="Архивирование сохраняет связь с прошлыми работами.">
            <a:extLst xmlns:a="http://schemas.openxmlformats.org/drawingml/2006/main">
              <a:ext uri="{FF2B5EF4-FFF2-40B4-BE49-F238E27FC236}">
                <a16:creationId xmlns:a16="http://schemas.microsoft.com/office/drawing/2014/main" id="{993EAC6B-EA11-4DB5-A7F7-B2FC2EF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Архивирование сохраняет связь с прошлыми работами.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17B2C-E6DA-412A-B709-633F2A936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33c9dc69b4452"/>
          <a:stretch xmlns:a="http://schemas.openxmlformats.org/drawingml/2006/main"/>
        </p:blipFill>
        <p:spPr>
          <a:xfrm xmlns:a="http://schemas.openxmlformats.org/drawingml/2006/main">
            <a:off x="3731363" y="1943100"/>
            <a:ext cx="7910623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Польза для завода: проще определить объект и найти связ">
            <a:extLst xmlns:a="http://schemas.openxmlformats.org/drawingml/2006/main">
              <a:ext uri="{FF2B5EF4-FFF2-40B4-BE49-F238E27FC236}">
                <a16:creationId xmlns:a16="http://schemas.microsoft.com/office/drawing/2014/main" id="{80C794C2-C598-4A73-9586-E50C70E4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завода: проще определить объект и найти связанные обращения.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923777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Цифровой паспорт и история обслуживания">
            <a:extLst xmlns:a="http://schemas.openxmlformats.org/drawingml/2006/main">
              <a:ext uri="{FF2B5EF4-FFF2-40B4-BE49-F238E27FC236}">
                <a16:creationId xmlns:a16="http://schemas.microsoft.com/office/drawing/2014/main" id="{30E456D9-A3DD-481D-BDAF-C45623D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Цифровой паспорт и история обслуживания</a:t>
            </a:r>
          </a:p>
        </p:txBody>
      </p:sp>
      <p:sp>
        <p:nvSpPr>
          <p:cNvPr id="2" name="Характеристики и прошлые обращения доступны из карточки">
            <a:extLst xmlns:a="http://schemas.openxmlformats.org/drawingml/2006/main">
              <a:ext uri="{FF2B5EF4-FFF2-40B4-BE49-F238E27FC236}">
                <a16:creationId xmlns:a16="http://schemas.microsoft.com/office/drawing/2014/main" id="{B026A1A7-713D-4BCA-90EE-DD112188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Характеристики и прошлые обращения доступны из карточки объекта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212387B-9194-41FC-871E-9EAD90B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7A7EE-F73D-49A9-9681-95057DF3A5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63d1e5e014ca0"/>
          <a:stretch xmlns:a="http://schemas.openxmlformats.org/drawingml/2006/main"/>
        </p:blipFill>
        <p:spPr>
          <a:xfrm xmlns:a="http://schemas.openxmlformats.org/drawingml/2006/main">
            <a:off x="533400" y="2051146"/>
            <a:ext cx="6905625" cy="321290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67C9B-E342-4CF9-B5FA-B07A242DE8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7dc4d9bb14966"/>
          <a:stretch xmlns:a="http://schemas.openxmlformats.org/drawingml/2006/main"/>
        </p:blipFill>
        <p:spPr>
          <a:xfrm xmlns:a="http://schemas.openxmlformats.org/drawingml/2006/main">
            <a:off x="7772400" y="2048729"/>
            <a:ext cx="3886200" cy="1941391"/>
          </a:xfrm>
          <a:prstGeom xmlns:a="http://schemas.openxmlformats.org/drawingml/2006/main" prst="rect">
            <a:avLst/>
          </a:prstGeom>
        </p:spPr>
      </p:pic>
      <p:sp>
        <p:nvSpPr>
          <p:cNvPr id="6" name="Технические данные">
            <a:extLst xmlns:a="http://schemas.openxmlformats.org/drawingml/2006/main">
              <a:ext uri="{FF2B5EF4-FFF2-40B4-BE49-F238E27FC236}">
                <a16:creationId xmlns:a16="http://schemas.microsoft.com/office/drawing/2014/main" id="{1183C36F-F37A-4A12-8090-64316269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Технические данные</a:t>
            </a:r>
          </a:p>
        </p:txBody>
      </p:sp>
      <p:sp>
        <p:nvSpPr>
          <p:cNvPr id="7" name="Модель, серийный номер, место установки и параметры.">
            <a:extLst xmlns:a="http://schemas.openxmlformats.org/drawingml/2006/main">
              <a:ext uri="{FF2B5EF4-FFF2-40B4-BE49-F238E27FC236}">
                <a16:creationId xmlns:a16="http://schemas.microsoft.com/office/drawing/2014/main" id="{14685875-B1F9-4EAA-94B5-A7F38E40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6905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Модель, серийный номер, место установки и параметры.</a:t>
            </a:r>
          </a:p>
        </p:txBody>
      </p:sp>
      <p:sp>
        <p:nvSpPr>
          <p:cNvPr id="8" name="История по объекту">
            <a:extLst xmlns:a="http://schemas.openxmlformats.org/drawingml/2006/main">
              <a:ext uri="{FF2B5EF4-FFF2-40B4-BE49-F238E27FC236}">
                <a16:creationId xmlns:a16="http://schemas.microsoft.com/office/drawing/2014/main" id="{ACFF66AF-03A8-4DBE-A03A-CD94A589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91025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История по объекту</a:t>
            </a:r>
          </a:p>
        </p:txBody>
      </p:sp>
      <p:sp>
        <p:nvSpPr>
          <p:cNvPr id="9" name="Заявки и результаты прошлых работ помогают подготовитьс">
            <a:extLst xmlns:a="http://schemas.openxmlformats.org/drawingml/2006/main">
              <a:ext uri="{FF2B5EF4-FFF2-40B4-BE49-F238E27FC236}">
                <a16:creationId xmlns:a16="http://schemas.microsoft.com/office/drawing/2014/main" id="{1C20DC68-40D6-468C-99FF-91F4CD21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67275"/>
            <a:ext cx="3886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Заявки и результаты прошлых работ помогают подготовиться к выезду.</a:t>
            </a:r>
          </a:p>
        </p:txBody>
      </p:sp>
    </p:spTree>
    <p:extLst>
      <p:ext uri="{BB962C8B-B14F-4D97-AF65-F5344CB8AC3E}">
        <p14:creationId xmlns:p14="http://schemas.microsoft.com/office/powerpoint/2010/main" val="844384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R-код открывает нужный объект">
            <a:extLst xmlns:a="http://schemas.openxmlformats.org/drawingml/2006/main">
              <a:ext uri="{FF2B5EF4-FFF2-40B4-BE49-F238E27FC236}">
                <a16:creationId xmlns:a16="http://schemas.microsoft.com/office/drawing/2014/main" id="{0B7C4D22-AA5E-458D-816A-1C17CE8B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QR-код открывает нужный объект</a:t>
            </a:r>
          </a:p>
        </p:txBody>
      </p:sp>
      <p:sp>
        <p:nvSpPr>
          <p:cNvPr id="2" name="Сотрудник на площадке переходит к паспорту без ручного ">
            <a:extLst xmlns:a="http://schemas.openxmlformats.org/drawingml/2006/main">
              <a:ext uri="{FF2B5EF4-FFF2-40B4-BE49-F238E27FC236}">
                <a16:creationId xmlns:a16="http://schemas.microsoft.com/office/drawing/2014/main" id="{82076CCB-5616-4BD1-95A2-22A11FA0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Сотрудник на площадке переходит к паспорту без ручного поиска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DF4EAA68-89DB-453B-A8FA-8B8D06B8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12E40-E47D-4480-AA8A-0EF3A71BE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f0ebba2284872"/>
          <a:stretch xmlns:a="http://schemas.openxmlformats.org/drawingml/2006/main"/>
        </p:blipFill>
        <p:spPr>
          <a:xfrm xmlns:a="http://schemas.openxmlformats.org/drawingml/2006/main">
            <a:off x="1089061" y="2038350"/>
            <a:ext cx="4222677" cy="3238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93A7-F49B-4ECC-A68B-5674A02C5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ace485ce441a2"/>
          <a:stretch xmlns:a="http://schemas.openxmlformats.org/drawingml/2006/main"/>
        </p:blipFill>
        <p:spPr>
          <a:xfrm xmlns:a="http://schemas.openxmlformats.org/drawingml/2006/main">
            <a:off x="6486719" y="2038350"/>
            <a:ext cx="5009761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Печать маркировки">
            <a:extLst xmlns:a="http://schemas.openxmlformats.org/drawingml/2006/main">
              <a:ext uri="{FF2B5EF4-FFF2-40B4-BE49-F238E27FC236}">
                <a16:creationId xmlns:a16="http://schemas.microsoft.com/office/drawing/2014/main" id="{DD9E4C03-87F0-4735-A96E-46C6CC49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Печать маркировки</a:t>
            </a:r>
          </a:p>
        </p:txBody>
      </p:sp>
      <p:sp>
        <p:nvSpPr>
          <p:cNvPr id="7" name="Этикетки и экспорт в PDF, PNG или SVG.">
            <a:extLst xmlns:a="http://schemas.openxmlformats.org/drawingml/2006/main">
              <a:ext uri="{FF2B5EF4-FFF2-40B4-BE49-F238E27FC236}">
                <a16:creationId xmlns:a16="http://schemas.microsoft.com/office/drawing/2014/main" id="{B7D66079-CBE0-40B3-8DD4-F340B7DE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Этикетки и экспорт в PDF, PNG или SVG.</a:t>
            </a:r>
          </a:p>
        </p:txBody>
      </p:sp>
      <p:sp>
        <p:nvSpPr>
          <p:cNvPr id="8" name="Сканирование в браузере">
            <a:extLst xmlns:a="http://schemas.openxmlformats.org/drawingml/2006/main">
              <a:ext uri="{FF2B5EF4-FFF2-40B4-BE49-F238E27FC236}">
                <a16:creationId xmlns:a16="http://schemas.microsoft.com/office/drawing/2014/main" id="{CBBECABD-5C9A-40BA-A00C-BF134BEA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Сканирование в браузере</a:t>
            </a:r>
          </a:p>
        </p:txBody>
      </p:sp>
      <p:sp>
        <p:nvSpPr>
          <p:cNvPr id="9" name="Камера, изображение с кодом или ручной поиск.">
            <a:extLst xmlns:a="http://schemas.openxmlformats.org/drawingml/2006/main">
              <a:ext uri="{FF2B5EF4-FFF2-40B4-BE49-F238E27FC236}">
                <a16:creationId xmlns:a16="http://schemas.microsoft.com/office/drawing/2014/main" id="{EB64EEB4-CA67-4A1A-BED9-0D8642C3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Камера, изображение с кодом или ручной поиск.</a:t>
            </a:r>
          </a:p>
        </p:txBody>
      </p:sp>
    </p:spTree>
    <p:extLst>
      <p:ext uri="{BB962C8B-B14F-4D97-AF65-F5344CB8AC3E}">
        <p14:creationId xmlns:p14="http://schemas.microsoft.com/office/powerpoint/2010/main" val="558354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егистрация и назначение исполнителя">
            <a:extLst xmlns:a="http://schemas.openxmlformats.org/drawingml/2006/main">
              <a:ext uri="{FF2B5EF4-FFF2-40B4-BE49-F238E27FC236}">
                <a16:creationId xmlns:a16="http://schemas.microsoft.com/office/drawing/2014/main" id="{C90F402C-842D-42C5-B063-4C834351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Регистрация и назначение исполнителя</a:t>
            </a:r>
          </a:p>
        </p:txBody>
      </p:sp>
      <p:sp>
        <p:nvSpPr>
          <p:cNvPr id="2" name="Обращение сразу получает объект, описание и приоритет">
            <a:extLst xmlns:a="http://schemas.openxmlformats.org/drawingml/2006/main">
              <a:ext uri="{FF2B5EF4-FFF2-40B4-BE49-F238E27FC236}">
                <a16:creationId xmlns:a16="http://schemas.microsoft.com/office/drawing/2014/main" id="{59254AB5-D9E0-4A2F-8C9D-24CE501E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Обращение сразу получает объект, описание и приоритет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4390E165-C937-4087-AD36-B2EA519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DCBBD-3751-48CC-9414-974EA47AC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170eec31a419d"/>
          <a:stretch xmlns:a="http://schemas.openxmlformats.org/drawingml/2006/main"/>
        </p:blipFill>
        <p:spPr>
          <a:xfrm xmlns:a="http://schemas.openxmlformats.org/drawingml/2006/main">
            <a:off x="936886" y="2009775"/>
            <a:ext cx="5793852" cy="34956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946E6-894F-4994-8A5C-714608152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4fc8c9df34aaa"/>
          <a:stretch xmlns:a="http://schemas.openxmlformats.org/drawingml/2006/main"/>
        </p:blipFill>
        <p:spPr>
          <a:xfrm xmlns:a="http://schemas.openxmlformats.org/drawingml/2006/main">
            <a:off x="7577526" y="2009775"/>
            <a:ext cx="4066397" cy="3495675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описывает неисправность">
            <a:extLst xmlns:a="http://schemas.openxmlformats.org/drawingml/2006/main">
              <a:ext uri="{FF2B5EF4-FFF2-40B4-BE49-F238E27FC236}">
                <a16:creationId xmlns:a16="http://schemas.microsoft.com/office/drawing/2014/main" id="{231C32CC-9C14-4580-9D87-123C1A3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6600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описывает неисправность</a:t>
            </a:r>
          </a:p>
        </p:txBody>
      </p:sp>
      <p:sp>
        <p:nvSpPr>
          <p:cNvPr id="7" name="Диспетчер назначает инженера">
            <a:extLst xmlns:a="http://schemas.openxmlformats.org/drawingml/2006/main">
              <a:ext uri="{FF2B5EF4-FFF2-40B4-BE49-F238E27FC236}">
                <a16:creationId xmlns:a16="http://schemas.microsoft.com/office/drawing/2014/main" id="{15D72E07-EAE2-4BBA-AA1C-9D3B25A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435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назначает инженера</a:t>
            </a:r>
          </a:p>
        </p:txBody>
      </p:sp>
    </p:spTree>
    <p:extLst>
      <p:ext uri="{BB962C8B-B14F-4D97-AF65-F5344CB8AC3E}">
        <p14:creationId xmlns:p14="http://schemas.microsoft.com/office/powerpoint/2010/main" val="1634496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Канбан показывает общую очередь">
            <a:extLst xmlns:a="http://schemas.openxmlformats.org/drawingml/2006/main">
              <a:ext uri="{FF2B5EF4-FFF2-40B4-BE49-F238E27FC236}">
                <a16:creationId xmlns:a16="http://schemas.microsoft.com/office/drawing/2014/main" id="{87605039-2C68-44D6-AB9C-6977F92A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Канбан показывает общую очередь</a:t>
            </a:r>
          </a:p>
        </p:txBody>
      </p:sp>
      <p:sp>
        <p:nvSpPr>
          <p:cNvPr id="2" name="Статусы, исполнители и приоритеты видны на одной доске">
            <a:extLst xmlns:a="http://schemas.openxmlformats.org/drawingml/2006/main">
              <a:ext uri="{FF2B5EF4-FFF2-40B4-BE49-F238E27FC236}">
                <a16:creationId xmlns:a16="http://schemas.microsoft.com/office/drawing/2014/main" id="{824E4506-F50A-4553-86AB-0B8548DE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Статусы, исполнители и приоритеты видны на одной доске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1BEBE866-EAE4-422B-8801-0CE7B34D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5C8D9-B2CA-470A-9A53-F0E132999D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89d6354d74b7d"/>
          <a:stretch xmlns:a="http://schemas.openxmlformats.org/drawingml/2006/main"/>
        </p:blipFill>
        <p:spPr>
          <a:xfrm xmlns:a="http://schemas.openxmlformats.org/drawingml/2006/main">
            <a:off x="864021" y="1943100"/>
            <a:ext cx="10463957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Фильтры помогают выделить срочные, просроченные и назна">
            <a:extLst xmlns:a="http://schemas.openxmlformats.org/drawingml/2006/main">
              <a:ext uri="{FF2B5EF4-FFF2-40B4-BE49-F238E27FC236}">
                <a16:creationId xmlns:a16="http://schemas.microsoft.com/office/drawing/2014/main" id="{9F4E5E84-4FE9-49C5-94DB-FB6B1824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Фильтры помогают выделить срочные, просроченные и назначенные заявки.</a:t>
            </a:r>
          </a:p>
        </p:txBody>
      </p:sp>
    </p:spTree>
    <p:extLst>
      <p:ext uri="{BB962C8B-B14F-4D97-AF65-F5344CB8AC3E}">
        <p14:creationId xmlns:p14="http://schemas.microsoft.com/office/powerpoint/2010/main" val="1530911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Инженер получает персональный список задач">
            <a:extLst xmlns:a="http://schemas.openxmlformats.org/drawingml/2006/main">
              <a:ext uri="{FF2B5EF4-FFF2-40B4-BE49-F238E27FC236}">
                <a16:creationId xmlns:a16="http://schemas.microsoft.com/office/drawing/2014/main" id="{5E069C17-CF83-4EF2-8ABF-2D3CBB6B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получает персональный список задач</a:t>
            </a:r>
          </a:p>
        </p:txBody>
      </p:sp>
      <p:sp>
        <p:nvSpPr>
          <p:cNvPr id="2" name="Рабочий интерфейс доступен с компьютера и телефона">
            <a:extLst xmlns:a="http://schemas.openxmlformats.org/drawingml/2006/main">
              <a:ext uri="{FF2B5EF4-FFF2-40B4-BE49-F238E27FC236}">
                <a16:creationId xmlns:a16="http://schemas.microsoft.com/office/drawing/2014/main" id="{7C95751E-AB8D-4A2B-A4C6-216A4F60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Рабочий интерфейс доступен с компьютера и телефона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42E7A602-B4BE-410E-93C4-BED6AB8C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0082C-1AC1-4402-8EED-75BE782450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f87e8ad3e4a54"/>
          <a:stretch xmlns:a="http://schemas.openxmlformats.org/drawingml/2006/main"/>
        </p:blipFill>
        <p:spPr>
          <a:xfrm xmlns:a="http://schemas.openxmlformats.org/drawingml/2006/main">
            <a:off x="614939" y="2076450"/>
            <a:ext cx="6837798" cy="31813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B7320-D5FA-4DB9-833C-94B7FCAF3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63d97ad654321"/>
          <a:stretch xmlns:a="http://schemas.openxmlformats.org/drawingml/2006/main"/>
        </p:blipFill>
        <p:spPr>
          <a:xfrm xmlns:a="http://schemas.openxmlformats.org/drawingml/2006/main">
            <a:off x="8884884" y="1885950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6" name="На первом плане текущие задания">
            <a:extLst xmlns:a="http://schemas.openxmlformats.org/drawingml/2006/main">
              <a:ext uri="{FF2B5EF4-FFF2-40B4-BE49-F238E27FC236}">
                <a16:creationId xmlns:a16="http://schemas.microsoft.com/office/drawing/2014/main" id="{8E3D091D-D5CC-4A38-A225-297C627A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723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 первом плане текущие задания</a:t>
            </a:r>
          </a:p>
        </p:txBody>
      </p:sp>
      <p:sp>
        <p:nvSpPr>
          <p:cNvPr id="7" name="Объект, адрес, срок и действие для продолжения работы.">
            <a:extLst xmlns:a="http://schemas.openxmlformats.org/drawingml/2006/main">
              <a:ext uri="{FF2B5EF4-FFF2-40B4-BE49-F238E27FC236}">
                <a16:creationId xmlns:a16="http://schemas.microsoft.com/office/drawing/2014/main" id="{A418823B-AE80-4FCB-9334-7506935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912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Объект, адрес, срок и действие для продолжения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653951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тчёт помогает проверить полноту работ">
            <a:extLst xmlns:a="http://schemas.openxmlformats.org/drawingml/2006/main">
              <a:ext uri="{FF2B5EF4-FFF2-40B4-BE49-F238E27FC236}">
                <a16:creationId xmlns:a16="http://schemas.microsoft.com/office/drawing/2014/main" id="{DA77F2FD-E856-4259-B999-EAF3D0DC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Отчёт помогает проверить полноту работ</a:t>
            </a:r>
          </a:p>
        </p:txBody>
      </p:sp>
      <p:sp>
        <p:nvSpPr>
          <p:cNvPr id="2" name="Диагностика и чек-лист фиксируют результат в едином фор">
            <a:extLst xmlns:a="http://schemas.openxmlformats.org/drawingml/2006/main">
              <a:ext uri="{FF2B5EF4-FFF2-40B4-BE49-F238E27FC236}">
                <a16:creationId xmlns:a16="http://schemas.microsoft.com/office/drawing/2014/main" id="{B45A82D8-DCCF-4989-B96D-919A9497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Диагностика и чек-лист фиксируют результат в едином формате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0AB806F7-0101-4E33-82D8-8D25EE8A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7DC28-B41D-4D7A-80C3-6FD8A8528E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0a76593e84603"/>
          <a:stretch xmlns:a="http://schemas.openxmlformats.org/drawingml/2006/main"/>
        </p:blipFill>
        <p:spPr>
          <a:xfrm xmlns:a="http://schemas.openxmlformats.org/drawingml/2006/main">
            <a:off x="533400" y="2104284"/>
            <a:ext cx="6858000" cy="3039958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9D4B1-4635-44A8-8080-3E6219AD9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e54f5fe704c97"/>
          <a:stretch xmlns:a="http://schemas.openxmlformats.org/drawingml/2006/main"/>
        </p:blipFill>
        <p:spPr>
          <a:xfrm xmlns:a="http://schemas.openxmlformats.org/drawingml/2006/main">
            <a:off x="7829550" y="2087483"/>
            <a:ext cx="3829050" cy="3521234"/>
          </a:xfrm>
          <a:prstGeom xmlns:a="http://schemas.openxmlformats.org/drawingml/2006/main" prst="rect">
            <a:avLst/>
          </a:prstGeom>
        </p:spPr>
      </p:pic>
      <p:sp>
        <p:nvSpPr>
          <p:cNvPr id="6" name="Последовательное заполнение">
            <a:extLst xmlns:a="http://schemas.openxmlformats.org/drawingml/2006/main">
              <a:ext uri="{FF2B5EF4-FFF2-40B4-BE49-F238E27FC236}">
                <a16:creationId xmlns:a16="http://schemas.microsoft.com/office/drawing/2014/main" id="{23E932F5-4C67-4606-80BC-88F5E65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Последовательное заполнение</a:t>
            </a:r>
          </a:p>
        </p:txBody>
      </p:sp>
      <p:sp>
        <p:nvSpPr>
          <p:cNvPr id="7" name="Диагностика, работы, материалы, фото и итоговая проверк">
            <a:extLst xmlns:a="http://schemas.openxmlformats.org/drawingml/2006/main">
              <a:ext uri="{FF2B5EF4-FFF2-40B4-BE49-F238E27FC236}">
                <a16:creationId xmlns:a16="http://schemas.microsoft.com/office/drawing/2014/main" id="{EF268B41-8E8A-4143-B98D-03553B5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Диагностика, работы, материалы, фото и итоговая проверка.</a:t>
            </a:r>
          </a:p>
        </p:txBody>
      </p:sp>
      <p:sp>
        <p:nvSpPr>
          <p:cNvPr id="8" name="Обязательные пункты">
            <a:extLst xmlns:a="http://schemas.openxmlformats.org/drawingml/2006/main">
              <a:ext uri="{FF2B5EF4-FFF2-40B4-BE49-F238E27FC236}">
                <a16:creationId xmlns:a16="http://schemas.microsoft.com/office/drawing/2014/main" id="{20430DAE-68CD-4B2A-A488-5F1BDDB8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5787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Обязательные пункты</a:t>
            </a:r>
          </a:p>
        </p:txBody>
      </p:sp>
    </p:spTree>
    <p:extLst>
      <p:ext uri="{BB962C8B-B14F-4D97-AF65-F5344CB8AC3E}">
        <p14:creationId xmlns:p14="http://schemas.microsoft.com/office/powerpoint/2010/main" val="20569816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роки и задержки доступны для контроля">
            <a:extLst xmlns:a="http://schemas.openxmlformats.org/drawingml/2006/main">
              <a:ext uri="{FF2B5EF4-FFF2-40B4-BE49-F238E27FC236}">
                <a16:creationId xmlns:a16="http://schemas.microsoft.com/office/drawing/2014/main" id="{97EE8817-19CA-4D7E-964D-A506C729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Сроки и задержки доступны для контроля</a:t>
            </a:r>
          </a:p>
        </p:txBody>
      </p:sp>
      <p:sp>
        <p:nvSpPr>
          <p:cNvPr id="2" name="Шкала SLA дополняет канбан и календарь работ">
            <a:extLst xmlns:a="http://schemas.openxmlformats.org/drawingml/2006/main">
              <a:ext uri="{FF2B5EF4-FFF2-40B4-BE49-F238E27FC236}">
                <a16:creationId xmlns:a16="http://schemas.microsoft.com/office/drawing/2014/main" id="{51167B03-19B1-460D-A9BF-C8F4883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Шкала SLA дополняет канбан и календарь работ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66B9C694-4770-4250-A2F1-B43A221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7403A-74A1-4492-AE4A-2A804E019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9ad43720c4983"/>
          <a:stretch xmlns:a="http://schemas.openxmlformats.org/drawingml/2006/main"/>
        </p:blipFill>
        <p:spPr>
          <a:xfrm xmlns:a="http://schemas.openxmlformats.org/drawingml/2006/main">
            <a:off x="1074986" y="2038350"/>
            <a:ext cx="6917829" cy="3629025"/>
          </a:xfrm>
          <a:prstGeom xmlns:a="http://schemas.openxmlformats.org/drawingml/2006/main" prst="rect">
            <a:avLst/>
          </a:prstGeom>
        </p:spPr>
      </p:pic>
      <p:sp>
        <p:nvSpPr>
          <p:cNvPr id="5" name="Контроль сроков">
            <a:extLst xmlns:a="http://schemas.openxmlformats.org/drawingml/2006/main">
              <a:ext uri="{FF2B5EF4-FFF2-40B4-BE49-F238E27FC236}">
                <a16:creationId xmlns:a16="http://schemas.microsoft.com/office/drawing/2014/main" id="{89C3CAD0-6556-45FC-9890-288A84AD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 сроков</a:t>
            </a:r>
          </a:p>
        </p:txBody>
      </p:sp>
      <p:sp>
        <p:nvSpPr>
          <p:cNvPr id="6" name="Срок реакции и срок выполнения по приоритету.">
            <a:extLst xmlns:a="http://schemas.openxmlformats.org/drawingml/2006/main">
              <a:ext uri="{FF2B5EF4-FFF2-40B4-BE49-F238E27FC236}">
                <a16:creationId xmlns:a16="http://schemas.microsoft.com/office/drawing/2014/main" id="{4453B630-51E6-4AD5-8115-FEA38E7B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Срок реакции и срок выполнения по приоритету.</a:t>
            </a:r>
          </a:p>
        </p:txBody>
      </p:sp>
      <p:sp>
        <p:nvSpPr>
          <p:cNvPr id="7" name="Понятная пауза">
            <a:extLst xmlns:a="http://schemas.openxmlformats.org/drawingml/2006/main">
              <a:ext uri="{FF2B5EF4-FFF2-40B4-BE49-F238E27FC236}">
                <a16:creationId xmlns:a16="http://schemas.microsoft.com/office/drawing/2014/main" id="{D71FF155-7623-44DF-BB2E-56A667F1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Понятная пауза</a:t>
            </a:r>
          </a:p>
        </p:txBody>
      </p:sp>
      <p:sp>
        <p:nvSpPr>
          <p:cNvPr id="8" name="Причина, следующее действие и срок возобновления.">
            <a:extLst xmlns:a="http://schemas.openxmlformats.org/drawingml/2006/main">
              <a:ext uri="{FF2B5EF4-FFF2-40B4-BE49-F238E27FC236}">
                <a16:creationId xmlns:a16="http://schemas.microsoft.com/office/drawing/2014/main" id="{C5DB53BB-C072-4434-B31F-23AA9515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Причина, следующее действие и срок возобновления.</a:t>
            </a:r>
          </a:p>
        </p:txBody>
      </p:sp>
      <p:sp>
        <p:nvSpPr>
          <p:cNvPr id="9" name="Просроченные обращения помогают определить, где требует">
            <a:extLst xmlns:a="http://schemas.openxmlformats.org/drawingml/2006/main">
              <a:ext uri="{FF2B5EF4-FFF2-40B4-BE49-F238E27FC236}">
                <a16:creationId xmlns:a16="http://schemas.microsoft.com/office/drawing/2014/main" id="{908DF40B-4C51-4ED2-B508-37A8BAF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Просроченные обращения помогают определить, где требуется вмешательство.</a:t>
            </a:r>
          </a:p>
        </p:txBody>
      </p:sp>
    </p:spTree>
    <p:extLst>
      <p:ext uri="{BB962C8B-B14F-4D97-AF65-F5344CB8AC3E}">
        <p14:creationId xmlns:p14="http://schemas.microsoft.com/office/powerpoint/2010/main" val="11187555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езультат подтверждает клиент">
            <a:extLst xmlns:a="http://schemas.openxmlformats.org/drawingml/2006/main">
              <a:ext uri="{FF2B5EF4-FFF2-40B4-BE49-F238E27FC236}">
                <a16:creationId xmlns:a16="http://schemas.microsoft.com/office/drawing/2014/main" id="{E1EC0924-B1A7-4BE8-BAA3-B057A132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подтверждает клиент</a:t>
            </a:r>
          </a:p>
        </p:txBody>
      </p:sp>
      <p:sp>
        <p:nvSpPr>
          <p:cNvPr id="2" name="Система формирует акт по отчёту и сохраняет историю вер">
            <a:extLst xmlns:a="http://schemas.openxmlformats.org/drawingml/2006/main">
              <a:ext uri="{FF2B5EF4-FFF2-40B4-BE49-F238E27FC236}">
                <a16:creationId xmlns:a16="http://schemas.microsoft.com/office/drawing/2014/main" id="{34C4986A-E997-4D29-A216-2F69AB63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Система формирует акт по отчёту и сохраняет историю версий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CD44C9F3-8077-4819-8875-153342D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F073D-C1C9-4E59-8CE0-740EE438D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a2c1537ff4207"/>
          <a:stretch xmlns:a="http://schemas.openxmlformats.org/drawingml/2006/main"/>
        </p:blipFill>
        <p:spPr>
          <a:xfrm xmlns:a="http://schemas.openxmlformats.org/drawingml/2006/main">
            <a:off x="753658" y="2038350"/>
            <a:ext cx="6484159" cy="35814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92C12-175C-4F54-80F2-9C5B6A32B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f908764c84657"/>
          <a:stretch xmlns:a="http://schemas.openxmlformats.org/drawingml/2006/main"/>
        </p:blipFill>
        <p:spPr>
          <a:xfrm xmlns:a="http://schemas.openxmlformats.org/drawingml/2006/main">
            <a:off x="7934325" y="2423042"/>
            <a:ext cx="3724275" cy="2812016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принимает работу или возвращает её на доработку ">
            <a:extLst xmlns:a="http://schemas.openxmlformats.org/drawingml/2006/main">
              <a:ext uri="{FF2B5EF4-FFF2-40B4-BE49-F238E27FC236}">
                <a16:creationId xmlns:a16="http://schemas.microsoft.com/office/drawing/2014/main" id="{0B131297-ABDE-48D4-B711-B3562585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принимает работу или возвращает её на доработку с замечаниями.</a:t>
            </a:r>
          </a:p>
        </p:txBody>
      </p:sp>
    </p:spTree>
    <p:extLst>
      <p:ext uri="{BB962C8B-B14F-4D97-AF65-F5344CB8AC3E}">
        <p14:creationId xmlns:p14="http://schemas.microsoft.com/office/powerpoint/2010/main" val="1637284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лановое обслуживание создаёт будущие работы">
            <a:extLst xmlns:a="http://schemas.openxmlformats.org/drawingml/2006/main">
              <a:ext uri="{FF2B5EF4-FFF2-40B4-BE49-F238E27FC236}">
                <a16:creationId xmlns:a16="http://schemas.microsoft.com/office/drawing/2014/main" id="{532F033A-500A-4372-AEAF-73FAD429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Плановое обслуживание создаёт будущие работы</a:t>
            </a:r>
          </a:p>
        </p:txBody>
      </p:sp>
      <p:sp>
        <p:nvSpPr>
          <p:cNvPr id="2" name="Периодические планы связаны с оборудованием">
            <a:extLst xmlns:a="http://schemas.openxmlformats.org/drawingml/2006/main">
              <a:ext uri="{FF2B5EF4-FFF2-40B4-BE49-F238E27FC236}">
                <a16:creationId xmlns:a16="http://schemas.microsoft.com/office/drawing/2014/main" id="{05390BA3-CFEF-4588-9E8E-9318AD75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Периодические планы связаны с оборудованием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E943AC6E-A203-42A3-9793-27894893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2D8CF-90BC-40EF-BFA8-0BA9A1D64F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4f98e4b594b05"/>
          <a:stretch xmlns:a="http://schemas.openxmlformats.org/drawingml/2006/main"/>
        </p:blipFill>
        <p:spPr>
          <a:xfrm xmlns:a="http://schemas.openxmlformats.org/drawingml/2006/main">
            <a:off x="1081440" y="2114550"/>
            <a:ext cx="10029121" cy="2505075"/>
          </a:xfrm>
          <a:prstGeom xmlns:a="http://schemas.openxmlformats.org/drawingml/2006/main" prst="rect">
            <a:avLst/>
          </a:prstGeom>
        </p:spPr>
      </p:pic>
      <p:sp>
        <p:nvSpPr>
          <p:cNvPr id="5" name="Периодичность">
            <a:extLst xmlns:a="http://schemas.openxmlformats.org/drawingml/2006/main">
              <a:ext uri="{FF2B5EF4-FFF2-40B4-BE49-F238E27FC236}">
                <a16:creationId xmlns:a16="http://schemas.microsoft.com/office/drawing/2014/main" id="{2B56B0A3-C87F-4FC0-8B9E-469F6185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Периодичность</a:t>
            </a:r>
          </a:p>
        </p:txBody>
      </p:sp>
      <p:sp>
        <p:nvSpPr>
          <p:cNvPr id="6" name="Интервал и дата следующего обслуживания.">
            <a:extLst xmlns:a="http://schemas.openxmlformats.org/drawingml/2006/main">
              <a:ext uri="{FF2B5EF4-FFF2-40B4-BE49-F238E27FC236}">
                <a16:creationId xmlns:a16="http://schemas.microsoft.com/office/drawing/2014/main" id="{3E870687-488C-4C0E-8853-00616CF0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Интервал и дата следующего обслуживания.</a:t>
            </a:r>
          </a:p>
        </p:txBody>
      </p:sp>
      <p:sp>
        <p:nvSpPr>
          <p:cNvPr id="7" name="Подготовка заранее">
            <a:extLst xmlns:a="http://schemas.openxmlformats.org/drawingml/2006/main">
              <a:ext uri="{FF2B5EF4-FFF2-40B4-BE49-F238E27FC236}">
                <a16:creationId xmlns:a16="http://schemas.microsoft.com/office/drawing/2014/main" id="{636C5EBA-9A99-41E7-8D24-61371A1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Подготовка заранее</a:t>
            </a:r>
          </a:p>
        </p:txBody>
      </p:sp>
      <p:sp>
        <p:nvSpPr>
          <p:cNvPr id="8" name="Плановая заявка появляется до срока выполнения.">
            <a:extLst xmlns:a="http://schemas.openxmlformats.org/drawingml/2006/main">
              <a:ext uri="{FF2B5EF4-FFF2-40B4-BE49-F238E27FC236}">
                <a16:creationId xmlns:a16="http://schemas.microsoft.com/office/drawing/2014/main" id="{01F02020-B91B-44BD-84D6-0435D7E0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Плановая заявка появляется до срока выполнения.</a:t>
            </a:r>
          </a:p>
        </p:txBody>
      </p:sp>
      <p:sp>
        <p:nvSpPr>
          <p:cNvPr id="9" name="Общая очередь">
            <a:extLst xmlns:a="http://schemas.openxmlformats.org/drawingml/2006/main">
              <a:ext uri="{FF2B5EF4-FFF2-40B4-BE49-F238E27FC236}">
                <a16:creationId xmlns:a16="http://schemas.microsoft.com/office/drawing/2014/main" id="{7BBCD033-9F5D-4F5B-BEB5-CECD6C40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Общая очередь</a:t>
            </a:r>
          </a:p>
        </p:txBody>
      </p:sp>
      <p:sp>
        <p:nvSpPr>
          <p:cNvPr id="10" name="Плановые работы проходят обычный сервисный процесс.">
            <a:extLst xmlns:a="http://schemas.openxmlformats.org/drawingml/2006/main">
              <a:ext uri="{FF2B5EF4-FFF2-40B4-BE49-F238E27FC236}">
                <a16:creationId xmlns:a16="http://schemas.microsoft.com/office/drawing/2014/main" id="{0CB6E9C9-CD2A-4821-99CC-C8E5E8E7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34025"/>
            <a:ext cx="350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Плановые работы проходят обычный сервисный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2039445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рта помогает ориентироваться по площадкам">
            <a:extLst xmlns:a="http://schemas.openxmlformats.org/drawingml/2006/main">
              <a:ext uri="{FF2B5EF4-FFF2-40B4-BE49-F238E27FC236}">
                <a16:creationId xmlns:a16="http://schemas.microsoft.com/office/drawing/2014/main" id="{483CBBFE-922F-411B-970F-A102728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Карта помогает ориентироваться по площадкам</a:t>
            </a:r>
          </a:p>
        </p:txBody>
      </p:sp>
      <p:sp>
        <p:nvSpPr>
          <p:cNvPr id="2" name="Оборудование и сервисные сигналы отображаются по местоп">
            <a:extLst xmlns:a="http://schemas.openxmlformats.org/drawingml/2006/main">
              <a:ext uri="{FF2B5EF4-FFF2-40B4-BE49-F238E27FC236}">
                <a16:creationId xmlns:a16="http://schemas.microsoft.com/office/drawing/2014/main" id="{38482762-93C5-4AD2-9F94-83322E1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Оборудование и сервисные сигналы отображаются по местоположению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42E6C0C6-1485-4655-81E6-73143D8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48570-CE41-4476-A455-7FDEE37D8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03f12fc2248ce"/>
          <a:stretch xmlns:a="http://schemas.openxmlformats.org/drawingml/2006/main"/>
        </p:blipFill>
        <p:spPr>
          <a:xfrm xmlns:a="http://schemas.openxmlformats.org/drawingml/2006/main">
            <a:off x="1674049" y="2019300"/>
            <a:ext cx="6129277" cy="3800475"/>
          </a:xfrm>
          <a:prstGeom xmlns:a="http://schemas.openxmlformats.org/drawingml/2006/main" prst="rect">
            <a:avLst/>
          </a:prstGeom>
        </p:spPr>
      </p:pic>
      <p:sp>
        <p:nvSpPr>
          <p:cNvPr id="5" name="Объекты на карте">
            <a:extLst xmlns:a="http://schemas.openxmlformats.org/drawingml/2006/main">
              <a:ext uri="{FF2B5EF4-FFF2-40B4-BE49-F238E27FC236}">
                <a16:creationId xmlns:a16="http://schemas.microsoft.com/office/drawing/2014/main" id="{628B1EE3-DA3A-4446-B03E-75921236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383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Объекты на карте</a:t>
            </a:r>
          </a:p>
        </p:txBody>
      </p:sp>
      <p:sp>
        <p:nvSpPr>
          <p:cNvPr id="6" name="Переход к оборудованию и связанным заявкам.">
            <a:extLst xmlns:a="http://schemas.openxmlformats.org/drawingml/2006/main">
              <a:ext uri="{FF2B5EF4-FFF2-40B4-BE49-F238E27FC236}">
                <a16:creationId xmlns:a16="http://schemas.microsoft.com/office/drawing/2014/main" id="{6A036595-9D51-4B7A-AF28-63B0330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24150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Переход к оборудованию и связанным заявкам.</a:t>
            </a:r>
          </a:p>
        </p:txBody>
      </p:sp>
      <p:sp>
        <p:nvSpPr>
          <p:cNvPr id="7" name="Фильтры сигналов">
            <a:extLst xmlns:a="http://schemas.openxmlformats.org/drawingml/2006/main">
              <a:ext uri="{FF2B5EF4-FFF2-40B4-BE49-F238E27FC236}">
                <a16:creationId xmlns:a16="http://schemas.microsoft.com/office/drawing/2014/main" id="{74AA92B1-8D52-4C24-8E10-CCB3DD00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Фильтры сигналов</a:t>
            </a:r>
          </a:p>
        </p:txBody>
      </p:sp>
      <p:sp>
        <p:nvSpPr>
          <p:cNvPr id="8" name="Авария, вызов, плановые работы и нормальное состояние.">
            <a:extLst xmlns:a="http://schemas.openxmlformats.org/drawingml/2006/main">
              <a:ext uri="{FF2B5EF4-FFF2-40B4-BE49-F238E27FC236}">
                <a16:creationId xmlns:a16="http://schemas.microsoft.com/office/drawing/2014/main" id="{6061B823-BAFF-4FAE-956C-A3BF20FB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Авария, вызов, плановые работы и нормальное состояние.</a:t>
            </a:r>
          </a:p>
        </p:txBody>
      </p:sp>
      <p:sp>
        <p:nvSpPr>
          <p:cNvPr id="9" name="Польза для выездного сервиса: объект и контекст доступн">
            <a:extLst xmlns:a="http://schemas.openxmlformats.org/drawingml/2006/main">
              <a:ext uri="{FF2B5EF4-FFF2-40B4-BE49-F238E27FC236}">
                <a16:creationId xmlns:a16="http://schemas.microsoft.com/office/drawing/2014/main" id="{25E64E80-E555-409C-A0F8-CB771105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выездного сервиса: объект и контекст доступны перед поездкой.</a:t>
            </a:r>
          </a:p>
        </p:txBody>
      </p:sp>
    </p:spTree>
    <p:extLst>
      <p:ext uri="{BB962C8B-B14F-4D97-AF65-F5344CB8AC3E}">
        <p14:creationId xmlns:p14="http://schemas.microsoft.com/office/powerpoint/2010/main" val="12692297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Руководитель видит состояние сервиса">
            <a:extLst xmlns:a="http://schemas.openxmlformats.org/drawingml/2006/main">
              <a:ext uri="{FF2B5EF4-FFF2-40B4-BE49-F238E27FC236}">
                <a16:creationId xmlns:a16="http://schemas.microsoft.com/office/drawing/2014/main" id="{7A6C53FB-6233-4FF7-912A-44DBD63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Руководитель видит состояние сервиса</a:t>
            </a:r>
          </a:p>
        </p:txBody>
      </p:sp>
      <p:sp>
        <p:nvSpPr>
          <p:cNvPr id="2" name="Дашборд объединяет очередь, сроки и результаты обслужив">
            <a:extLst xmlns:a="http://schemas.openxmlformats.org/drawingml/2006/main">
              <a:ext uri="{FF2B5EF4-FFF2-40B4-BE49-F238E27FC236}">
                <a16:creationId xmlns:a16="http://schemas.microsoft.com/office/drawing/2014/main" id="{04BE76E3-ACD3-416B-82B7-9EEE087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Дашборд объединяет очередь, сроки и результаты обслуживания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E6C2C8D4-BE87-4E70-855F-AB0BA1DA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CDD48-A012-445D-B2F0-62EF0F765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394719d7543a6"/>
          <a:stretch xmlns:a="http://schemas.openxmlformats.org/drawingml/2006/main"/>
        </p:blipFill>
        <p:spPr>
          <a:xfrm xmlns:a="http://schemas.openxmlformats.org/drawingml/2006/main">
            <a:off x="538217" y="2000250"/>
            <a:ext cx="8086617" cy="3762375"/>
          </a:xfrm>
          <a:prstGeom xmlns:a="http://schemas.openxmlformats.org/drawingml/2006/main" prst="rect">
            <a:avLst/>
          </a:prstGeom>
        </p:spPr>
      </p:pic>
      <p:sp>
        <p:nvSpPr>
          <p:cNvPr id="5" name="Текущая ситуация">
            <a:extLst xmlns:a="http://schemas.openxmlformats.org/drawingml/2006/main">
              <a:ext uri="{FF2B5EF4-FFF2-40B4-BE49-F238E27FC236}">
                <a16:creationId xmlns:a16="http://schemas.microsoft.com/office/drawing/2014/main" id="{85650C55-A129-41F8-B2CA-BFB1C498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Текущая ситуация</a:t>
            </a:r>
          </a:p>
        </p:txBody>
      </p:sp>
      <p:sp>
        <p:nvSpPr>
          <p:cNvPr id="6" name="Активные заявки, просрочки и загрузка инженеров.">
            <a:extLst xmlns:a="http://schemas.openxmlformats.org/drawingml/2006/main">
              <a:ext uri="{FF2B5EF4-FFF2-40B4-BE49-F238E27FC236}">
                <a16:creationId xmlns:a16="http://schemas.microsoft.com/office/drawing/2014/main" id="{F8435200-6BD8-4639-8045-1D43FF9B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574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Активные заявки, просрочки и загрузка инженеров.</a:t>
            </a:r>
          </a:p>
        </p:txBody>
      </p:sp>
      <p:sp>
        <p:nvSpPr>
          <p:cNvPr id="7" name="Результат работы">
            <a:extLst xmlns:a="http://schemas.openxmlformats.org/drawingml/2006/main">
              <a:ext uri="{FF2B5EF4-FFF2-40B4-BE49-F238E27FC236}">
                <a16:creationId xmlns:a16="http://schemas.microsoft.com/office/drawing/2014/main" id="{18A725C7-571B-4E67-8F8A-AB76743B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работы</a:t>
            </a:r>
          </a:p>
        </p:txBody>
      </p:sp>
      <p:sp>
        <p:nvSpPr>
          <p:cNvPr id="8" name="Время реакции, выполнение в срок и повторные обращения.">
            <a:extLst xmlns:a="http://schemas.openxmlformats.org/drawingml/2006/main">
              <a:ext uri="{FF2B5EF4-FFF2-40B4-BE49-F238E27FC236}">
                <a16:creationId xmlns:a16="http://schemas.microsoft.com/office/drawing/2014/main" id="{9EEA0F69-E03C-4A81-A543-D6B9A518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Время реакции, выполнение в срок и повторные обращения.</a:t>
            </a:r>
          </a:p>
        </p:txBody>
      </p:sp>
      <p:sp>
        <p:nvSpPr>
          <p:cNvPr id="9" name="На экране демонстрационные данные, а не показатели внед">
            <a:extLst xmlns:a="http://schemas.openxmlformats.org/drawingml/2006/main">
              <a:ext uri="{FF2B5EF4-FFF2-40B4-BE49-F238E27FC236}">
                <a16:creationId xmlns:a16="http://schemas.microsoft.com/office/drawing/2014/main" id="{C4F9A02B-5A5F-4569-A16F-A7B836BA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На экране демонстрационные данные, а не показатели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18959232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Администрирование и разграничение доступа">
            <a:extLst xmlns:a="http://schemas.openxmlformats.org/drawingml/2006/main">
              <a:ext uri="{FF2B5EF4-FFF2-40B4-BE49-F238E27FC236}">
                <a16:creationId xmlns:a16="http://schemas.microsoft.com/office/drawing/2014/main" id="{A4119C08-02C8-4851-9CC7-8B402D6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Администрирование и разграничение доступа</a:t>
            </a:r>
          </a:p>
        </p:txBody>
      </p:sp>
      <p:sp>
        <p:nvSpPr>
          <p:cNvPr id="2" name="Пользователи, организации и правила сервиса настраивают">
            <a:extLst xmlns:a="http://schemas.openxmlformats.org/drawingml/2006/main">
              <a:ext uri="{FF2B5EF4-FFF2-40B4-BE49-F238E27FC236}">
                <a16:creationId xmlns:a16="http://schemas.microsoft.com/office/drawing/2014/main" id="{5266BCFF-227E-47FE-98AF-DA5837E5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Пользователи, организации и правила сервиса настраиваются централизованно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CE4E888D-E81D-4804-8AF8-5D60B90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16F57-AB23-49C4-B5BE-419622C2E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de4de4b6d4c36"/>
          <a:stretch xmlns:a="http://schemas.openxmlformats.org/drawingml/2006/main"/>
        </p:blipFill>
        <p:spPr>
          <a:xfrm xmlns:a="http://schemas.openxmlformats.org/drawingml/2006/main">
            <a:off x="1136350" y="2066925"/>
            <a:ext cx="6718900" cy="3533775"/>
          </a:xfrm>
          <a:prstGeom xmlns:a="http://schemas.openxmlformats.org/drawingml/2006/main" prst="rect">
            <a:avLst/>
          </a:prstGeom>
        </p:spPr>
      </p:pic>
      <p:sp>
        <p:nvSpPr>
          <p:cNvPr id="5" name="Доступ по роли">
            <a:extLst xmlns:a="http://schemas.openxmlformats.org/drawingml/2006/main">
              <a:ext uri="{FF2B5EF4-FFF2-40B4-BE49-F238E27FC236}">
                <a16:creationId xmlns:a16="http://schemas.microsoft.com/office/drawing/2014/main" id="{3F4B18C8-F8CF-4162-ACCF-47ADD5BD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Доступ по роли</a:t>
            </a:r>
          </a:p>
        </p:txBody>
      </p:sp>
      <p:sp>
        <p:nvSpPr>
          <p:cNvPr id="6" name="Организация и назначение определяют доступные данные.">
            <a:extLst xmlns:a="http://schemas.openxmlformats.org/drawingml/2006/main">
              <a:ext uri="{FF2B5EF4-FFF2-40B4-BE49-F238E27FC236}">
                <a16:creationId xmlns:a16="http://schemas.microsoft.com/office/drawing/2014/main" id="{1AA3B958-EEDA-4289-A7C9-60CABBC3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Организация и назначение определяют доступные данные.</a:t>
            </a:r>
          </a:p>
        </p:txBody>
      </p:sp>
      <p:sp>
        <p:nvSpPr>
          <p:cNvPr id="7" name="Настройки сервиса">
            <a:extLst xmlns:a="http://schemas.openxmlformats.org/drawingml/2006/main">
              <a:ext uri="{FF2B5EF4-FFF2-40B4-BE49-F238E27FC236}">
                <a16:creationId xmlns:a16="http://schemas.microsoft.com/office/drawing/2014/main" id="{990FFEEA-D2FF-446A-BB02-17C72C8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Настройки сервиса</a:t>
            </a:r>
          </a:p>
        </p:txBody>
      </p:sp>
      <p:sp>
        <p:nvSpPr>
          <p:cNvPr id="8" name="Пользователи, чек-листы, нормативы SLA и журнал аудита.">
            <a:extLst xmlns:a="http://schemas.openxmlformats.org/drawingml/2006/main">
              <a:ext uri="{FF2B5EF4-FFF2-40B4-BE49-F238E27FC236}">
                <a16:creationId xmlns:a16="http://schemas.microsoft.com/office/drawing/2014/main" id="{93507553-B748-461E-B16C-A61D19C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Пользователи, чек-листы, нормативы SLA и журнал аудита.</a:t>
            </a:r>
          </a:p>
        </p:txBody>
      </p:sp>
      <p:sp>
        <p:nvSpPr>
          <p:cNvPr id="9" name="Веб-приложение: React, FastAPI, PostgreSQL. Развёртыван">
            <a:extLst xmlns:a="http://schemas.openxmlformats.org/drawingml/2006/main">
              <a:ext uri="{FF2B5EF4-FFF2-40B4-BE49-F238E27FC236}">
                <a16:creationId xmlns:a16="http://schemas.microsoft.com/office/drawing/2014/main" id="{3A567B4B-9377-45FE-A617-605C99C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Веб-приложение: React, FastAPI, PostgreSQL. Развёртывание через Docker Compose.</a:t>
            </a:r>
          </a:p>
        </p:txBody>
      </p:sp>
    </p:spTree>
    <p:extLst>
      <p:ext uri="{BB962C8B-B14F-4D97-AF65-F5344CB8AC3E}">
        <p14:creationId xmlns:p14="http://schemas.microsoft.com/office/powerpoint/2010/main" val="13820203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актическая польза для предприятия">
            <a:extLst xmlns:a="http://schemas.openxmlformats.org/drawingml/2006/main">
              <a:ext uri="{FF2B5EF4-FFF2-40B4-BE49-F238E27FC236}">
                <a16:creationId xmlns:a16="http://schemas.microsoft.com/office/drawing/2014/main" id="{8A77482A-3B44-41DF-A6BE-015FD906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Практическая польза для предприятия</a:t>
            </a:r>
          </a:p>
        </p:txBody>
      </p:sp>
      <p:sp>
        <p:nvSpPr>
          <p:cNvPr id="2" name="Приложение связывает ежедневную работу с проверяемым ре">
            <a:extLst xmlns:a="http://schemas.openxmlformats.org/drawingml/2006/main">
              <a:ext uri="{FF2B5EF4-FFF2-40B4-BE49-F238E27FC236}">
                <a16:creationId xmlns:a16="http://schemas.microsoft.com/office/drawing/2014/main" id="{AAD3F535-29B3-4484-AB73-2A0CC59A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Приложение связывает ежедневную работу с проверяемым результатом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D84DB9A7-B91F-44CE-9BB8-8F3BD832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AE18A-D0E0-48D6-AA92-8FB154EF1E06}"/>
              </a:ext>
            </a:extLst>
          </p:cNvPr>
          <p:cNvGraphicFramePr/>
          <p:nvPr/>
        </p:nvGraphicFramePr>
        <p:xfrm>
          <a:off xmlns:a="http://schemas.openxmlformats.org/drawingml/2006/main" x="533400" y="2000250"/>
          <a:ext xmlns:a="http://schemas.openxmlformats.org/drawingml/2006/main" cx="111252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029450"/>
              </a:tblGrid>
              <a:tr h="6838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 предприятия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даёт Alageum Service Hub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Обслуживать парк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Паспорта и история доступны по объекту и QR-коду.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Распределять обращения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Общая очередь, приоритет и назначенный инженер.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Контролировать выполнение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Сроки, причины пауз, отчёт и подтверждение клиента.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Готовить решения руководителя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Показатели сервиса связаны с конкретными заявками.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Для развития: интеграция с ERP/1С, складской учёт и эле">
            <a:extLst xmlns:a="http://schemas.openxmlformats.org/drawingml/2006/main">
              <a:ext uri="{FF2B5EF4-FFF2-40B4-BE49-F238E27FC236}">
                <a16:creationId xmlns:a16="http://schemas.microsoft.com/office/drawing/2014/main" id="{F2577B2B-3C59-4686-91B6-C2EFC34E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Для развития: интеграция с ERP/1С, складской учёт и электронная подпись.</a:t>
            </a:r>
          </a:p>
        </p:txBody>
      </p:sp>
    </p:spTree>
    <p:extLst>
      <p:ext uri="{BB962C8B-B14F-4D97-AF65-F5344CB8AC3E}">
        <p14:creationId xmlns:p14="http://schemas.microsoft.com/office/powerpoint/2010/main" val="10318180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едложение: пилот на одном процессе">
            <a:extLst xmlns:a="http://schemas.openxmlformats.org/drawingml/2006/main">
              <a:ext uri="{FF2B5EF4-FFF2-40B4-BE49-F238E27FC236}">
                <a16:creationId xmlns:a16="http://schemas.microsoft.com/office/drawing/2014/main" id="{4531D388-DEDD-46FC-80EA-5863812B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Предложение: пилот на одном процессе</a:t>
            </a:r>
          </a:p>
        </p:txBody>
      </p:sp>
      <p:sp>
        <p:nvSpPr>
          <p:cNvPr id="2" name="Небольшой масштаб позволит проверить пользу на реальной">
            <a:extLst xmlns:a="http://schemas.openxmlformats.org/drawingml/2006/main">
              <a:ext uri="{FF2B5EF4-FFF2-40B4-BE49-F238E27FC236}">
                <a16:creationId xmlns:a16="http://schemas.microsoft.com/office/drawing/2014/main" id="{197AA385-9941-4F02-ABDA-9E5F09A0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Небольшой масштаб позволит проверить пользу на реальной работе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F3796FDC-F1DC-4AD2-A99B-0271BB31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2–4 недели">
            <a:extLst xmlns:a="http://schemas.openxmlformats.org/drawingml/2006/main">
              <a:ext uri="{FF2B5EF4-FFF2-40B4-BE49-F238E27FC236}">
                <a16:creationId xmlns:a16="http://schemas.microsoft.com/office/drawing/2014/main" id="{68B19302-5F5E-41AB-9062-6ABF898E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2–4 недели</a:t>
            </a:r>
          </a:p>
        </p:txBody>
      </p:sp>
      <p:sp>
        <p:nvSpPr>
          <p:cNvPr id="5" name="Ориентир для согласования:&#10;до 10 объектов, 1 диспетчер ">
            <a:extLst xmlns:a="http://schemas.openxmlformats.org/drawingml/2006/main">
              <a:ext uri="{FF2B5EF4-FFF2-40B4-BE49-F238E27FC236}">
                <a16:creationId xmlns:a16="http://schemas.microsoft.com/office/drawing/2014/main" id="{3F032BA3-6C1A-480B-890C-D2CAE831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76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Ориентир для согласования: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10 объектов, 1 диспетчер и 2 инженера.</a:t>
            </a:r>
          </a:p>
        </p:txBody>
      </p:sp>
      <p:sp>
        <p:nvSpPr>
          <p:cNvPr id="6" name="Что сравним до и после">
            <a:extLst xmlns:a="http://schemas.openxmlformats.org/drawingml/2006/main">
              <a:ext uri="{FF2B5EF4-FFF2-40B4-BE49-F238E27FC236}">
                <a16:creationId xmlns:a16="http://schemas.microsoft.com/office/drawing/2014/main" id="{03DD8390-B072-4B66-BD0D-CB524879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сравним до и после</a:t>
            </a:r>
          </a:p>
        </p:txBody>
      </p:sp>
      <p:sp>
        <p:nvSpPr>
          <p:cNvPr id="7" name="Время назначения и поиска документов.&#10;Полноту отчётов и">
            <a:extLst xmlns:a="http://schemas.openxmlformats.org/drawingml/2006/main">
              <a:ext uri="{FF2B5EF4-FFF2-40B4-BE49-F238E27FC236}">
                <a16:creationId xmlns:a16="http://schemas.microsoft.com/office/drawing/2014/main" id="{19B04521-6B6A-4047-A013-7B1B56BA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695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Время назначения и поиска документов.</a:t>
            </a:r>
          </a:p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Полноту отчётов и актуальность статусов.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BC993-930D-437C-BCC0-82292F181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91eafd617449c"/>
          <a:stretch xmlns:a="http://schemas.openxmlformats.org/drawingml/2006/main"/>
        </p:blipFill>
        <p:spPr>
          <a:xfrm xmlns:a="http://schemas.openxmlformats.org/drawingml/2006/main">
            <a:off x="9115425" y="2374900"/>
            <a:ext cx="2295525" cy="3060700"/>
          </a:xfrm>
          <a:prstGeom xmlns:a="http://schemas.openxmlformats.org/drawingml/2006/main" prst="rect">
            <a:avLst/>
          </a:prstGeom>
        </p:spPr>
      </p:pic>
      <p:sp>
        <p:nvSpPr>
          <p:cNvPr id="9" name="Следующий шаг: рабочая встреча и выбор сервисного сцена">
            <a:extLst xmlns:a="http://schemas.openxmlformats.org/drawingml/2006/main">
              <a:ext uri="{FF2B5EF4-FFF2-40B4-BE49-F238E27FC236}">
                <a16:creationId xmlns:a16="http://schemas.microsoft.com/office/drawing/2014/main" id="{E3A97AA8-3983-4606-BFF8-6DBF43E3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Следующий шаг: рабочая встреча и выбор сервисного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2061118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2026-10-20T05:56:32.9510000Z</dcterms:created>
  <dcterms:modified xsi:type="dcterms:W3CDTF">2026-10-20T05:56:32.9510000Z</dcterms:modified>
</coreProperties>
</file>