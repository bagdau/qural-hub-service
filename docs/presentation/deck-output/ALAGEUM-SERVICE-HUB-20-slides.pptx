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bfca2b22b24cf2" /><Relationship Type="http://schemas.openxmlformats.org/officeDocument/2006/relationships/extended-properties" Target="/docProps/app.xml" Id="R4b38170978124c6b" /><Relationship Type="http://schemas.openxmlformats.org/officeDocument/2006/relationships/officeDocument" Target="/ppt/presentation.xml" Id="Rfa1f31c6e6af48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bcc965309b4c1f"/>
  </p:sldMasterIdLst>
  <p:notesMasterIdLst>
    <p:notesMasterId xmlns:r="http://schemas.openxmlformats.org/officeDocument/2006/relationships" r:id="R105405d883f44a68"/>
  </p:notesMasterIdLst>
  <p:sldIdLst>
    <p:sldId xmlns:r="http://schemas.openxmlformats.org/officeDocument/2006/relationships" id="256" r:id="Re2b1cc6764be4bae"/>
    <p:sldId xmlns:r="http://schemas.openxmlformats.org/officeDocument/2006/relationships" id="257" r:id="R279ceefca3274956"/>
    <p:sldId xmlns:r="http://schemas.openxmlformats.org/officeDocument/2006/relationships" id="258" r:id="R3fcff7f8378948d2"/>
    <p:sldId xmlns:r="http://schemas.openxmlformats.org/officeDocument/2006/relationships" id="259" r:id="R9a6e1c50aa884cd9"/>
    <p:sldId xmlns:r="http://schemas.openxmlformats.org/officeDocument/2006/relationships" id="260" r:id="R4e36b3df7344450c"/>
    <p:sldId xmlns:r="http://schemas.openxmlformats.org/officeDocument/2006/relationships" id="261" r:id="R110add12afd547b8"/>
    <p:sldId xmlns:r="http://schemas.openxmlformats.org/officeDocument/2006/relationships" id="262" r:id="Rd0b07f1086cc4074"/>
    <p:sldId xmlns:r="http://schemas.openxmlformats.org/officeDocument/2006/relationships" id="263" r:id="R6f91ca6cde344ada"/>
    <p:sldId xmlns:r="http://schemas.openxmlformats.org/officeDocument/2006/relationships" id="264" r:id="Re1c7a586ec444369"/>
    <p:sldId xmlns:r="http://schemas.openxmlformats.org/officeDocument/2006/relationships" id="265" r:id="R632b41aa1dbc4f6d"/>
    <p:sldId xmlns:r="http://schemas.openxmlformats.org/officeDocument/2006/relationships" id="266" r:id="Rae03c468cb434b40"/>
    <p:sldId xmlns:r="http://schemas.openxmlformats.org/officeDocument/2006/relationships" id="267" r:id="Rd782c22a06bd4425"/>
    <p:sldId xmlns:r="http://schemas.openxmlformats.org/officeDocument/2006/relationships" id="268" r:id="Rdcdbc90b300f49e7"/>
    <p:sldId xmlns:r="http://schemas.openxmlformats.org/officeDocument/2006/relationships" id="269" r:id="R4ce441acb38e4128"/>
    <p:sldId xmlns:r="http://schemas.openxmlformats.org/officeDocument/2006/relationships" id="270" r:id="R920804ead1c34c1f"/>
    <p:sldId xmlns:r="http://schemas.openxmlformats.org/officeDocument/2006/relationships" id="271" r:id="Rfc85e2aba5794336"/>
    <p:sldId xmlns:r="http://schemas.openxmlformats.org/officeDocument/2006/relationships" id="272" r:id="R4fe23de0946948c1"/>
    <p:sldId xmlns:r="http://schemas.openxmlformats.org/officeDocument/2006/relationships" id="273" r:id="R9a773ede58274a32"/>
    <p:sldId xmlns:r="http://schemas.openxmlformats.org/officeDocument/2006/relationships" id="274" r:id="R36c24ec893194f1c"/>
    <p:sldId xmlns:r="http://schemas.openxmlformats.org/officeDocument/2006/relationships" id="275" r:id="R5394a338860d45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8d157a8f0b4ad8" /><Relationship Type="http://schemas.openxmlformats.org/officeDocument/2006/relationships/slideMaster" Target="/ppt/slideMasters/slideMaster1.xml" Id="R56bcc965309b4c1f" /><Relationship Type="http://schemas.openxmlformats.org/officeDocument/2006/relationships/notesMaster" Target="/ppt/notesMasters/notesMaster1.xml" Id="R105405d883f44a68" /><Relationship Type="http://schemas.openxmlformats.org/officeDocument/2006/relationships/presProps" Target="/ppt/presProps.xml" Id="R2d8ba623ca464fc0" /><Relationship Type="http://schemas.openxmlformats.org/officeDocument/2006/relationships/tableStyles" Target="/ppt/tableStyles.xml" Id="R476c017d239c41d8" /><Relationship Type="http://schemas.openxmlformats.org/officeDocument/2006/relationships/slide" Target="/ppt/slides/slide1.xml" Id="Re2b1cc6764be4bae" /><Relationship Type="http://schemas.openxmlformats.org/officeDocument/2006/relationships/slide" Target="/ppt/slides/slide2.xml" Id="R279ceefca3274956" /><Relationship Type="http://schemas.openxmlformats.org/officeDocument/2006/relationships/slide" Target="/ppt/slides/slide3.xml" Id="R3fcff7f8378948d2" /><Relationship Type="http://schemas.openxmlformats.org/officeDocument/2006/relationships/slide" Target="/ppt/slides/slide4.xml" Id="R9a6e1c50aa884cd9" /><Relationship Type="http://schemas.openxmlformats.org/officeDocument/2006/relationships/slide" Target="/ppt/slides/slide5.xml" Id="R4e36b3df7344450c" /><Relationship Type="http://schemas.openxmlformats.org/officeDocument/2006/relationships/slide" Target="/ppt/slides/slide6.xml" Id="R110add12afd547b8" /><Relationship Type="http://schemas.openxmlformats.org/officeDocument/2006/relationships/slide" Target="/ppt/slides/slide7.xml" Id="Rd0b07f1086cc4074" /><Relationship Type="http://schemas.openxmlformats.org/officeDocument/2006/relationships/slide" Target="/ppt/slides/slide8.xml" Id="R6f91ca6cde344ada" /><Relationship Type="http://schemas.openxmlformats.org/officeDocument/2006/relationships/slide" Target="/ppt/slides/slide9.xml" Id="Re1c7a586ec444369" /><Relationship Type="http://schemas.openxmlformats.org/officeDocument/2006/relationships/slide" Target="/ppt/slides/slide10.xml" Id="R632b41aa1dbc4f6d" /><Relationship Type="http://schemas.openxmlformats.org/officeDocument/2006/relationships/slide" Target="/ppt/slides/slide11.xml" Id="Rae03c468cb434b40" /><Relationship Type="http://schemas.openxmlformats.org/officeDocument/2006/relationships/slide" Target="/ppt/slides/slide12.xml" Id="Rd782c22a06bd4425" /><Relationship Type="http://schemas.openxmlformats.org/officeDocument/2006/relationships/slide" Target="/ppt/slides/slide13.xml" Id="Rdcdbc90b300f49e7" /><Relationship Type="http://schemas.openxmlformats.org/officeDocument/2006/relationships/slide" Target="/ppt/slides/slide14.xml" Id="R4ce441acb38e4128" /><Relationship Type="http://schemas.openxmlformats.org/officeDocument/2006/relationships/slide" Target="/ppt/slides/slide15.xml" Id="R920804ead1c34c1f" /><Relationship Type="http://schemas.openxmlformats.org/officeDocument/2006/relationships/slide" Target="/ppt/slides/slide16.xml" Id="Rfc85e2aba5794336" /><Relationship Type="http://schemas.openxmlformats.org/officeDocument/2006/relationships/slide" Target="/ppt/slides/slide17.xml" Id="R4fe23de0946948c1" /><Relationship Type="http://schemas.openxmlformats.org/officeDocument/2006/relationships/slide" Target="/ppt/slides/slide18.xml" Id="R9a773ede58274a32" /><Relationship Type="http://schemas.openxmlformats.org/officeDocument/2006/relationships/slide" Target="/ppt/slides/slide19.xml" Id="R36c24ec893194f1c" /><Relationship Type="http://schemas.openxmlformats.org/officeDocument/2006/relationships/slide" Target="/ppt/slides/slide20.xml" Id="R5394a338860d45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d1fa68490943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7f81e1f3fb423b" /><Relationship Type="http://schemas.openxmlformats.org/officeDocument/2006/relationships/notesMaster" Target="/ppt/notesMasters/notesMaster1.xml" Id="Rc3e37439332842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2e66cf8a484eb5" /><Relationship Type="http://schemas.openxmlformats.org/officeDocument/2006/relationships/notesMaster" Target="/ppt/notesMasters/notesMaster1.xml" Id="Rd5435dc540284a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9844e7822f4040" /><Relationship Type="http://schemas.openxmlformats.org/officeDocument/2006/relationships/notesMaster" Target="/ppt/notesMasters/notesMaster1.xml" Id="R37d6ac91e8b44c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9f16e2d9954eec" /><Relationship Type="http://schemas.openxmlformats.org/officeDocument/2006/relationships/notesMaster" Target="/ppt/notesMasters/notesMaster1.xml" Id="R219a4365acf842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58464377e94987" /><Relationship Type="http://schemas.openxmlformats.org/officeDocument/2006/relationships/notesMaster" Target="/ppt/notesMasters/notesMaster1.xml" Id="R717a2ce5fa4f46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ac16269e724d92" /><Relationship Type="http://schemas.openxmlformats.org/officeDocument/2006/relationships/notesMaster" Target="/ppt/notesMasters/notesMaster1.xml" Id="R52971e4866c942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71a131645249ea" /><Relationship Type="http://schemas.openxmlformats.org/officeDocument/2006/relationships/notesMaster" Target="/ppt/notesMasters/notesMaster1.xml" Id="R63c44b123f0d4e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927748f510424f" /><Relationship Type="http://schemas.openxmlformats.org/officeDocument/2006/relationships/notesMaster" Target="/ppt/notesMasters/notesMaster1.xml" Id="R9ac8735540234a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927a7499ff4ff3" /><Relationship Type="http://schemas.openxmlformats.org/officeDocument/2006/relationships/notesMaster" Target="/ppt/notesMasters/notesMaster1.xml" Id="Rca6a35989c0c44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ce45c820534f23" /><Relationship Type="http://schemas.openxmlformats.org/officeDocument/2006/relationships/notesMaster" Target="/ppt/notesMasters/notesMaster1.xml" Id="R99376cae93da486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90bb003778480b" /><Relationship Type="http://schemas.openxmlformats.org/officeDocument/2006/relationships/notesMaster" Target="/ppt/notesMasters/notesMaster1.xml" Id="R98ac99bfdce646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771c3364bf248bc" /><Relationship Type="http://schemas.openxmlformats.org/officeDocument/2006/relationships/notesMaster" Target="/ppt/notesMasters/notesMaster1.xml" Id="R2f550762817d4b7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0b081127657498b" /><Relationship Type="http://schemas.openxmlformats.org/officeDocument/2006/relationships/notesMaster" Target="/ppt/notesMasters/notesMaster1.xml" Id="R1f4d67cef0ab4ca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731e991d8d44463" /><Relationship Type="http://schemas.openxmlformats.org/officeDocument/2006/relationships/notesMaster" Target="/ppt/notesMasters/notesMaster1.xml" Id="Rb4d020f11471482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efb0e2de75f494f" /><Relationship Type="http://schemas.openxmlformats.org/officeDocument/2006/relationships/notesMaster" Target="/ppt/notesMasters/notesMaster1.xml" Id="R33785c83ed90448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f038826b2de4391" /><Relationship Type="http://schemas.openxmlformats.org/officeDocument/2006/relationships/notesMaster" Target="/ppt/notesMasters/notesMaster1.xml" Id="R78ad2462bf9446a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8470c54f9d54100" /><Relationship Type="http://schemas.openxmlformats.org/officeDocument/2006/relationships/notesMaster" Target="/ppt/notesMasters/notesMaster1.xml" Id="Rf776525a344d4c7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53ea7e722f745cf" /><Relationship Type="http://schemas.openxmlformats.org/officeDocument/2006/relationships/notesMaster" Target="/ppt/notesMasters/notesMaster1.xml" Id="Ra3960aa8503d469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ab41e02c7bd4958" /><Relationship Type="http://schemas.openxmlformats.org/officeDocument/2006/relationships/notesMaster" Target="/ppt/notesMasters/notesMaster1.xml" Id="Ra36f5c00367b45f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540b91fac194849" /><Relationship Type="http://schemas.openxmlformats.org/officeDocument/2006/relationships/notesMaster" Target="/ppt/notesMasters/notesMaster1.xml" Id="R9eea1c206b5b49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Alageum Service Hub объединяет оборудование и весь процесс сервисного обслуживания. Проект студенческой команды университета предлагается для обсуждения возможного пилота. В интерфейсе используются демонстрационные данные, сотрудничество и внедрение в компании пока не подтверждены.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README.md; https://next.auezov.edu.kz/; официальный логотип: https://next.auezov.edu.kz/assets/img/logo-white.svg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Здесь описаны гипотезы проблем, а не результаты обследования конкретного предприятия. Если обращения и документы распределены между разными каналами, контроль требует дополнительных уточнений. На рабочей встрече важно определить, какие из этих ситуаций действительно возникают и как часто.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Исходная презентация, слайд 2;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Платформа связывает действия клиента, диспетчера и инженера вокруг одного объекта. Руководитель получает обзор текущих обращений, а клиент видит состояние своих заявок. Снимок показывает действующий интерфейс на синтетических данных.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README.md; backend/app/visibility.py; assets/client-home.png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Роли разделяют выполнение работ, диспетчеризацию и контроль. Инженер работает со своими назначениями, а клиент ограничен своей организацией. Администратор настраивает систему, но его роль сама по себе не подменяет диспетчера в операционных действиях.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backend/app/visibility.py; backend/app/workflow.py; assets/users.png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Рабочий маршрут включает новую, принятую и назначенную заявку, работу инженера, ожидание подтверждения и закрытие. При задержке участник фиксирует причину паузы, следующее действие и ожидаемый срок возобновления. Клиент может вернуть результат на доработку, при этом история сохраняется.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backend/app/workflow.py; assets/ticket.png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Реестр охватывает трансформаторы, подстанции и распределительные устройства. Каждая единица относится к организации и площадке. В системе можно искать оборудование и переходить к его паспорту, не собирая сведения из отдельных файлов.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backend/app; assets/equipment.png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паспорте собраны идентификационные и технические сведения, документы, карта и план обслуживания. История позволяет проверить предыдущие обращения по тому же объекту. Это помогает инженеру подготовиться и не запрашивать заново уже сохранённую информацию.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assets/passport.png; assets/equipment-history.png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QR-код содержит ссылку на карточку оборудования. Он ускоряет доступ, но не заменяет авторизацию и проверку прав. Для камеры нужны защищённое соединение и разрешение браузера, а для напечатанных кодов при пилоте следует согласовать постоянный адрес приложения.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assets/qr.png; assets/scanner.png; frontend/src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Клиент или диспетчер создаёт заявку по существующему оборудованию. Диспетчер проверяет срочность и назначает исполнителя с плановой датой и комментарием. При повторном активном обращении и высокой загрузке инженера система показывает предупреждение.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assets/create.png; assets/assign.png; backend/app/workflow.py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Диспетчер видит путь обращений по колонкам и может быстро открыть карточку заявки. Фильтры позволяют работать с конкретным приоритетом, исполнителем или оборудованием. Доступные переходы зависят от роли и текущего состояния заявки.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assets/board.png; frontend/src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Инженер видит свои задания по состоянию и срокам. Мобильная версия позволяет открыть задачу и перейти к выполнению на площадке. Текущая версия требует подключения для действий, полноценная автономная работа с последующей синхронизацией не реализована.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assets/tasks.png; assets/mobile-tasks.png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Перед завершением система проверяет заполнение обязательных полей и чек-листа. Инженер фиксирует диагностику, выполненные работы, использованные материалы и результат проверки. Для фотографий до и после предусмотрены обязательность либо согласованное диспетчером исключение.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assets/report.png; assets/checklist.png; backend/app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SLA задаёт контрольные сроки реакции и выполнения с учётом приоритета. При паузе и ожидании подтверждения останавливается отсчёт времени выполнения. Значения нормативов и правила рабочего времени следует согласовать с сервисным подразделением перед пилотом.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assets/timeline.png; backend/app/workflow.py; backend/app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После завершения работ клиент получает результат на подтверждение. PDF-акт формируется по сохранённому отчёту, а возврат на доработку не стирает предыдущие версии. Подтверждение в кабинете реализовано, квалифицированная электронная подпись не подключена.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assets/confirmation.png; assets/act.png; backend/app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Диспетчер задаёт периодичность, дату и заблаговременность создания заявки. Фоновая задача формирует плановое обращение и защищает от повторного создания на ту же дату плана. Это помогает учитывать профилактику вместе с текущими ремонтами.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assets/maintenance.png; backend/app/worker.py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Карта использует координаты оборудования или его площадки. Сигналы помогают выделить объекты, по которым есть обращения или плановые работы. Это обзор расположения объектов, автоматическое построение оптимального маршрута выездов не заявляется.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assets/map.png; frontend/src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Показатели помогают руководителю определить, какие заявки требуют внимания и где повторяются обращения. Переход от показателя к списку заявок позволяет уточнить причину. Числа на снимке относятся к демонстрационному набору и не подтверждают экономический эффект.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assets/dashboard.png; backend/app/analytics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Сервер проверяет доступ к данным и действиям, включая документы и вложения. Администратор управляет учётными записями и настройками, а аудит помогает разбирать события. Текущая архитектура использует React, FastAPI и PostgreSQL с контейнерным развёртыванием.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README.md; assets/users.png; backend/app/visibility.py; docker-compose.yml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Преимущество предлагаемого подхода заключается в связанности данных внутри конкретного сервисного процесса. Для завода полезны реестр объектов и планирование, для сервисной организации — диспетчеризация и подтверждение результата. Интеграции с ERP и 1С, полноценный склад и электронная подпись относятся к дальнейшему развитию, а не к готовым функциям.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README.md; docs/12-implementation-status.md; текущие экраны приложения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Предлагаем начать с одного согласованного сценария и небольшой группы участников. Срок и состав пилота — ориентир из первоначального предложения, а не договорённость с компанией. Перед запуском следует зафиксировать исходные значения и критерии успеха, а бюджет определить после согласования масштаба и инфраструктуры.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Исходная презентация, слайды 9–10; README.md; assets/tablet-dashboard.png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2d978086d54a9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15325ae52549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5391cc039642b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f3ab2a86f04ce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86e511baed42a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2ff66fc49c4c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DFE096-1B94-4245-BB72-728CFD374C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F1F1EE6-4CF2-4B16-A8EA-7B0CD02798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0F502CE-8DF4-4EE1-ABFE-8ED7472A7E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CFE383-E3F6-49C4-8BC0-7B14FCAA94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8C39ABF-5C26-493B-81B3-C85A4DDAA7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2801A2E-0892-40A0-A37A-0C0A8634CE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B322BA9-3819-48B4-BDC2-EE5DFAFA8F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DCDD847-35F9-466F-BEA7-C606220C39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E96343E-33A5-4366-A036-DBC7F925FE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41561A-BA6E-453D-9E4A-4872AA2E53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b31ca80525409a" /><Relationship Type="http://schemas.openxmlformats.org/officeDocument/2006/relationships/slideLayout" Target="/ppt/slideLayouts/slideLayout1.xml" Id="Ra05d90c8974f47a8" /><Relationship Type="http://schemas.openxmlformats.org/officeDocument/2006/relationships/slideLayout" Target="/ppt/slideLayouts/slideLayout2.xml" Id="R8b03133509d04a30" /><Relationship Type="http://schemas.openxmlformats.org/officeDocument/2006/relationships/slideLayout" Target="/ppt/slideLayouts/slideLayout3.xml" Id="R8b35354a5d644ece" /><Relationship Type="http://schemas.openxmlformats.org/officeDocument/2006/relationships/slideLayout" Target="/ppt/slideLayouts/slideLayout4.xml" Id="R2313a8308077406a" /><Relationship Type="http://schemas.openxmlformats.org/officeDocument/2006/relationships/slideLayout" Target="/ppt/slideLayouts/slideLayout5.xml" Id="R8b5ac7c83c0148bc" /><Relationship Type="http://schemas.openxmlformats.org/officeDocument/2006/relationships/slideLayout" Target="/ppt/slideLayouts/slideLayout6.xml" Id="R7a762038903542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5d90c8974f47a8"/>
    <p:sldLayoutId xmlns:r="http://schemas.openxmlformats.org/officeDocument/2006/relationships" id="2147483650" r:id="R8b03133509d04a30"/>
    <p:sldLayoutId xmlns:r="http://schemas.openxmlformats.org/officeDocument/2006/relationships" id="2147483651" r:id="R8b35354a5d644ece"/>
    <p:sldLayoutId xmlns:r="http://schemas.openxmlformats.org/officeDocument/2006/relationships" id="2147483652" r:id="R2313a8308077406a"/>
    <p:sldLayoutId xmlns:r="http://schemas.openxmlformats.org/officeDocument/2006/relationships" id="2147483653" r:id="R8b5ac7c83c0148bc"/>
    <p:sldLayoutId xmlns:r="http://schemas.openxmlformats.org/officeDocument/2006/relationships" id="2147483654" r:id="R7a762038903542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a8002eec0a47ee" /><Relationship Type="http://schemas.openxmlformats.org/officeDocument/2006/relationships/image" Target="/ppt/media/image.png" Id="Rea2c649495ba4957" /><Relationship Type="http://schemas.openxmlformats.org/officeDocument/2006/relationships/notesSlide" Target="/ppt/notesSlides/notesSlide1.xml" Id="R413b2200ba0645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ee01b44c284126" /><Relationship Type="http://schemas.openxmlformats.org/officeDocument/2006/relationships/notesSlide" Target="/ppt/notesSlides/notesSlide2.xml" Id="Rae755c7dc9d34c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f9fd3e61f14064" /><Relationship Type="http://schemas.openxmlformats.org/officeDocument/2006/relationships/image" Target="/ppt/media/image2.png" Id="R059625e543e647b3" /><Relationship Type="http://schemas.openxmlformats.org/officeDocument/2006/relationships/notesSlide" Target="/ppt/notesSlides/notesSlide3.xml" Id="Rfaa36ec010c343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799271aed243bc" /><Relationship Type="http://schemas.openxmlformats.org/officeDocument/2006/relationships/notesSlide" Target="/ppt/notesSlides/notesSlide4.xml" Id="R431f5cfec28b41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3e09ded1fe48c4" /><Relationship Type="http://schemas.openxmlformats.org/officeDocument/2006/relationships/image" Target="/ppt/media/image3.png" Id="R914fbfa6d23248af" /><Relationship Type="http://schemas.openxmlformats.org/officeDocument/2006/relationships/notesSlide" Target="/ppt/notesSlides/notesSlide5.xml" Id="R7df6d857fe3b4f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0be2b286b04b03" /><Relationship Type="http://schemas.openxmlformats.org/officeDocument/2006/relationships/image" Target="/ppt/media/image4.png" Id="Rd3b77cdffcb04f77" /><Relationship Type="http://schemas.openxmlformats.org/officeDocument/2006/relationships/notesSlide" Target="/ppt/notesSlides/notesSlide6.xml" Id="Rdbec64f3545c4f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5be39446e148ae" /><Relationship Type="http://schemas.openxmlformats.org/officeDocument/2006/relationships/image" Target="/ppt/media/image5.png" Id="R247cff059d96458d" /><Relationship Type="http://schemas.openxmlformats.org/officeDocument/2006/relationships/image" Target="/ppt/media/image6.png" Id="R1503b58966364fe9" /><Relationship Type="http://schemas.openxmlformats.org/officeDocument/2006/relationships/notesSlide" Target="/ppt/notesSlides/notesSlide7.xml" Id="R06b60b0a39f749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452a8ac9484beb" /><Relationship Type="http://schemas.openxmlformats.org/officeDocument/2006/relationships/image" Target="/ppt/media/image7.png" Id="R7bf9050264fc4290" /><Relationship Type="http://schemas.openxmlformats.org/officeDocument/2006/relationships/image" Target="/ppt/media/image8.png" Id="Rbae9c26d19194084" /><Relationship Type="http://schemas.openxmlformats.org/officeDocument/2006/relationships/notesSlide" Target="/ppt/notesSlides/notesSlide8.xml" Id="R0f576daa1a434b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dff695da0943db" /><Relationship Type="http://schemas.openxmlformats.org/officeDocument/2006/relationships/image" Target="/ppt/media/image9.png" Id="R3d0396ce010148a5" /><Relationship Type="http://schemas.openxmlformats.org/officeDocument/2006/relationships/image" Target="/ppt/media/image10.png" Id="Rd857b1f2491a4d33" /><Relationship Type="http://schemas.openxmlformats.org/officeDocument/2006/relationships/notesSlide" Target="/ppt/notesSlides/notesSlide9.xml" Id="R75f67b765d4140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8f148b87834771" /><Relationship Type="http://schemas.openxmlformats.org/officeDocument/2006/relationships/image" Target="/ppt/media/image11.png" Id="Rdf874e54006c44c9" /><Relationship Type="http://schemas.openxmlformats.org/officeDocument/2006/relationships/notesSlide" Target="/ppt/notesSlides/notesSlide10.xml" Id="Rf85e08291be948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768703c2864a2e" /><Relationship Type="http://schemas.openxmlformats.org/officeDocument/2006/relationships/image" Target="/ppt/media/image12.png" Id="R3667eebd74db4d68" /><Relationship Type="http://schemas.openxmlformats.org/officeDocument/2006/relationships/image" Target="/ppt/media/image13.png" Id="Rb2b492ee7c5f468d" /><Relationship Type="http://schemas.openxmlformats.org/officeDocument/2006/relationships/notesSlide" Target="/ppt/notesSlides/notesSlide11.xml" Id="R72662d21bbc448e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0b97fcfb494569" /><Relationship Type="http://schemas.openxmlformats.org/officeDocument/2006/relationships/image" Target="/ppt/media/image14.png" Id="Rb611928158c74486" /><Relationship Type="http://schemas.openxmlformats.org/officeDocument/2006/relationships/image" Target="/ppt/media/image15.png" Id="Re557099f46e14dd9" /><Relationship Type="http://schemas.openxmlformats.org/officeDocument/2006/relationships/notesSlide" Target="/ppt/notesSlides/notesSlide12.xml" Id="R72b428a464d844b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3937bbbd0e4641" /><Relationship Type="http://schemas.openxmlformats.org/officeDocument/2006/relationships/image" Target="/ppt/media/image16.png" Id="R17de4dafa43f49d2" /><Relationship Type="http://schemas.openxmlformats.org/officeDocument/2006/relationships/notesSlide" Target="/ppt/notesSlides/notesSlide13.xml" Id="R0534e2a2e0b049b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29497ca7a74322" /><Relationship Type="http://schemas.openxmlformats.org/officeDocument/2006/relationships/image" Target="/ppt/media/image17.png" Id="Raaa5144cf9f54215" /><Relationship Type="http://schemas.openxmlformats.org/officeDocument/2006/relationships/image" Target="/ppt/media/image18.png" Id="R9f2e17869aad470b" /><Relationship Type="http://schemas.openxmlformats.org/officeDocument/2006/relationships/notesSlide" Target="/ppt/notesSlides/notesSlide14.xml" Id="R93e59ec24b404b2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efca03d0224f98" /><Relationship Type="http://schemas.openxmlformats.org/officeDocument/2006/relationships/image" Target="/ppt/media/image19.png" Id="Re8b15cb375284cc7" /><Relationship Type="http://schemas.openxmlformats.org/officeDocument/2006/relationships/notesSlide" Target="/ppt/notesSlides/notesSlide15.xml" Id="Rc7e3435926e2469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05adf81ce9478e" /><Relationship Type="http://schemas.openxmlformats.org/officeDocument/2006/relationships/image" Target="/ppt/media/image20.png" Id="R2253d660f28a47e4" /><Relationship Type="http://schemas.openxmlformats.org/officeDocument/2006/relationships/notesSlide" Target="/ppt/notesSlides/notesSlide16.xml" Id="R0d270449c3484bb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54558a67ef484e" /><Relationship Type="http://schemas.openxmlformats.org/officeDocument/2006/relationships/image" Target="/ppt/media/image21.png" Id="R9448e923c6bc4582" /><Relationship Type="http://schemas.openxmlformats.org/officeDocument/2006/relationships/notesSlide" Target="/ppt/notesSlides/notesSlide17.xml" Id="R1539a14dca724e4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1495ef6c6544d5" /><Relationship Type="http://schemas.openxmlformats.org/officeDocument/2006/relationships/image" Target="/ppt/media/image22.png" Id="Rd7cbb2abb0fe417e" /><Relationship Type="http://schemas.openxmlformats.org/officeDocument/2006/relationships/notesSlide" Target="/ppt/notesSlides/notesSlide18.xml" Id="Re34c01efc71e47d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3c854513db4146" /><Relationship Type="http://schemas.openxmlformats.org/officeDocument/2006/relationships/notesSlide" Target="/ppt/notesSlides/notesSlide19.xml" Id="R49deb6350b8248c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2ea0abe5ee4641" /><Relationship Type="http://schemas.openxmlformats.org/officeDocument/2006/relationships/image" Target="/ppt/media/image23.png" Id="R4e50874d4cff40a8" /><Relationship Type="http://schemas.openxmlformats.org/officeDocument/2006/relationships/notesSlide" Target="/ppt/notesSlides/notesSlide20.xml" Id="R6fcb30e0459147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2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D242C73E-F305-47AE-BE0A-1FFC3847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DB8D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7A36C-48C6-4242-9FA8-A47F02B323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2c649495ba4957"/>
          <a:stretch xmlns:a="http://schemas.openxmlformats.org/drawingml/2006/main"/>
        </p:blipFill>
        <p:spPr>
          <a:xfrm xmlns:a="http://schemas.openxmlformats.org/drawingml/2006/main">
            <a:off x="533400" y="411290"/>
            <a:ext cx="2057400" cy="853821"/>
          </a:xfrm>
          <a:prstGeom xmlns:a="http://schemas.openxmlformats.org/drawingml/2006/main" prst="rect">
            <a:avLst/>
          </a:prstGeom>
        </p:spPr>
      </p:pic>
      <p:sp>
        <p:nvSpPr>
          <p:cNvPr id="3" name="Южно-Казахстанский исследовательский университет&#10;имени ">
            <a:extLst xmlns:a="http://schemas.openxmlformats.org/drawingml/2006/main">
              <a:ext uri="{FF2B5EF4-FFF2-40B4-BE49-F238E27FC236}">
                <a16:creationId xmlns:a16="http://schemas.microsoft.com/office/drawing/2014/main" id="{6A727DC1-3DA5-4C59-B136-96A17F90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5300"/>
            <a:ext cx="847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Южно-Казахстанский исследовательский университет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имени Мухтара Ауэзова</a:t>
            </a:r>
          </a:p>
        </p:txBody>
      </p:sp>
      <p:sp>
        <p:nvSpPr>
          <p:cNvPr id="4" name="ALAGEUM&#10;SERVICE HUB">
            <a:extLst xmlns:a="http://schemas.openxmlformats.org/drawingml/2006/main">
              <a:ext uri="{FF2B5EF4-FFF2-40B4-BE49-F238E27FC236}">
                <a16:creationId xmlns:a16="http://schemas.microsoft.com/office/drawing/2014/main" id="{01C51B75-30C5-4C60-8110-4C52A05E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81225"/>
            <a:ext cx="10953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ALAGEUM</a:t>
            </a:r>
          </a:p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SERVICE HUB</a:t>
            </a:r>
          </a:p>
        </p:txBody>
      </p:sp>
      <p:sp>
        <p:nvSpPr>
          <p:cNvPr id="5" name="Учёт оборудования и управление&#10;сервисным обслуживанием">
            <a:extLst xmlns:a="http://schemas.openxmlformats.org/drawingml/2006/main">
              <a:ext uri="{FF2B5EF4-FFF2-40B4-BE49-F238E27FC236}">
                <a16:creationId xmlns:a16="http://schemas.microsoft.com/office/drawing/2014/main" id="{203A7FEC-ED44-4560-9ED7-34AF3675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1000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defPPr>
            <a:lvl1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lvl1pPr>
            <a:lvl2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lvl2pPr>
            <a:lvl3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lvl3pPr>
            <a:lvl4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lvl4pPr>
            <a:lvl5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lvl5pPr>
            <a:lvl6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lvl6pPr>
            <a:lvl7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lvl7pPr>
            <a:lvl8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lvl8pPr>
            <a:lvl9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D5CCFF"/>
                </a:solidFill>
                <a:latin typeface="Arial"/>
                <a:ea typeface="Arial"/>
                <a:cs typeface="Arial"/>
              </a:rPr>
              <a:t>Учёт оборудования и управление</a:t>
            </a:r>
          </a:p>
          <a:p xmlns:a="http://schemas.openxmlformats.org/drawingml/2006/main">
            <a: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D5CCFF"/>
                </a:solidFill>
                <a:latin typeface="Arial"/>
                <a:ea typeface="Arial"/>
                <a:cs typeface="Arial"/>
              </a:rPr>
              <a:t>сервисным обслуживанием</a:t>
            </a:r>
          </a:p>
        </p:txBody>
      </p:sp>
      <p:sp>
        <p:nvSpPr>
          <p:cNvPr id="6" name="Проект студенческой команды · Демонстрация работающего ">
            <a:extLst xmlns:a="http://schemas.openxmlformats.org/drawingml/2006/main">
              <a:ext uri="{FF2B5EF4-FFF2-40B4-BE49-F238E27FC236}">
                <a16:creationId xmlns:a16="http://schemas.microsoft.com/office/drawing/2014/main" id="{869C496F-8A07-4B50-BA99-48D20ED6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4D9EA"/>
                </a:solidFill>
                <a:latin typeface="Arial"/>
                <a:ea typeface="Arial"/>
                <a:cs typeface="Arial"/>
              </a:rPr>
              <a:t>Проект студенческой команды · Демонстрация работающего MVP</a:t>
            </a:r>
          </a:p>
        </p:txBody>
      </p:sp>
    </p:spTree>
    <p:extLst>
      <p:ext uri="{BB962C8B-B14F-4D97-AF65-F5344CB8AC3E}">
        <p14:creationId xmlns:p14="http://schemas.microsoft.com/office/powerpoint/2010/main" val="4479202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Проблемы разрозненного сервисного учёта">
            <a:extLst xmlns:a="http://schemas.openxmlformats.org/drawingml/2006/main">
              <a:ext uri="{FF2B5EF4-FFF2-40B4-BE49-F238E27FC236}">
                <a16:creationId xmlns:a16="http://schemas.microsoft.com/office/drawing/2014/main" id="{148EEB3A-8D57-41F0-BCF3-B90F4521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Проблемы разрозненного сервисного учёта</a:t>
            </a:r>
          </a:p>
        </p:txBody>
      </p:sp>
      <p:sp>
        <p:nvSpPr>
          <p:cNvPr id="2" name="Ситуации, которые предлагаем проверить вместе с сервисн">
            <a:extLst xmlns:a="http://schemas.openxmlformats.org/drawingml/2006/main">
              <a:ext uri="{FF2B5EF4-FFF2-40B4-BE49-F238E27FC236}">
                <a16:creationId xmlns:a16="http://schemas.microsoft.com/office/drawing/2014/main" id="{A87F5F34-76B3-4391-81B1-1239195F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Ситуации, которые предлагаем проверить вместе с сервисной службой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E27579A3-16E0-4A74-8CA8-C28FC339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FEA8C7-5C46-4D83-BCE1-0969A9E230BB}"/>
              </a:ext>
            </a:extLst>
          </p:cNvPr>
          <p:cNvGraphicFramePr/>
          <p:nvPr/>
        </p:nvGraphicFramePr>
        <p:xfrm>
          <a:off xmlns:a="http://schemas.openxmlformats.org/drawingml/2006/main" x="533400" y="2009775"/>
          <a:ext xmlns:a="http://schemas.openxmlformats.org/drawingml/2006/main" cx="1112520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76700"/>
                <a:gridCol w="7048500"/>
              </a:tblGrid>
              <a:tr h="69723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Проблема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722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Последствие для работы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7223D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Обращения в разных каналах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Сложно видеть общую очередь и срочные задачи.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Документы отдельно от оборудования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Перед выездом приходится искать паспорт и историю ремонта.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Статус держится на звонках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Клиенту и руководителю приходится уточнять ход работ.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Результаты оформляют по-разному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Трудно проверить полноту работ и причины повторного обращения.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</a:tr>
            </a:tbl>
          </a:graphicData>
        </a:graphic>
      </p:graphicFrame>
      <p:sp>
        <p:nvSpPr>
          <p:cNvPr id="5" name="Общая задача: связать объект, заявку, исполнителя и рез">
            <a:extLst xmlns:a="http://schemas.openxmlformats.org/drawingml/2006/main">
              <a:ext uri="{FF2B5EF4-FFF2-40B4-BE49-F238E27FC236}">
                <a16:creationId xmlns:a16="http://schemas.microsoft.com/office/drawing/2014/main" id="{3D588928-7137-40E6-9117-24DD1AD4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Общая задача: связать объект, заявку, исполнителя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7956367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Решение: общий процесс в одном приложении">
            <a:extLst xmlns:a="http://schemas.openxmlformats.org/drawingml/2006/main">
              <a:ext uri="{FF2B5EF4-FFF2-40B4-BE49-F238E27FC236}">
                <a16:creationId xmlns:a16="http://schemas.microsoft.com/office/drawing/2014/main" id="{6999EE2B-8849-48D9-A67C-0B606166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Решение: общий процесс в одном приложении</a:t>
            </a:r>
          </a:p>
        </p:txBody>
      </p:sp>
      <p:sp>
        <p:nvSpPr>
          <p:cNvPr id="2" name="Каждая заявка связана с конкретной единицей оборудовани">
            <a:extLst xmlns:a="http://schemas.openxmlformats.org/drawingml/2006/main">
              <a:ext uri="{FF2B5EF4-FFF2-40B4-BE49-F238E27FC236}">
                <a16:creationId xmlns:a16="http://schemas.microsoft.com/office/drawing/2014/main" id="{89C0F2C0-0E7B-4759-B4FB-3DF7336A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Каждая заявка связана с конкретной единицей оборудования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4F472FC5-7A8A-4926-AE08-9ADE46AD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Оборудование">
            <a:extLst xmlns:a="http://schemas.openxmlformats.org/drawingml/2006/main">
              <a:ext uri="{FF2B5EF4-FFF2-40B4-BE49-F238E27FC236}">
                <a16:creationId xmlns:a16="http://schemas.microsoft.com/office/drawing/2014/main" id="{E35FDF1F-E74D-4A5F-821E-D5FA3ED1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Оборудование</a:t>
            </a:r>
          </a:p>
        </p:txBody>
      </p:sp>
      <p:sp>
        <p:nvSpPr>
          <p:cNvPr id="5" name="Паспорт, документы и история работ.">
            <a:extLst xmlns:a="http://schemas.openxmlformats.org/drawingml/2006/main">
              <a:ext uri="{FF2B5EF4-FFF2-40B4-BE49-F238E27FC236}">
                <a16:creationId xmlns:a16="http://schemas.microsoft.com/office/drawing/2014/main" id="{A8405BEF-4653-400C-A278-D07DD802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81275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Паспорт, документы и история работ.</a:t>
            </a:r>
          </a:p>
        </p:txBody>
      </p:sp>
      <p:sp>
        <p:nvSpPr>
          <p:cNvPr id="6" name="Обслуживание">
            <a:extLst xmlns:a="http://schemas.openxmlformats.org/drawingml/2006/main">
              <a:ext uri="{FF2B5EF4-FFF2-40B4-BE49-F238E27FC236}">
                <a16:creationId xmlns:a16="http://schemas.microsoft.com/office/drawing/2014/main" id="{82AD6FC6-2F2A-4CB4-9D12-EBC7110B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861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Обслуживание</a:t>
            </a:r>
          </a:p>
        </p:txBody>
      </p:sp>
      <p:sp>
        <p:nvSpPr>
          <p:cNvPr id="7" name="Ответственный, этап и срок по каждой заявке.">
            <a:extLst xmlns:a="http://schemas.openxmlformats.org/drawingml/2006/main">
              <a:ext uri="{FF2B5EF4-FFF2-40B4-BE49-F238E27FC236}">
                <a16:creationId xmlns:a16="http://schemas.microsoft.com/office/drawing/2014/main" id="{8F847EA8-7AFB-458B-BCC8-9C03E030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7190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Ответственный, этап и срок по каждой заявке.</a:t>
            </a:r>
          </a:p>
        </p:txBody>
      </p:sp>
      <p:sp>
        <p:nvSpPr>
          <p:cNvPr id="8" name="Контроль">
            <a:extLst xmlns:a="http://schemas.openxmlformats.org/drawingml/2006/main">
              <a:ext uri="{FF2B5EF4-FFF2-40B4-BE49-F238E27FC236}">
                <a16:creationId xmlns:a16="http://schemas.microsoft.com/office/drawing/2014/main" id="{845654DC-758F-4F65-9F34-6DC1EE8D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Контроль</a:t>
            </a:r>
          </a:p>
        </p:txBody>
      </p:sp>
      <p:sp>
        <p:nvSpPr>
          <p:cNvPr id="9" name="Отчёт инженера, подтверждение клиента и показатели.">
            <a:extLst xmlns:a="http://schemas.openxmlformats.org/drawingml/2006/main">
              <a:ext uri="{FF2B5EF4-FFF2-40B4-BE49-F238E27FC236}">
                <a16:creationId xmlns:a16="http://schemas.microsoft.com/office/drawing/2014/main" id="{3E9D15B4-B7BD-40E7-A091-0488A1C7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62525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Отчёт инженера, подтверждение клиента и показатели.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3CB1C6-8295-4AEF-8D72-B6087F84E4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9625e543e647b3"/>
          <a:srcRect xmlns:a="http://schemas.openxmlformats.org/drawingml/2006/main" l="18000" t="7000" r="2000" b="35000"/>
          <a:stretch xmlns:a="http://schemas.openxmlformats.org/drawingml/2006/main"/>
        </p:blipFill>
        <p:spPr>
          <a:xfrm xmlns:a="http://schemas.openxmlformats.org/drawingml/2006/main">
            <a:off x="3810000" y="1885950"/>
            <a:ext cx="7848600" cy="3838575"/>
          </a:xfrm>
          <a:prstGeom xmlns:a="http://schemas.openxmlformats.org/drawingml/2006/main" prst="rect">
            <a:avLst/>
          </a:prstGeom>
        </p:spPr>
      </p:pic>
      <p:sp>
        <p:nvSpPr>
          <p:cNvPr id="11" name="Участники видят данные и действия в пределах своей роли">
            <a:extLst xmlns:a="http://schemas.openxmlformats.org/drawingml/2006/main">
              <a:ext uri="{FF2B5EF4-FFF2-40B4-BE49-F238E27FC236}">
                <a16:creationId xmlns:a16="http://schemas.microsoft.com/office/drawing/2014/main" id="{45E7A689-3803-419A-BD84-3A757D89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Участники видят данные и действия в пределах своей роли.</a:t>
            </a:r>
          </a:p>
        </p:txBody>
      </p:sp>
    </p:spTree>
    <p:extLst>
      <p:ext uri="{BB962C8B-B14F-4D97-AF65-F5344CB8AC3E}">
        <p14:creationId xmlns:p14="http://schemas.microsoft.com/office/powerpoint/2010/main" val="21185643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Пять ролей с понятной ответственностью">
            <a:extLst xmlns:a="http://schemas.openxmlformats.org/drawingml/2006/main">
              <a:ext uri="{FF2B5EF4-FFF2-40B4-BE49-F238E27FC236}">
                <a16:creationId xmlns:a16="http://schemas.microsoft.com/office/drawing/2014/main" id="{1B098721-61DD-4AB8-BFCE-FABD05BB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Пять ролей с понятной ответственностью</a:t>
            </a:r>
          </a:p>
        </p:txBody>
      </p:sp>
      <p:sp>
        <p:nvSpPr>
          <p:cNvPr id="2" name="Каждый участник получает свой рабочий экран и доступные">
            <a:extLst xmlns:a="http://schemas.openxmlformats.org/drawingml/2006/main">
              <a:ext uri="{FF2B5EF4-FFF2-40B4-BE49-F238E27FC236}">
                <a16:creationId xmlns:a16="http://schemas.microsoft.com/office/drawing/2014/main" id="{8862708D-DA99-45A2-B045-482AAAC9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Каждый участник получает свой рабочий экран и доступные действия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FDB37E67-E66F-4D4F-9476-BAD3AED6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CE599-EDFF-4690-B883-7610D3203877}"/>
              </a:ext>
            </a:extLst>
          </p:cNvPr>
          <p:cNvGraphicFramePr/>
          <p:nvPr/>
        </p:nvGraphicFramePr>
        <p:xfrm>
          <a:off xmlns:a="http://schemas.openxmlformats.org/drawingml/2006/main" x="533400" y="1905000"/>
          <a:ext xmlns:a="http://schemas.openxmlformats.org/drawingml/2006/main" cx="111252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8172450"/>
              </a:tblGrid>
              <a:tr h="6286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Роль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722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делает в системе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7223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Клиент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Создаёт обращение, следит за заявкой, принимает результат.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Диспетчер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Уточняет приоритет, назначает инженера, контролирует очередь.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Инженер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Выполняет задания, заполняет отчёт, фиксирует материалы и фото.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Руководитель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Анализирует сроки, нагрузку и повторные обращения.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Администратор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Управляет пользователями, справочниками и настройками.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</a:tr>
            </a:tbl>
          </a:graphicData>
        </a:graphic>
      </p:graphicFrame>
      <p:sp>
        <p:nvSpPr>
          <p:cNvPr id="5" name="Клиент видит данные своей организации. Права проверяет ">
            <a:extLst xmlns:a="http://schemas.openxmlformats.org/drawingml/2006/main">
              <a:ext uri="{FF2B5EF4-FFF2-40B4-BE49-F238E27FC236}">
                <a16:creationId xmlns:a16="http://schemas.microsoft.com/office/drawing/2014/main" id="{2017FE6E-4E77-4C46-BE4B-F8A98BF6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Клиент видит данные своей организации. Права проверяет сервер.</a:t>
            </a:r>
          </a:p>
        </p:txBody>
      </p:sp>
    </p:spTree>
    <p:extLst>
      <p:ext uri="{BB962C8B-B14F-4D97-AF65-F5344CB8AC3E}">
        <p14:creationId xmlns:p14="http://schemas.microsoft.com/office/powerpoint/2010/main" val="20129130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Заявка проходит весь путь до подтверждения">
            <a:extLst xmlns:a="http://schemas.openxmlformats.org/drawingml/2006/main">
              <a:ext uri="{FF2B5EF4-FFF2-40B4-BE49-F238E27FC236}">
                <a16:creationId xmlns:a16="http://schemas.microsoft.com/office/drawing/2014/main" id="{7A57DA05-9D92-4B5C-9B04-C3DEEDBA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Заявка проходит весь путь до подтверждения</a:t>
            </a:r>
          </a:p>
        </p:txBody>
      </p:sp>
      <p:sp>
        <p:nvSpPr>
          <p:cNvPr id="2" name="Один пример: клиент сообщает о неисправности электротех">
            <a:extLst xmlns:a="http://schemas.openxmlformats.org/drawingml/2006/main">
              <a:ext uri="{FF2B5EF4-FFF2-40B4-BE49-F238E27FC236}">
                <a16:creationId xmlns:a16="http://schemas.microsoft.com/office/drawing/2014/main" id="{9D0EFD76-7DDA-4335-974A-1A3EE429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Один пример: клиент сообщает о неисправности электротехнического оборудования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5AE16987-9747-48C2-9B5F-E59D2ADF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2BEB1158-4BD6-4768-92CD-CF57CB65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Клиент регистрирует обращение">
            <a:extLst xmlns:a="http://schemas.openxmlformats.org/drawingml/2006/main">
              <a:ext uri="{FF2B5EF4-FFF2-40B4-BE49-F238E27FC236}">
                <a16:creationId xmlns:a16="http://schemas.microsoft.com/office/drawing/2014/main" id="{DB423DDA-CEC3-40CA-ACCB-FA12B26A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7645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23D"/>
                </a:solidFill>
                <a:latin typeface="Arial"/>
                <a:ea typeface="Arial"/>
                <a:cs typeface="Arial"/>
              </a:rPr>
              <a:t>Клиент регистрирует обращение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2E1BB7DB-1495-433B-A189-D13CCA83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3370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Диспетчер принимает и назначает">
            <a:extLst xmlns:a="http://schemas.openxmlformats.org/drawingml/2006/main">
              <a:ext uri="{FF2B5EF4-FFF2-40B4-BE49-F238E27FC236}">
                <a16:creationId xmlns:a16="http://schemas.microsoft.com/office/drawing/2014/main" id="{14FF6DEB-460D-4F76-B04B-5CA5E300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33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23D"/>
                </a:solidFill>
                <a:latin typeface="Arial"/>
                <a:ea typeface="Arial"/>
                <a:cs typeface="Arial"/>
              </a:rPr>
              <a:t>Диспетчер принимает и назначает</a:t>
            </a:r>
          </a:p>
        </p:txBody>
      </p:sp>
      <p:sp>
        <p:nvSpPr>
          <p:cNvPr id="8" name="03">
            <a:extLst xmlns:a="http://schemas.openxmlformats.org/drawingml/2006/main">
              <a:ext uri="{FF2B5EF4-FFF2-40B4-BE49-F238E27FC236}">
                <a16:creationId xmlns:a16="http://schemas.microsoft.com/office/drawing/2014/main" id="{31166080-CCB2-4649-BE9E-308FC71D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Инженер выполняет работу">
            <a:extLst xmlns:a="http://schemas.openxmlformats.org/drawingml/2006/main">
              <a:ext uri="{FF2B5EF4-FFF2-40B4-BE49-F238E27FC236}">
                <a16:creationId xmlns:a16="http://schemas.microsoft.com/office/drawing/2014/main" id="{0BB25222-E1C4-49DA-BEA5-06FE4849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9095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23D"/>
                </a:solidFill>
                <a:latin typeface="Arial"/>
                <a:ea typeface="Arial"/>
                <a:cs typeface="Arial"/>
              </a:rPr>
              <a:t>Инженер выполняет работу</a:t>
            </a:r>
          </a:p>
        </p:txBody>
      </p:sp>
      <p:sp>
        <p:nvSpPr>
          <p:cNvPr id="10" name="04">
            <a:extLst xmlns:a="http://schemas.openxmlformats.org/drawingml/2006/main">
              <a:ext uri="{FF2B5EF4-FFF2-40B4-BE49-F238E27FC236}">
                <a16:creationId xmlns:a16="http://schemas.microsoft.com/office/drawing/2014/main" id="{1576494D-45C9-489C-B962-12AA6FE9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4820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Клиент подтверждает результат">
            <a:extLst xmlns:a="http://schemas.openxmlformats.org/drawingml/2006/main">
              <a:ext uri="{FF2B5EF4-FFF2-40B4-BE49-F238E27FC236}">
                <a16:creationId xmlns:a16="http://schemas.microsoft.com/office/drawing/2014/main" id="{A322314C-F513-47CA-BFEB-CA6C4566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482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23D"/>
                </a:solidFill>
                <a:latin typeface="Arial"/>
                <a:ea typeface="Arial"/>
                <a:cs typeface="Arial"/>
              </a:rPr>
              <a:t>Клиент подтверждает результат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297B7C-59CC-40BD-8D8F-35D74CEBEE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4fbfa6d23248af"/>
          <a:srcRect xmlns:a="http://schemas.openxmlformats.org/drawingml/2006/main" l="18000" t="8000" r="2000" b="31000"/>
          <a:stretch xmlns:a="http://schemas.openxmlformats.org/drawingml/2006/main"/>
        </p:blipFill>
        <p:spPr>
          <a:xfrm xmlns:a="http://schemas.openxmlformats.org/drawingml/2006/main">
            <a:off x="4648200" y="1952625"/>
            <a:ext cx="7010400" cy="3619500"/>
          </a:xfrm>
          <a:prstGeom xmlns:a="http://schemas.openxmlformats.org/drawingml/2006/main" prst="rect">
            <a:avLst/>
          </a:prstGeom>
        </p:spPr>
      </p:pic>
      <p:sp>
        <p:nvSpPr>
          <p:cNvPr id="13" name="Пауза хранит причину и следующее действие. Возврат запу">
            <a:extLst xmlns:a="http://schemas.openxmlformats.org/drawingml/2006/main">
              <a:ext uri="{FF2B5EF4-FFF2-40B4-BE49-F238E27FC236}">
                <a16:creationId xmlns:a16="http://schemas.microsoft.com/office/drawing/2014/main" id="{B839385B-1703-4F24-AFDE-B227AD2C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Пауза хранит причину и следующее действие. Возврат запускает доработку.</a:t>
            </a:r>
          </a:p>
        </p:txBody>
      </p:sp>
    </p:spTree>
    <p:extLst>
      <p:ext uri="{BB962C8B-B14F-4D97-AF65-F5344CB8AC3E}">
        <p14:creationId xmlns:p14="http://schemas.microsoft.com/office/powerpoint/2010/main" val="327191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Реестр оборудования">
            <a:extLst xmlns:a="http://schemas.openxmlformats.org/drawingml/2006/main">
              <a:ext uri="{FF2B5EF4-FFF2-40B4-BE49-F238E27FC236}">
                <a16:creationId xmlns:a16="http://schemas.microsoft.com/office/drawing/2014/main" id="{2D4032C2-7AD4-4635-A6AE-156F182F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Реестр оборудования</a:t>
            </a:r>
          </a:p>
        </p:txBody>
      </p:sp>
      <p:sp>
        <p:nvSpPr>
          <p:cNvPr id="2" name="Объекты собраны по организациям и площадкам">
            <a:extLst xmlns:a="http://schemas.openxmlformats.org/drawingml/2006/main">
              <a:ext uri="{FF2B5EF4-FFF2-40B4-BE49-F238E27FC236}">
                <a16:creationId xmlns:a16="http://schemas.microsoft.com/office/drawing/2014/main" id="{7DBED674-2150-436B-9621-A07028F1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Объекты собраны по организациям и площадкам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45204469-CD3C-4157-9B5D-E9DBF4B7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Быстрый поиск">
            <a:extLst xmlns:a="http://schemas.openxmlformats.org/drawingml/2006/main">
              <a:ext uri="{FF2B5EF4-FFF2-40B4-BE49-F238E27FC236}">
                <a16:creationId xmlns:a16="http://schemas.microsoft.com/office/drawing/2014/main" id="{DE42D545-5FF8-4A10-904F-5BFF8D23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Быстрый поиск</a:t>
            </a:r>
          </a:p>
        </p:txBody>
      </p:sp>
      <p:sp>
        <p:nvSpPr>
          <p:cNvPr id="5" name="Название, модель или серийный номер.">
            <a:extLst xmlns:a="http://schemas.openxmlformats.org/drawingml/2006/main">
              <a:ext uri="{FF2B5EF4-FFF2-40B4-BE49-F238E27FC236}">
                <a16:creationId xmlns:a16="http://schemas.microsoft.com/office/drawing/2014/main" id="{BB6700FE-3450-4D24-9086-9A43EBC3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81275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Название, модель или серийный номер.</a:t>
            </a:r>
          </a:p>
        </p:txBody>
      </p:sp>
      <p:sp>
        <p:nvSpPr>
          <p:cNvPr id="6" name="Единые данные">
            <a:extLst xmlns:a="http://schemas.openxmlformats.org/drawingml/2006/main">
              <a:ext uri="{FF2B5EF4-FFF2-40B4-BE49-F238E27FC236}">
                <a16:creationId xmlns:a16="http://schemas.microsoft.com/office/drawing/2014/main" id="{0679D6E3-9916-484C-801D-57B79D30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861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Единые данные</a:t>
            </a:r>
          </a:p>
        </p:txBody>
      </p:sp>
      <p:sp>
        <p:nvSpPr>
          <p:cNvPr id="7" name="Тип, состояние, площадка и ближайший план.">
            <a:extLst xmlns:a="http://schemas.openxmlformats.org/drawingml/2006/main">
              <a:ext uri="{FF2B5EF4-FFF2-40B4-BE49-F238E27FC236}">
                <a16:creationId xmlns:a16="http://schemas.microsoft.com/office/drawing/2014/main" id="{843938E1-1EDC-49B0-902F-639C0FF8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719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Тип, состояние, площадка и ближайший план.</a:t>
            </a:r>
          </a:p>
        </p:txBody>
      </p:sp>
      <p:sp>
        <p:nvSpPr>
          <p:cNvPr id="8" name="Сохранение истории">
            <a:extLst xmlns:a="http://schemas.openxmlformats.org/drawingml/2006/main">
              <a:ext uri="{FF2B5EF4-FFF2-40B4-BE49-F238E27FC236}">
                <a16:creationId xmlns:a16="http://schemas.microsoft.com/office/drawing/2014/main" id="{41823BF8-112D-487C-95F2-DFEAB5A4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Сохранение истории</a:t>
            </a:r>
          </a:p>
        </p:txBody>
      </p:sp>
      <p:sp>
        <p:nvSpPr>
          <p:cNvPr id="9" name="Архивирование сохраняет связь с прошлыми работами.">
            <a:extLst xmlns:a="http://schemas.openxmlformats.org/drawingml/2006/main">
              <a:ext uri="{FF2B5EF4-FFF2-40B4-BE49-F238E27FC236}">
                <a16:creationId xmlns:a16="http://schemas.microsoft.com/office/drawing/2014/main" id="{E456D017-372A-4936-94F3-7B96CAF4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62525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Архивирование сохраняет связь с прошлыми работами.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2CE574-7490-4127-8718-3CF7C07996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b77cdffcb04f77"/>
          <a:srcRect xmlns:a="http://schemas.openxmlformats.org/drawingml/2006/main" l="18000" t="8000" r="2000" b="35000"/>
          <a:stretch xmlns:a="http://schemas.openxmlformats.org/drawingml/2006/main"/>
        </p:blipFill>
        <p:spPr>
          <a:xfrm xmlns:a="http://schemas.openxmlformats.org/drawingml/2006/main">
            <a:off x="3714750" y="1943100"/>
            <a:ext cx="7943850" cy="3838575"/>
          </a:xfrm>
          <a:prstGeom xmlns:a="http://schemas.openxmlformats.org/drawingml/2006/main" prst="rect">
            <a:avLst/>
          </a:prstGeom>
        </p:spPr>
      </p:pic>
      <p:sp>
        <p:nvSpPr>
          <p:cNvPr id="11" name="Польза для завода: проще определить объект и найти связ">
            <a:extLst xmlns:a="http://schemas.openxmlformats.org/drawingml/2006/main">
              <a:ext uri="{FF2B5EF4-FFF2-40B4-BE49-F238E27FC236}">
                <a16:creationId xmlns:a16="http://schemas.microsoft.com/office/drawing/2014/main" id="{59C4C8B5-F3B6-47DB-A95D-655844F0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Польза для завода: проще определить объект и найти связанные обращения.</a:t>
            </a:r>
          </a:p>
        </p:txBody>
      </p:sp>
    </p:spTree>
    <p:extLst>
      <p:ext uri="{BB962C8B-B14F-4D97-AF65-F5344CB8AC3E}">
        <p14:creationId xmlns:p14="http://schemas.microsoft.com/office/powerpoint/2010/main" val="18731686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Цифровой паспорт и история обслуживания">
            <a:extLst xmlns:a="http://schemas.openxmlformats.org/drawingml/2006/main">
              <a:ext uri="{FF2B5EF4-FFF2-40B4-BE49-F238E27FC236}">
                <a16:creationId xmlns:a16="http://schemas.microsoft.com/office/drawing/2014/main" id="{3D0C5555-B4B7-4B4C-8A3C-E55ED002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Цифровой паспорт и история обслуживания</a:t>
            </a:r>
          </a:p>
        </p:txBody>
      </p:sp>
      <p:sp>
        <p:nvSpPr>
          <p:cNvPr id="2" name="Характеристики и прошлые обращения доступны из карточки">
            <a:extLst xmlns:a="http://schemas.openxmlformats.org/drawingml/2006/main">
              <a:ext uri="{FF2B5EF4-FFF2-40B4-BE49-F238E27FC236}">
                <a16:creationId xmlns:a16="http://schemas.microsoft.com/office/drawing/2014/main" id="{A6DCFCA2-106E-4EE8-B4F7-200A2447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Характеристики и прошлые обращения доступны из карточки объекта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AD604A23-0E2D-46EE-AF59-7AFA3E05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2B903-67CA-4BF7-842F-181A528223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7cff059d96458d"/>
          <a:srcRect xmlns:a="http://schemas.openxmlformats.org/drawingml/2006/main" l="19000" t="7000" r="2000" b="39000"/>
          <a:stretch xmlns:a="http://schemas.openxmlformats.org/drawingml/2006/main"/>
        </p:blipFill>
        <p:spPr>
          <a:xfrm xmlns:a="http://schemas.openxmlformats.org/drawingml/2006/main">
            <a:off x="533400" y="2038350"/>
            <a:ext cx="6905625" cy="323850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9662C-96DB-44D1-BDC2-A8EE873D2B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03b58966364fe9"/>
          <a:srcRect xmlns:a="http://schemas.openxmlformats.org/drawingml/2006/main" l="19000" t="7000" r="2000" b="35000"/>
          <a:stretch xmlns:a="http://schemas.openxmlformats.org/drawingml/2006/main"/>
        </p:blipFill>
        <p:spPr>
          <a:xfrm xmlns:a="http://schemas.openxmlformats.org/drawingml/2006/main">
            <a:off x="7772400" y="2038350"/>
            <a:ext cx="3886200" cy="1962150"/>
          </a:xfrm>
          <a:prstGeom xmlns:a="http://schemas.openxmlformats.org/drawingml/2006/main" prst="rect">
            <a:avLst/>
          </a:prstGeom>
        </p:spPr>
      </p:pic>
      <p:sp>
        <p:nvSpPr>
          <p:cNvPr id="6" name="Технические данные">
            <a:extLst xmlns:a="http://schemas.openxmlformats.org/drawingml/2006/main">
              <a:ext uri="{FF2B5EF4-FFF2-40B4-BE49-F238E27FC236}">
                <a16:creationId xmlns:a16="http://schemas.microsoft.com/office/drawing/2014/main" id="{D4D04342-F62E-4DE5-887F-0B501281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690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Технические данные</a:t>
            </a:r>
          </a:p>
        </p:txBody>
      </p:sp>
      <p:sp>
        <p:nvSpPr>
          <p:cNvPr id="7" name="Модель, серийный номер, место установки и параметры.">
            <a:extLst xmlns:a="http://schemas.openxmlformats.org/drawingml/2006/main">
              <a:ext uri="{FF2B5EF4-FFF2-40B4-BE49-F238E27FC236}">
                <a16:creationId xmlns:a16="http://schemas.microsoft.com/office/drawing/2014/main" id="{F92A8EED-FACC-4973-8404-988A99F3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00725"/>
            <a:ext cx="69056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Модель, серийный номер, место установки и параметры.</a:t>
            </a:r>
          </a:p>
        </p:txBody>
      </p:sp>
      <p:sp>
        <p:nvSpPr>
          <p:cNvPr id="8" name="История по объекту">
            <a:extLst xmlns:a="http://schemas.openxmlformats.org/drawingml/2006/main">
              <a:ext uri="{FF2B5EF4-FFF2-40B4-BE49-F238E27FC236}">
                <a16:creationId xmlns:a16="http://schemas.microsoft.com/office/drawing/2014/main" id="{F2DF2870-B9F4-431E-89BC-2AE33AD1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391025"/>
            <a:ext cx="3886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История по объекту</a:t>
            </a:r>
          </a:p>
        </p:txBody>
      </p:sp>
      <p:sp>
        <p:nvSpPr>
          <p:cNvPr id="9" name="Заявки и результаты прошлых работ помогают подготовитьс">
            <a:extLst xmlns:a="http://schemas.openxmlformats.org/drawingml/2006/main">
              <a:ext uri="{FF2B5EF4-FFF2-40B4-BE49-F238E27FC236}">
                <a16:creationId xmlns:a16="http://schemas.microsoft.com/office/drawing/2014/main" id="{344F293C-B99A-4801-9CD5-F21230DC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867275"/>
            <a:ext cx="3886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Заявки и результаты прошлых работ помогают подготовиться к выезду.</a:t>
            </a:r>
          </a:p>
        </p:txBody>
      </p:sp>
    </p:spTree>
    <p:extLst>
      <p:ext uri="{BB962C8B-B14F-4D97-AF65-F5344CB8AC3E}">
        <p14:creationId xmlns:p14="http://schemas.microsoft.com/office/powerpoint/2010/main" val="14622388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QR-код открывает нужный объект">
            <a:extLst xmlns:a="http://schemas.openxmlformats.org/drawingml/2006/main">
              <a:ext uri="{FF2B5EF4-FFF2-40B4-BE49-F238E27FC236}">
                <a16:creationId xmlns:a16="http://schemas.microsoft.com/office/drawing/2014/main" id="{AB809188-A4E3-477B-BB53-BE0232CF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QR-код открывает нужный объект</a:t>
            </a:r>
          </a:p>
        </p:txBody>
      </p:sp>
      <p:sp>
        <p:nvSpPr>
          <p:cNvPr id="2" name="Сотрудник на площадке переходит к паспорту без ручного ">
            <a:extLst xmlns:a="http://schemas.openxmlformats.org/drawingml/2006/main">
              <a:ext uri="{FF2B5EF4-FFF2-40B4-BE49-F238E27FC236}">
                <a16:creationId xmlns:a16="http://schemas.microsoft.com/office/drawing/2014/main" id="{C9231E4F-658A-40C2-AF01-0D415641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Сотрудник на площадке переходит к паспорту без ручного поиска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092A1C13-5278-4D03-8028-F8F13DE3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37BE7-85E7-4433-A16B-E555287FC9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f9050264fc4290"/>
          <a:srcRect xmlns:a="http://schemas.openxmlformats.org/drawingml/2006/main" l="19000" t="7000" r="2000" b="23000"/>
          <a:stretch xmlns:a="http://schemas.openxmlformats.org/drawingml/2006/main"/>
        </p:blipFill>
        <p:spPr>
          <a:xfrm xmlns:a="http://schemas.openxmlformats.org/drawingml/2006/main">
            <a:off x="533400" y="2038350"/>
            <a:ext cx="5334000" cy="323850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19C87-A25C-4F9A-A8DD-8AAB4684D5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e9c26d19194084"/>
          <a:srcRect xmlns:a="http://schemas.openxmlformats.org/drawingml/2006/main" l="19000" t="7000" r="2000" b="18000"/>
          <a:stretch xmlns:a="http://schemas.openxmlformats.org/drawingml/2006/main"/>
        </p:blipFill>
        <p:spPr>
          <a:xfrm xmlns:a="http://schemas.openxmlformats.org/drawingml/2006/main">
            <a:off x="6324600" y="2038350"/>
            <a:ext cx="5334000" cy="3238500"/>
          </a:xfrm>
          <a:prstGeom xmlns:a="http://schemas.openxmlformats.org/drawingml/2006/main" prst="rect">
            <a:avLst/>
          </a:prstGeom>
        </p:spPr>
      </p:pic>
      <p:sp>
        <p:nvSpPr>
          <p:cNvPr id="6" name="Печать маркировки">
            <a:extLst xmlns:a="http://schemas.openxmlformats.org/drawingml/2006/main">
              <a:ext uri="{FF2B5EF4-FFF2-40B4-BE49-F238E27FC236}">
                <a16:creationId xmlns:a16="http://schemas.microsoft.com/office/drawing/2014/main" id="{8DBCFFD6-0D38-4A8E-9CBC-BE690E6B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05450"/>
            <a:ext cx="533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Печать маркировки</a:t>
            </a:r>
          </a:p>
        </p:txBody>
      </p:sp>
      <p:sp>
        <p:nvSpPr>
          <p:cNvPr id="7" name="Этикетки и экспорт в PDF, PNG или SVG.">
            <a:extLst xmlns:a="http://schemas.openxmlformats.org/drawingml/2006/main">
              <a:ext uri="{FF2B5EF4-FFF2-40B4-BE49-F238E27FC236}">
                <a16:creationId xmlns:a16="http://schemas.microsoft.com/office/drawing/2014/main" id="{02D9A5BD-43CB-4CFB-9C34-1B1EA8E5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Этикетки и экспорт в PDF, PNG или SVG.</a:t>
            </a:r>
          </a:p>
        </p:txBody>
      </p:sp>
      <p:sp>
        <p:nvSpPr>
          <p:cNvPr id="8" name="Сканирование в браузере">
            <a:extLst xmlns:a="http://schemas.openxmlformats.org/drawingml/2006/main">
              <a:ext uri="{FF2B5EF4-FFF2-40B4-BE49-F238E27FC236}">
                <a16:creationId xmlns:a16="http://schemas.microsoft.com/office/drawing/2014/main" id="{75E0D1B0-F116-43A0-B9AD-63DE8E07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505450"/>
            <a:ext cx="533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Сканирование в браузере</a:t>
            </a:r>
          </a:p>
        </p:txBody>
      </p:sp>
      <p:sp>
        <p:nvSpPr>
          <p:cNvPr id="9" name="Камера, изображение с кодом или ручной поиск.">
            <a:extLst xmlns:a="http://schemas.openxmlformats.org/drawingml/2006/main">
              <a:ext uri="{FF2B5EF4-FFF2-40B4-BE49-F238E27FC236}">
                <a16:creationId xmlns:a16="http://schemas.microsoft.com/office/drawing/2014/main" id="{5F346676-7279-4383-AC37-8CFBAF96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905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Камера, изображение с кодом или ручной поиск.</a:t>
            </a:r>
          </a:p>
        </p:txBody>
      </p:sp>
    </p:spTree>
    <p:extLst>
      <p:ext uri="{BB962C8B-B14F-4D97-AF65-F5344CB8AC3E}">
        <p14:creationId xmlns:p14="http://schemas.microsoft.com/office/powerpoint/2010/main" val="18837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Регистрация и назначение исполнителя">
            <a:extLst xmlns:a="http://schemas.openxmlformats.org/drawingml/2006/main">
              <a:ext uri="{FF2B5EF4-FFF2-40B4-BE49-F238E27FC236}">
                <a16:creationId xmlns:a16="http://schemas.microsoft.com/office/drawing/2014/main" id="{7CB239DB-7A12-4A6F-88E0-DE5B49C8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Регистрация и назначение исполнителя</a:t>
            </a:r>
          </a:p>
        </p:txBody>
      </p:sp>
      <p:sp>
        <p:nvSpPr>
          <p:cNvPr id="2" name="Обращение сразу получает объект, описание и приоритет">
            <a:extLst xmlns:a="http://schemas.openxmlformats.org/drawingml/2006/main">
              <a:ext uri="{FF2B5EF4-FFF2-40B4-BE49-F238E27FC236}">
                <a16:creationId xmlns:a16="http://schemas.microsoft.com/office/drawing/2014/main" id="{31721464-41B1-4923-9B7C-C2E6A240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Обращение сразу получает объект, описание и приоритет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6AED6A08-04E3-4E40-A082-338430C0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F7CBC-1FA5-430D-BAC6-C03510FB9F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0396ce010148a5"/>
          <a:srcRect xmlns:a="http://schemas.openxmlformats.org/drawingml/2006/main" l="19000" t="7000" r="2000" b="29000"/>
          <a:stretch xmlns:a="http://schemas.openxmlformats.org/drawingml/2006/main"/>
        </p:blipFill>
        <p:spPr>
          <a:xfrm xmlns:a="http://schemas.openxmlformats.org/drawingml/2006/main">
            <a:off x="533400" y="2009775"/>
            <a:ext cx="6600825" cy="349567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D3D41-33B6-4D07-ACBD-D4C8331DB1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57b1f2491a4d33"/>
          <a:srcRect xmlns:a="http://schemas.openxmlformats.org/drawingml/2006/main" l="32500" t="22500" r="32500" b="33500"/>
          <a:stretch xmlns:a="http://schemas.openxmlformats.org/drawingml/2006/main"/>
        </p:blipFill>
        <p:spPr>
          <a:xfrm xmlns:a="http://schemas.openxmlformats.org/drawingml/2006/main">
            <a:off x="7562850" y="2009775"/>
            <a:ext cx="4095750" cy="3495675"/>
          </a:xfrm>
          <a:prstGeom xmlns:a="http://schemas.openxmlformats.org/drawingml/2006/main" prst="rect">
            <a:avLst/>
          </a:prstGeom>
        </p:spPr>
      </p:pic>
      <p:sp>
        <p:nvSpPr>
          <p:cNvPr id="6" name="Клиент описывает неисправность">
            <a:extLst xmlns:a="http://schemas.openxmlformats.org/drawingml/2006/main">
              <a:ext uri="{FF2B5EF4-FFF2-40B4-BE49-F238E27FC236}">
                <a16:creationId xmlns:a16="http://schemas.microsoft.com/office/drawing/2014/main" id="{734278A1-08E1-44C9-8065-5FB4B6C0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43575"/>
            <a:ext cx="66008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Клиент описывает неисправность</a:t>
            </a:r>
          </a:p>
        </p:txBody>
      </p:sp>
      <p:sp>
        <p:nvSpPr>
          <p:cNvPr id="7" name="Диспетчер назначает инженера">
            <a:extLst xmlns:a="http://schemas.openxmlformats.org/drawingml/2006/main">
              <a:ext uri="{FF2B5EF4-FFF2-40B4-BE49-F238E27FC236}">
                <a16:creationId xmlns:a16="http://schemas.microsoft.com/office/drawing/2014/main" id="{6F8B49A3-2B7B-46E9-BCB4-D3C9B40A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74357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Диспетчер назначает инженера</a:t>
            </a:r>
          </a:p>
        </p:txBody>
      </p:sp>
    </p:spTree>
    <p:extLst>
      <p:ext uri="{BB962C8B-B14F-4D97-AF65-F5344CB8AC3E}">
        <p14:creationId xmlns:p14="http://schemas.microsoft.com/office/powerpoint/2010/main" val="8105614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Канбан показывает общую очередь">
            <a:extLst xmlns:a="http://schemas.openxmlformats.org/drawingml/2006/main">
              <a:ext uri="{FF2B5EF4-FFF2-40B4-BE49-F238E27FC236}">
                <a16:creationId xmlns:a16="http://schemas.microsoft.com/office/drawing/2014/main" id="{B371462E-BA19-41F0-BC8A-65FEFDB0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Канбан показывает общую очередь</a:t>
            </a:r>
          </a:p>
        </p:txBody>
      </p:sp>
      <p:sp>
        <p:nvSpPr>
          <p:cNvPr id="2" name="Статусы, исполнители и приоритеты видны на одной доске">
            <a:extLst xmlns:a="http://schemas.openxmlformats.org/drawingml/2006/main">
              <a:ext uri="{FF2B5EF4-FFF2-40B4-BE49-F238E27FC236}">
                <a16:creationId xmlns:a16="http://schemas.microsoft.com/office/drawing/2014/main" id="{E6EFAA90-E579-4D39-89BF-E268ADC4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Статусы, исполнители и приоритеты видны на одной доске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257D0ED9-059E-483E-B44A-D1124073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E12799-3668-4D6F-A0B1-0921BC37FF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874e54006c44c9"/>
          <a:srcRect xmlns:a="http://schemas.openxmlformats.org/drawingml/2006/main" l="18000" t="8000" r="1500" b="30000"/>
          <a:stretch xmlns:a="http://schemas.openxmlformats.org/drawingml/2006/main"/>
        </p:blipFill>
        <p:spPr>
          <a:xfrm xmlns:a="http://schemas.openxmlformats.org/drawingml/2006/main">
            <a:off x="533400" y="1943100"/>
            <a:ext cx="11125200" cy="3810000"/>
          </a:xfrm>
          <a:prstGeom xmlns:a="http://schemas.openxmlformats.org/drawingml/2006/main" prst="rect">
            <a:avLst/>
          </a:prstGeom>
        </p:spPr>
      </p:pic>
      <p:sp>
        <p:nvSpPr>
          <p:cNvPr id="5" name="Фильтры помогают выделить срочные, просроченные и назна">
            <a:extLst xmlns:a="http://schemas.openxmlformats.org/drawingml/2006/main">
              <a:ext uri="{FF2B5EF4-FFF2-40B4-BE49-F238E27FC236}">
                <a16:creationId xmlns:a16="http://schemas.microsoft.com/office/drawing/2014/main" id="{363EFB46-3486-4411-A6DE-14EDA52D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Фильтры помогают выделить срочные, просроченные и назначенные заявки.</a:t>
            </a:r>
          </a:p>
        </p:txBody>
      </p:sp>
    </p:spTree>
    <p:extLst>
      <p:ext uri="{BB962C8B-B14F-4D97-AF65-F5344CB8AC3E}">
        <p14:creationId xmlns:p14="http://schemas.microsoft.com/office/powerpoint/2010/main" val="7277179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Инженер получает персональный список задач">
            <a:extLst xmlns:a="http://schemas.openxmlformats.org/drawingml/2006/main">
              <a:ext uri="{FF2B5EF4-FFF2-40B4-BE49-F238E27FC236}">
                <a16:creationId xmlns:a16="http://schemas.microsoft.com/office/drawing/2014/main" id="{805C2CF0-8F18-459F-8F9D-45DF97B1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Инженер получает персональный список задач</a:t>
            </a:r>
          </a:p>
        </p:txBody>
      </p:sp>
      <p:sp>
        <p:nvSpPr>
          <p:cNvPr id="2" name="Рабочий интерфейс доступен с компьютера и телефона">
            <a:extLst xmlns:a="http://schemas.openxmlformats.org/drawingml/2006/main">
              <a:ext uri="{FF2B5EF4-FFF2-40B4-BE49-F238E27FC236}">
                <a16:creationId xmlns:a16="http://schemas.microsoft.com/office/drawing/2014/main" id="{01B115F9-1A11-40E1-B53E-9D5EEA3C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Рабочий интерфейс доступен с компьютера и телефона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7AFFB1CE-3802-4C58-8C02-A8ACA41E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85437-8D18-4327-A03E-09843FF3A2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67eebd74db4d68"/>
          <a:srcRect xmlns:a="http://schemas.openxmlformats.org/drawingml/2006/main" l="19000" t="7000" r="2000" b="39000"/>
          <a:stretch xmlns:a="http://schemas.openxmlformats.org/drawingml/2006/main"/>
        </p:blipFill>
        <p:spPr>
          <a:xfrm xmlns:a="http://schemas.openxmlformats.org/drawingml/2006/main">
            <a:off x="533400" y="2076450"/>
            <a:ext cx="7000875" cy="318135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5122F-5BEB-4926-883B-AB69B0E462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492ee7c5f468d"/>
          <a:stretch xmlns:a="http://schemas.openxmlformats.org/drawingml/2006/main"/>
        </p:blipFill>
        <p:spPr>
          <a:xfrm xmlns:a="http://schemas.openxmlformats.org/drawingml/2006/main">
            <a:off x="8884884" y="1885950"/>
            <a:ext cx="2042232" cy="4419600"/>
          </a:xfrm>
          <a:prstGeom xmlns:a="http://schemas.openxmlformats.org/drawingml/2006/main" prst="rect">
            <a:avLst/>
          </a:prstGeom>
        </p:spPr>
      </p:pic>
      <p:sp>
        <p:nvSpPr>
          <p:cNvPr id="6" name="На первом плане текущие задания">
            <a:extLst xmlns:a="http://schemas.openxmlformats.org/drawingml/2006/main">
              <a:ext uri="{FF2B5EF4-FFF2-40B4-BE49-F238E27FC236}">
                <a16:creationId xmlns:a16="http://schemas.microsoft.com/office/drawing/2014/main" id="{27BB49E1-24D3-4031-AFDB-0E01C78C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72125"/>
            <a:ext cx="723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На первом плане текущие задания</a:t>
            </a:r>
          </a:p>
        </p:txBody>
      </p:sp>
      <p:sp>
        <p:nvSpPr>
          <p:cNvPr id="7" name="Объект, адрес, срок и действие для продолжения работы.">
            <a:extLst xmlns:a="http://schemas.openxmlformats.org/drawingml/2006/main">
              <a:ext uri="{FF2B5EF4-FFF2-40B4-BE49-F238E27FC236}">
                <a16:creationId xmlns:a16="http://schemas.microsoft.com/office/drawing/2014/main" id="{4AB93900-A251-4139-AF1D-62307CE3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912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Объект, адрес, срок и действие для продолжения работы.</a:t>
            </a:r>
          </a:p>
        </p:txBody>
      </p:sp>
    </p:spTree>
    <p:extLst>
      <p:ext uri="{BB962C8B-B14F-4D97-AF65-F5344CB8AC3E}">
        <p14:creationId xmlns:p14="http://schemas.microsoft.com/office/powerpoint/2010/main" val="4957609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Отчёт помогает проверить полноту работ">
            <a:extLst xmlns:a="http://schemas.openxmlformats.org/drawingml/2006/main">
              <a:ext uri="{FF2B5EF4-FFF2-40B4-BE49-F238E27FC236}">
                <a16:creationId xmlns:a16="http://schemas.microsoft.com/office/drawing/2014/main" id="{D923C74F-2868-4AD7-AFBA-19D67218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Отчёт помогает проверить полноту работ</a:t>
            </a:r>
          </a:p>
        </p:txBody>
      </p:sp>
      <p:sp>
        <p:nvSpPr>
          <p:cNvPr id="2" name="Диагностика и чек-лист фиксируют результат в едином фор">
            <a:extLst xmlns:a="http://schemas.openxmlformats.org/drawingml/2006/main">
              <a:ext uri="{FF2B5EF4-FFF2-40B4-BE49-F238E27FC236}">
                <a16:creationId xmlns:a16="http://schemas.microsoft.com/office/drawing/2014/main" id="{CAA5D15A-5946-4198-81CF-302F998D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Диагностика и чек-лист фиксируют результат в едином формате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E445EC3D-5F79-4574-9D56-77FD3FDD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D7022-2B95-4714-A64C-09F47C15A2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11928158c74486"/>
          <a:srcRect xmlns:a="http://schemas.openxmlformats.org/drawingml/2006/main" l="19000" t="10000" r="2000" b="10000"/>
          <a:stretch xmlns:a="http://schemas.openxmlformats.org/drawingml/2006/main"/>
        </p:blipFill>
        <p:spPr>
          <a:xfrm xmlns:a="http://schemas.openxmlformats.org/drawingml/2006/main">
            <a:off x="533400" y="2076450"/>
            <a:ext cx="6858000" cy="309562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C37258-78C3-44B2-972C-B5666A7AEC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57099f46e14dd9"/>
          <a:srcRect xmlns:a="http://schemas.openxmlformats.org/drawingml/2006/main" l="41000" t="8000" r="2000" b="15000"/>
          <a:stretch xmlns:a="http://schemas.openxmlformats.org/drawingml/2006/main"/>
        </p:blipFill>
        <p:spPr>
          <a:xfrm xmlns:a="http://schemas.openxmlformats.org/drawingml/2006/main">
            <a:off x="7829550" y="2076450"/>
            <a:ext cx="3829050" cy="3543300"/>
          </a:xfrm>
          <a:prstGeom xmlns:a="http://schemas.openxmlformats.org/drawingml/2006/main" prst="rect">
            <a:avLst/>
          </a:prstGeom>
        </p:spPr>
      </p:pic>
      <p:sp>
        <p:nvSpPr>
          <p:cNvPr id="6" name="Последовательное заполнение">
            <a:extLst xmlns:a="http://schemas.openxmlformats.org/drawingml/2006/main">
              <a:ext uri="{FF2B5EF4-FFF2-40B4-BE49-F238E27FC236}">
                <a16:creationId xmlns:a16="http://schemas.microsoft.com/office/drawing/2014/main" id="{DD7C822F-7CBE-477F-9BFE-55033964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5782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Последовательное заполнение</a:t>
            </a:r>
          </a:p>
        </p:txBody>
      </p:sp>
      <p:sp>
        <p:nvSpPr>
          <p:cNvPr id="7" name="Диагностика, работы, материалы, фото и итоговая проверк">
            <a:extLst xmlns:a="http://schemas.openxmlformats.org/drawingml/2006/main">
              <a:ext uri="{FF2B5EF4-FFF2-40B4-BE49-F238E27FC236}">
                <a16:creationId xmlns:a16="http://schemas.microsoft.com/office/drawing/2014/main" id="{7C2E193D-4302-4266-B086-1D165181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864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Диагностика, работы, материалы, фото и итоговая проверка.</a:t>
            </a:r>
          </a:p>
        </p:txBody>
      </p:sp>
      <p:sp>
        <p:nvSpPr>
          <p:cNvPr id="8" name="Обязательные пункты">
            <a:extLst xmlns:a="http://schemas.openxmlformats.org/drawingml/2006/main">
              <a:ext uri="{FF2B5EF4-FFF2-40B4-BE49-F238E27FC236}">
                <a16:creationId xmlns:a16="http://schemas.microsoft.com/office/drawing/2014/main" id="{79B8E646-0E75-42DE-B2A3-099E93CA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857875"/>
            <a:ext cx="3829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Обязательные пункты</a:t>
            </a:r>
          </a:p>
        </p:txBody>
      </p:sp>
    </p:spTree>
    <p:extLst>
      <p:ext uri="{BB962C8B-B14F-4D97-AF65-F5344CB8AC3E}">
        <p14:creationId xmlns:p14="http://schemas.microsoft.com/office/powerpoint/2010/main" val="13827391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Сроки и задержки доступны для контроля">
            <a:extLst xmlns:a="http://schemas.openxmlformats.org/drawingml/2006/main">
              <a:ext uri="{FF2B5EF4-FFF2-40B4-BE49-F238E27FC236}">
                <a16:creationId xmlns:a16="http://schemas.microsoft.com/office/drawing/2014/main" id="{E4F65A1D-5226-45E2-9302-7CD54F5C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Сроки и задержки доступны для контроля</a:t>
            </a:r>
          </a:p>
        </p:txBody>
      </p:sp>
      <p:sp>
        <p:nvSpPr>
          <p:cNvPr id="2" name="Шкала SLA дополняет канбан и календарь работ">
            <a:extLst xmlns:a="http://schemas.openxmlformats.org/drawingml/2006/main">
              <a:ext uri="{FF2B5EF4-FFF2-40B4-BE49-F238E27FC236}">
                <a16:creationId xmlns:a16="http://schemas.microsoft.com/office/drawing/2014/main" id="{3B5552FD-C140-4229-AD2B-3062C443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Шкала SLA дополняет канбан и календарь работ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E686AB7E-4845-48F8-B9AF-2EF5B7B2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FD892-BDD2-4E12-95ED-A741D6BF1B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de4dafa43f49d2"/>
          <a:srcRect xmlns:a="http://schemas.openxmlformats.org/drawingml/2006/main" l="18000" t="8000" r="1500" b="30000"/>
          <a:stretch xmlns:a="http://schemas.openxmlformats.org/drawingml/2006/main"/>
        </p:blipFill>
        <p:spPr>
          <a:xfrm xmlns:a="http://schemas.openxmlformats.org/drawingml/2006/main">
            <a:off x="533400" y="2038350"/>
            <a:ext cx="8001000" cy="3629025"/>
          </a:xfrm>
          <a:prstGeom xmlns:a="http://schemas.openxmlformats.org/drawingml/2006/main" prst="rect">
            <a:avLst/>
          </a:prstGeom>
        </p:spPr>
      </p:pic>
      <p:sp>
        <p:nvSpPr>
          <p:cNvPr id="5" name="Контроль сроков">
            <a:extLst xmlns:a="http://schemas.openxmlformats.org/drawingml/2006/main">
              <a:ext uri="{FF2B5EF4-FFF2-40B4-BE49-F238E27FC236}">
                <a16:creationId xmlns:a16="http://schemas.microsoft.com/office/drawing/2014/main" id="{8E37A9BA-10ED-4B51-8713-46458B6C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0980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Контроль сроков</a:t>
            </a:r>
          </a:p>
        </p:txBody>
      </p:sp>
      <p:sp>
        <p:nvSpPr>
          <p:cNvPr id="6" name="Срок реакции и срок выполнения по приоритету.">
            <a:extLst xmlns:a="http://schemas.openxmlformats.org/drawingml/2006/main">
              <a:ext uri="{FF2B5EF4-FFF2-40B4-BE49-F238E27FC236}">
                <a16:creationId xmlns:a16="http://schemas.microsoft.com/office/drawing/2014/main" id="{D403EC83-5F47-4BC2-9565-78641FA9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95575"/>
            <a:ext cx="2800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Срок реакции и срок выполнения по приоритету.</a:t>
            </a:r>
          </a:p>
        </p:txBody>
      </p:sp>
      <p:sp>
        <p:nvSpPr>
          <p:cNvPr id="7" name="Понятная пауза">
            <a:extLst xmlns:a="http://schemas.openxmlformats.org/drawingml/2006/main">
              <a:ext uri="{FF2B5EF4-FFF2-40B4-BE49-F238E27FC236}">
                <a16:creationId xmlns:a16="http://schemas.microsoft.com/office/drawing/2014/main" id="{AC21095C-A750-4B89-AE55-E3BC8F8C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14775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Понятная пауза</a:t>
            </a:r>
          </a:p>
        </p:txBody>
      </p:sp>
      <p:sp>
        <p:nvSpPr>
          <p:cNvPr id="8" name="Причина, следующее действие и срок возобновления.">
            <a:extLst xmlns:a="http://schemas.openxmlformats.org/drawingml/2006/main">
              <a:ext uri="{FF2B5EF4-FFF2-40B4-BE49-F238E27FC236}">
                <a16:creationId xmlns:a16="http://schemas.microsoft.com/office/drawing/2014/main" id="{2F3A4894-6EE8-4BB9-80B7-1E199709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00550"/>
            <a:ext cx="2800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Причина, следующее действие и срок возобновления.</a:t>
            </a:r>
          </a:p>
        </p:txBody>
      </p:sp>
      <p:sp>
        <p:nvSpPr>
          <p:cNvPr id="9" name="Просроченные обращения помогают определить, где требует">
            <a:extLst xmlns:a="http://schemas.openxmlformats.org/drawingml/2006/main">
              <a:ext uri="{FF2B5EF4-FFF2-40B4-BE49-F238E27FC236}">
                <a16:creationId xmlns:a16="http://schemas.microsoft.com/office/drawing/2014/main" id="{09204878-BE15-4099-ACDF-9854323B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Просроченные обращения помогают определить, где требуется вмешательство.</a:t>
            </a:r>
          </a:p>
        </p:txBody>
      </p:sp>
    </p:spTree>
    <p:extLst>
      <p:ext uri="{BB962C8B-B14F-4D97-AF65-F5344CB8AC3E}">
        <p14:creationId xmlns:p14="http://schemas.microsoft.com/office/powerpoint/2010/main" val="4486015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Результат подтверждает клиент">
            <a:extLst xmlns:a="http://schemas.openxmlformats.org/drawingml/2006/main">
              <a:ext uri="{FF2B5EF4-FFF2-40B4-BE49-F238E27FC236}">
                <a16:creationId xmlns:a16="http://schemas.microsoft.com/office/drawing/2014/main" id="{C72FE3E1-1D24-4037-BEB9-A5454AAC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Результат подтверждает клиент</a:t>
            </a:r>
          </a:p>
        </p:txBody>
      </p:sp>
      <p:sp>
        <p:nvSpPr>
          <p:cNvPr id="2" name="Система формирует акт по отчёту и сохраняет историю вер">
            <a:extLst xmlns:a="http://schemas.openxmlformats.org/drawingml/2006/main">
              <a:ext uri="{FF2B5EF4-FFF2-40B4-BE49-F238E27FC236}">
                <a16:creationId xmlns:a16="http://schemas.microsoft.com/office/drawing/2014/main" id="{7D5E659A-EA80-4228-BF72-D9A19D5F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Система формирует акт по отчёту и сохраняет историю версий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0EA1C206-AE75-41BF-858B-8815EFC8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BE1609-5800-4978-AAB3-0A016C57AE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a5144cf9f54215"/>
          <a:srcRect xmlns:a="http://schemas.openxmlformats.org/drawingml/2006/main" l="19000" t="8000" r="2000" b="28000"/>
          <a:stretch xmlns:a="http://schemas.openxmlformats.org/drawingml/2006/main"/>
        </p:blipFill>
        <p:spPr>
          <a:xfrm xmlns:a="http://schemas.openxmlformats.org/drawingml/2006/main">
            <a:off x="533400" y="2038350"/>
            <a:ext cx="6924675" cy="358140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9E3EC4-A8F7-47D6-A37F-80FBB05FB0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2e17869aad470b"/>
          <a:srcRect xmlns:a="http://schemas.openxmlformats.org/drawingml/2006/main" l="24000" t="8000" r="11000" b="0"/>
          <a:stretch xmlns:a="http://schemas.openxmlformats.org/drawingml/2006/main"/>
        </p:blipFill>
        <p:spPr>
          <a:xfrm xmlns:a="http://schemas.openxmlformats.org/drawingml/2006/main">
            <a:off x="7934325" y="2038350"/>
            <a:ext cx="3724275" cy="3581400"/>
          </a:xfrm>
          <a:prstGeom xmlns:a="http://schemas.openxmlformats.org/drawingml/2006/main" prst="rect">
            <a:avLst/>
          </a:prstGeom>
        </p:spPr>
      </p:pic>
      <p:sp>
        <p:nvSpPr>
          <p:cNvPr id="6" name="Клиент принимает работу или возвращает её на доработку ">
            <a:extLst xmlns:a="http://schemas.openxmlformats.org/drawingml/2006/main">
              <a:ext uri="{FF2B5EF4-FFF2-40B4-BE49-F238E27FC236}">
                <a16:creationId xmlns:a16="http://schemas.microsoft.com/office/drawing/2014/main" id="{2E86EFDE-670E-4F19-9DEF-E76C21BF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Клиент принимает работу или возвращает её на доработку с замечаниями.</a:t>
            </a:r>
          </a:p>
        </p:txBody>
      </p:sp>
    </p:spTree>
    <p:extLst>
      <p:ext uri="{BB962C8B-B14F-4D97-AF65-F5344CB8AC3E}">
        <p14:creationId xmlns:p14="http://schemas.microsoft.com/office/powerpoint/2010/main" val="13387724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Плановое обслуживание создаёт будущие работы">
            <a:extLst xmlns:a="http://schemas.openxmlformats.org/drawingml/2006/main">
              <a:ext uri="{FF2B5EF4-FFF2-40B4-BE49-F238E27FC236}">
                <a16:creationId xmlns:a16="http://schemas.microsoft.com/office/drawing/2014/main" id="{2F8372C1-7B1B-49A0-AE9C-87261D19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Плановое обслуживание создаёт будущие работы</a:t>
            </a:r>
          </a:p>
        </p:txBody>
      </p:sp>
      <p:sp>
        <p:nvSpPr>
          <p:cNvPr id="2" name="Периодические планы связаны с оборудованием">
            <a:extLst xmlns:a="http://schemas.openxmlformats.org/drawingml/2006/main">
              <a:ext uri="{FF2B5EF4-FFF2-40B4-BE49-F238E27FC236}">
                <a16:creationId xmlns:a16="http://schemas.microsoft.com/office/drawing/2014/main" id="{E8B3CA43-B20D-4256-AE2E-28D3FEFD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Периодические планы связаны с оборудованием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E5EB03AA-0111-4726-998B-B35E005F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9309F7-1551-4105-8680-95AD856A2E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b15cb375284cc7"/>
          <a:srcRect xmlns:a="http://schemas.openxmlformats.org/drawingml/2006/main" l="19000" t="7000" r="2000" b="64000"/>
          <a:stretch xmlns:a="http://schemas.openxmlformats.org/drawingml/2006/main"/>
        </p:blipFill>
        <p:spPr>
          <a:xfrm xmlns:a="http://schemas.openxmlformats.org/drawingml/2006/main">
            <a:off x="533400" y="2114550"/>
            <a:ext cx="11125200" cy="2505075"/>
          </a:xfrm>
          <a:prstGeom xmlns:a="http://schemas.openxmlformats.org/drawingml/2006/main" prst="rect">
            <a:avLst/>
          </a:prstGeom>
        </p:spPr>
      </p:pic>
      <p:sp>
        <p:nvSpPr>
          <p:cNvPr id="5" name="Периодичность">
            <a:extLst xmlns:a="http://schemas.openxmlformats.org/drawingml/2006/main">
              <a:ext uri="{FF2B5EF4-FFF2-40B4-BE49-F238E27FC236}">
                <a16:creationId xmlns:a16="http://schemas.microsoft.com/office/drawing/2014/main" id="{29080EB7-D2EE-4164-87D2-3225FAEA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577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Периодичность</a:t>
            </a:r>
          </a:p>
        </p:txBody>
      </p:sp>
      <p:sp>
        <p:nvSpPr>
          <p:cNvPr id="6" name="Интервал и дата следующего обслуживания.">
            <a:extLst xmlns:a="http://schemas.openxmlformats.org/drawingml/2006/main">
              <a:ext uri="{FF2B5EF4-FFF2-40B4-BE49-F238E27FC236}">
                <a16:creationId xmlns:a16="http://schemas.microsoft.com/office/drawing/2014/main" id="{55AF9334-0295-48A3-982D-FFAE4C4A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3402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Интервал и дата следующего обслуживания.</a:t>
            </a:r>
          </a:p>
        </p:txBody>
      </p:sp>
      <p:sp>
        <p:nvSpPr>
          <p:cNvPr id="7" name="Подготовка заранее">
            <a:extLst xmlns:a="http://schemas.openxmlformats.org/drawingml/2006/main">
              <a:ext uri="{FF2B5EF4-FFF2-40B4-BE49-F238E27FC236}">
                <a16:creationId xmlns:a16="http://schemas.microsoft.com/office/drawing/2014/main" id="{3284911D-85FE-4BCA-BCCB-9273CE89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577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Подготовка заранее</a:t>
            </a:r>
          </a:p>
        </p:txBody>
      </p:sp>
      <p:sp>
        <p:nvSpPr>
          <p:cNvPr id="8" name="Плановая заявка появляется до срока выполнения.">
            <a:extLst xmlns:a="http://schemas.openxmlformats.org/drawingml/2006/main">
              <a:ext uri="{FF2B5EF4-FFF2-40B4-BE49-F238E27FC236}">
                <a16:creationId xmlns:a16="http://schemas.microsoft.com/office/drawing/2014/main" id="{89F88F96-B7DC-452F-9640-4A2BC303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3402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Плановая заявка появляется до срока выполнения.</a:t>
            </a:r>
          </a:p>
        </p:txBody>
      </p:sp>
      <p:sp>
        <p:nvSpPr>
          <p:cNvPr id="9" name="Общая очередь">
            <a:extLst xmlns:a="http://schemas.openxmlformats.org/drawingml/2006/main">
              <a:ext uri="{FF2B5EF4-FFF2-40B4-BE49-F238E27FC236}">
                <a16:creationId xmlns:a16="http://schemas.microsoft.com/office/drawing/2014/main" id="{072AFBF1-D3D7-49AC-869F-87EFCF27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57775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Общая очередь</a:t>
            </a:r>
          </a:p>
        </p:txBody>
      </p:sp>
      <p:sp>
        <p:nvSpPr>
          <p:cNvPr id="10" name="Плановые работы проходят обычный сервисный процесс.">
            <a:extLst xmlns:a="http://schemas.openxmlformats.org/drawingml/2006/main">
              <a:ext uri="{FF2B5EF4-FFF2-40B4-BE49-F238E27FC236}">
                <a16:creationId xmlns:a16="http://schemas.microsoft.com/office/drawing/2014/main" id="{2BD08BFA-0EF0-47B4-B824-925E4166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534025"/>
            <a:ext cx="350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Плановые работы проходят обычный сервисный процесс.</a:t>
            </a:r>
          </a:p>
        </p:txBody>
      </p:sp>
    </p:spTree>
    <p:extLst>
      <p:ext uri="{BB962C8B-B14F-4D97-AF65-F5344CB8AC3E}">
        <p14:creationId xmlns:p14="http://schemas.microsoft.com/office/powerpoint/2010/main" val="72645862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Карта помогает ориентироваться по площадкам">
            <a:extLst xmlns:a="http://schemas.openxmlformats.org/drawingml/2006/main">
              <a:ext uri="{FF2B5EF4-FFF2-40B4-BE49-F238E27FC236}">
                <a16:creationId xmlns:a16="http://schemas.microsoft.com/office/drawing/2014/main" id="{5CDD89BE-6E66-45E7-8863-053A3AC0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Карта помогает ориентироваться по площадкам</a:t>
            </a:r>
          </a:p>
        </p:txBody>
      </p:sp>
      <p:sp>
        <p:nvSpPr>
          <p:cNvPr id="2" name="Оборудование и сервисные сигналы отображаются по местоп">
            <a:extLst xmlns:a="http://schemas.openxmlformats.org/drawingml/2006/main">
              <a:ext uri="{FF2B5EF4-FFF2-40B4-BE49-F238E27FC236}">
                <a16:creationId xmlns:a16="http://schemas.microsoft.com/office/drawing/2014/main" id="{010E6691-BA65-44D4-9D77-8153674C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Оборудование и сервисные сигналы отображаются по местоположению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2F96304F-97B9-4B75-A9F5-787651A3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4EE6D-81C0-4A63-A113-8DA41D2118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53d660f28a47e4"/>
          <a:srcRect xmlns:a="http://schemas.openxmlformats.org/drawingml/2006/main" l="19000" t="7000" r="2000" b="21000"/>
          <a:stretch xmlns:a="http://schemas.openxmlformats.org/drawingml/2006/main"/>
        </p:blipFill>
        <p:spPr>
          <a:xfrm xmlns:a="http://schemas.openxmlformats.org/drawingml/2006/main">
            <a:off x="533400" y="2019300"/>
            <a:ext cx="8410575" cy="3800475"/>
          </a:xfrm>
          <a:prstGeom xmlns:a="http://schemas.openxmlformats.org/drawingml/2006/main" prst="rect">
            <a:avLst/>
          </a:prstGeom>
        </p:spPr>
      </p:pic>
      <p:sp>
        <p:nvSpPr>
          <p:cNvPr id="5" name="Объекты на карте">
            <a:extLst xmlns:a="http://schemas.openxmlformats.org/drawingml/2006/main">
              <a:ext uri="{FF2B5EF4-FFF2-40B4-BE49-F238E27FC236}">
                <a16:creationId xmlns:a16="http://schemas.microsoft.com/office/drawing/2014/main" id="{73CA0094-32E5-4FBE-8A23-CCCC3BA3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238375"/>
            <a:ext cx="2409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Объекты на карте</a:t>
            </a:r>
          </a:p>
        </p:txBody>
      </p:sp>
      <p:sp>
        <p:nvSpPr>
          <p:cNvPr id="6" name="Переход к оборудованию и связанным заявкам.">
            <a:extLst xmlns:a="http://schemas.openxmlformats.org/drawingml/2006/main">
              <a:ext uri="{FF2B5EF4-FFF2-40B4-BE49-F238E27FC236}">
                <a16:creationId xmlns:a16="http://schemas.microsoft.com/office/drawing/2014/main" id="{02852919-A9C6-4BAD-9D4F-68646102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724150"/>
            <a:ext cx="24098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Переход к оборудованию и связанным заявкам.</a:t>
            </a:r>
          </a:p>
        </p:txBody>
      </p:sp>
      <p:sp>
        <p:nvSpPr>
          <p:cNvPr id="7" name="Фильтры сигналов">
            <a:extLst xmlns:a="http://schemas.openxmlformats.org/drawingml/2006/main">
              <a:ext uri="{FF2B5EF4-FFF2-40B4-BE49-F238E27FC236}">
                <a16:creationId xmlns:a16="http://schemas.microsoft.com/office/drawing/2014/main" id="{2EA8D89A-096E-4C3E-8FA0-490ED8AD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905250"/>
            <a:ext cx="2409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Фильтры сигналов</a:t>
            </a:r>
          </a:p>
        </p:txBody>
      </p:sp>
      <p:sp>
        <p:nvSpPr>
          <p:cNvPr id="8" name="Авария, вызов, плановые работы и нормальное состояние.">
            <a:extLst xmlns:a="http://schemas.openxmlformats.org/drawingml/2006/main">
              <a:ext uri="{FF2B5EF4-FFF2-40B4-BE49-F238E27FC236}">
                <a16:creationId xmlns:a16="http://schemas.microsoft.com/office/drawing/2014/main" id="{253E159A-642E-4CAC-9AF6-25F156D1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391025"/>
            <a:ext cx="24098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Авария, вызов, плановые работы и нормальное состояние.</a:t>
            </a:r>
          </a:p>
        </p:txBody>
      </p:sp>
      <p:sp>
        <p:nvSpPr>
          <p:cNvPr id="9" name="Польза для выездного сервиса: объект и контекст доступн">
            <a:extLst xmlns:a="http://schemas.openxmlformats.org/drawingml/2006/main">
              <a:ext uri="{FF2B5EF4-FFF2-40B4-BE49-F238E27FC236}">
                <a16:creationId xmlns:a16="http://schemas.microsoft.com/office/drawing/2014/main" id="{CCF3B902-0894-46F3-9D09-0240D92C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Польза для выездного сервиса: объект и контекст доступны перед поездкой.</a:t>
            </a:r>
          </a:p>
        </p:txBody>
      </p:sp>
    </p:spTree>
    <p:extLst>
      <p:ext uri="{BB962C8B-B14F-4D97-AF65-F5344CB8AC3E}">
        <p14:creationId xmlns:p14="http://schemas.microsoft.com/office/powerpoint/2010/main" val="40797076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Руководитель видит состояние сервиса">
            <a:extLst xmlns:a="http://schemas.openxmlformats.org/drawingml/2006/main">
              <a:ext uri="{FF2B5EF4-FFF2-40B4-BE49-F238E27FC236}">
                <a16:creationId xmlns:a16="http://schemas.microsoft.com/office/drawing/2014/main" id="{2A17AA92-56A4-46CA-9EC7-5C91F8DA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Руководитель видит состояние сервиса</a:t>
            </a:r>
          </a:p>
        </p:txBody>
      </p:sp>
      <p:sp>
        <p:nvSpPr>
          <p:cNvPr id="2" name="Дашборд объединяет очередь, сроки и результаты обслужив">
            <a:extLst xmlns:a="http://schemas.openxmlformats.org/drawingml/2006/main">
              <a:ext uri="{FF2B5EF4-FFF2-40B4-BE49-F238E27FC236}">
                <a16:creationId xmlns:a16="http://schemas.microsoft.com/office/drawing/2014/main" id="{FD4342E0-85C7-4F28-9568-F485F624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Дашборд объединяет очередь, сроки и результаты обслуживания</a:t>
            </a:r>
          </a:p>
        </p:txBody>
      </p:sp>
      <p:sp>
        <p:nvSpPr>
          <p:cNvPr id="3" name="17">
            <a:extLst xmlns:a="http://schemas.openxmlformats.org/drawingml/2006/main">
              <a:ext uri="{FF2B5EF4-FFF2-40B4-BE49-F238E27FC236}">
                <a16:creationId xmlns:a16="http://schemas.microsoft.com/office/drawing/2014/main" id="{166CD4E2-E849-4CB2-B64D-74892B26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C4A72-D3E8-432A-88A6-BAC859ABD4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48e923c6bc4582"/>
          <a:srcRect xmlns:a="http://schemas.openxmlformats.org/drawingml/2006/main" l="19000" t="7000" r="2000" b="39000"/>
          <a:stretch xmlns:a="http://schemas.openxmlformats.org/drawingml/2006/main"/>
        </p:blipFill>
        <p:spPr>
          <a:xfrm xmlns:a="http://schemas.openxmlformats.org/drawingml/2006/main">
            <a:off x="533400" y="2000250"/>
            <a:ext cx="8096250" cy="3762375"/>
          </a:xfrm>
          <a:prstGeom xmlns:a="http://schemas.openxmlformats.org/drawingml/2006/main" prst="rect">
            <a:avLst/>
          </a:prstGeom>
        </p:spPr>
      </p:pic>
      <p:sp>
        <p:nvSpPr>
          <p:cNvPr id="5" name="Текущая ситуация">
            <a:extLst xmlns:a="http://schemas.openxmlformats.org/drawingml/2006/main">
              <a:ext uri="{FF2B5EF4-FFF2-40B4-BE49-F238E27FC236}">
                <a16:creationId xmlns:a16="http://schemas.microsoft.com/office/drawing/2014/main" id="{BC7D6B05-1BD6-4846-AF03-A2BAF19C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71700"/>
            <a:ext cx="270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Текущая ситуация</a:t>
            </a:r>
          </a:p>
        </p:txBody>
      </p:sp>
      <p:sp>
        <p:nvSpPr>
          <p:cNvPr id="6" name="Активные заявки, просрочки и загрузка инженеров.">
            <a:extLst xmlns:a="http://schemas.openxmlformats.org/drawingml/2006/main">
              <a:ext uri="{FF2B5EF4-FFF2-40B4-BE49-F238E27FC236}">
                <a16:creationId xmlns:a16="http://schemas.microsoft.com/office/drawing/2014/main" id="{1B873437-C1B2-494A-A586-1C14A05E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57475"/>
            <a:ext cx="2705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Активные заявки, просрочки и загрузка инженеров.</a:t>
            </a:r>
          </a:p>
        </p:txBody>
      </p:sp>
      <p:sp>
        <p:nvSpPr>
          <p:cNvPr id="7" name="Результат работы">
            <a:extLst xmlns:a="http://schemas.openxmlformats.org/drawingml/2006/main">
              <a:ext uri="{FF2B5EF4-FFF2-40B4-BE49-F238E27FC236}">
                <a16:creationId xmlns:a16="http://schemas.microsoft.com/office/drawing/2014/main" id="{E68444F1-0091-4DED-8EAA-A8DFE2A1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10000"/>
            <a:ext cx="270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Результат работы</a:t>
            </a:r>
          </a:p>
        </p:txBody>
      </p:sp>
      <p:sp>
        <p:nvSpPr>
          <p:cNvPr id="8" name="Время реакции, выполнение в срок и повторные обращения.">
            <a:extLst xmlns:a="http://schemas.openxmlformats.org/drawingml/2006/main">
              <a:ext uri="{FF2B5EF4-FFF2-40B4-BE49-F238E27FC236}">
                <a16:creationId xmlns:a16="http://schemas.microsoft.com/office/drawing/2014/main" id="{61A7AF53-7EEB-4220-8508-76534DB6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95775"/>
            <a:ext cx="2705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Время реакции, выполнение в срок и повторные обращения.</a:t>
            </a:r>
          </a:p>
        </p:txBody>
      </p:sp>
      <p:sp>
        <p:nvSpPr>
          <p:cNvPr id="9" name="На экране демонстрационные данные, а не показатели внед">
            <a:extLst xmlns:a="http://schemas.openxmlformats.org/drawingml/2006/main">
              <a:ext uri="{FF2B5EF4-FFF2-40B4-BE49-F238E27FC236}">
                <a16:creationId xmlns:a16="http://schemas.microsoft.com/office/drawing/2014/main" id="{D8624309-9F39-4DA5-8EFE-430CB9A1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483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На экране демонстрационные данные, а не показатели внедрения.</a:t>
            </a:r>
          </a:p>
        </p:txBody>
      </p:sp>
    </p:spTree>
    <p:extLst>
      <p:ext uri="{BB962C8B-B14F-4D97-AF65-F5344CB8AC3E}">
        <p14:creationId xmlns:p14="http://schemas.microsoft.com/office/powerpoint/2010/main" val="98955933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Администрирование и разграничение доступа">
            <a:extLst xmlns:a="http://schemas.openxmlformats.org/drawingml/2006/main">
              <a:ext uri="{FF2B5EF4-FFF2-40B4-BE49-F238E27FC236}">
                <a16:creationId xmlns:a16="http://schemas.microsoft.com/office/drawing/2014/main" id="{8B19F596-1FFA-48E4-BCB4-0CB7EA58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Администрирование и разграничение доступа</a:t>
            </a:r>
          </a:p>
        </p:txBody>
      </p:sp>
      <p:sp>
        <p:nvSpPr>
          <p:cNvPr id="2" name="Пользователи, организации и правила сервиса настраивают">
            <a:extLst xmlns:a="http://schemas.openxmlformats.org/drawingml/2006/main">
              <a:ext uri="{FF2B5EF4-FFF2-40B4-BE49-F238E27FC236}">
                <a16:creationId xmlns:a16="http://schemas.microsoft.com/office/drawing/2014/main" id="{6D19069E-2613-4AA1-8011-D8CEB340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Пользователи, организации и правила сервиса настраиваются централизованно</a:t>
            </a:r>
          </a:p>
        </p:txBody>
      </p:sp>
      <p:sp>
        <p:nvSpPr>
          <p:cNvPr id="3" name="18">
            <a:extLst xmlns:a="http://schemas.openxmlformats.org/drawingml/2006/main">
              <a:ext uri="{FF2B5EF4-FFF2-40B4-BE49-F238E27FC236}">
                <a16:creationId xmlns:a16="http://schemas.microsoft.com/office/drawing/2014/main" id="{37B196C0-4D47-4813-9734-FF7B9E1F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E34F8-3306-43D9-9F00-88E16EA4E3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cbb2abb0fe417e"/>
          <a:srcRect xmlns:a="http://schemas.openxmlformats.org/drawingml/2006/main" l="19000" t="8000" r="2000" b="31000"/>
          <a:stretch xmlns:a="http://schemas.openxmlformats.org/drawingml/2006/main"/>
        </p:blipFill>
        <p:spPr>
          <a:xfrm xmlns:a="http://schemas.openxmlformats.org/drawingml/2006/main">
            <a:off x="533400" y="2066925"/>
            <a:ext cx="7924800" cy="3533775"/>
          </a:xfrm>
          <a:prstGeom xmlns:a="http://schemas.openxmlformats.org/drawingml/2006/main" prst="rect">
            <a:avLst/>
          </a:prstGeom>
        </p:spPr>
      </p:pic>
      <p:sp>
        <p:nvSpPr>
          <p:cNvPr id="5" name="Доступ по роли">
            <a:extLst xmlns:a="http://schemas.openxmlformats.org/drawingml/2006/main">
              <a:ext uri="{FF2B5EF4-FFF2-40B4-BE49-F238E27FC236}">
                <a16:creationId xmlns:a16="http://schemas.microsoft.com/office/drawing/2014/main" id="{DA635F07-AE5A-48AC-A2C0-9B1FD4ED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621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Доступ по роли</a:t>
            </a:r>
          </a:p>
        </p:txBody>
      </p:sp>
      <p:sp>
        <p:nvSpPr>
          <p:cNvPr id="6" name="Организация и назначение определяют доступные данные.">
            <a:extLst xmlns:a="http://schemas.openxmlformats.org/drawingml/2006/main">
              <a:ext uri="{FF2B5EF4-FFF2-40B4-BE49-F238E27FC236}">
                <a16:creationId xmlns:a16="http://schemas.microsoft.com/office/drawing/2014/main" id="{595726E4-F77E-48B8-AD51-D7C06920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479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Организация и назначение определяют доступные данные.</a:t>
            </a:r>
          </a:p>
        </p:txBody>
      </p:sp>
      <p:sp>
        <p:nvSpPr>
          <p:cNvPr id="7" name="Настройки сервиса">
            <a:extLst xmlns:a="http://schemas.openxmlformats.org/drawingml/2006/main">
              <a:ext uri="{FF2B5EF4-FFF2-40B4-BE49-F238E27FC236}">
                <a16:creationId xmlns:a16="http://schemas.microsoft.com/office/drawing/2014/main" id="{1F7223ED-C198-46E3-AF02-95BA2BC5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290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Настройки сервиса</a:t>
            </a:r>
          </a:p>
        </p:txBody>
      </p:sp>
      <p:sp>
        <p:nvSpPr>
          <p:cNvPr id="8" name="Пользователи, чек-листы, нормативы SLA и журнал аудита.">
            <a:extLst xmlns:a="http://schemas.openxmlformats.org/drawingml/2006/main">
              <a:ext uri="{FF2B5EF4-FFF2-40B4-BE49-F238E27FC236}">
                <a16:creationId xmlns:a16="http://schemas.microsoft.com/office/drawing/2014/main" id="{2F09E854-4F26-4630-9C2C-3BD9BB2E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14825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Пользователи, чек-листы, нормативы SLA и журнал аудита.</a:t>
            </a:r>
          </a:p>
        </p:txBody>
      </p:sp>
      <p:sp>
        <p:nvSpPr>
          <p:cNvPr id="9" name="Веб-приложение: React, FastAPI, PostgreSQL. Развёртыван">
            <a:extLst xmlns:a="http://schemas.openxmlformats.org/drawingml/2006/main">
              <a:ext uri="{FF2B5EF4-FFF2-40B4-BE49-F238E27FC236}">
                <a16:creationId xmlns:a16="http://schemas.microsoft.com/office/drawing/2014/main" id="{4B0D808A-C10C-456B-83C8-E0085E6F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Веб-приложение: React, FastAPI, PostgreSQL. Развёртывание через Docker Compose.</a:t>
            </a:r>
          </a:p>
        </p:txBody>
      </p:sp>
    </p:spTree>
    <p:extLst>
      <p:ext uri="{BB962C8B-B14F-4D97-AF65-F5344CB8AC3E}">
        <p14:creationId xmlns:p14="http://schemas.microsoft.com/office/powerpoint/2010/main" val="125270343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Практическая польза для предприятия">
            <a:extLst xmlns:a="http://schemas.openxmlformats.org/drawingml/2006/main">
              <a:ext uri="{FF2B5EF4-FFF2-40B4-BE49-F238E27FC236}">
                <a16:creationId xmlns:a16="http://schemas.microsoft.com/office/drawing/2014/main" id="{7CCAACCA-A35F-42FC-8337-4E6CDF92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Практическая польза для предприятия</a:t>
            </a:r>
          </a:p>
        </p:txBody>
      </p:sp>
      <p:sp>
        <p:nvSpPr>
          <p:cNvPr id="2" name="Приложение связывает ежедневную работу с проверяемым ре">
            <a:extLst xmlns:a="http://schemas.openxmlformats.org/drawingml/2006/main">
              <a:ext uri="{FF2B5EF4-FFF2-40B4-BE49-F238E27FC236}">
                <a16:creationId xmlns:a16="http://schemas.microsoft.com/office/drawing/2014/main" id="{07C2D6B3-CD9C-4585-9B49-40708FA1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Приложение связывает ежедневную работу с проверяемым результатом</a:t>
            </a:r>
          </a:p>
        </p:txBody>
      </p:sp>
      <p:sp>
        <p:nvSpPr>
          <p:cNvPr id="3" name="19">
            <a:extLst xmlns:a="http://schemas.openxmlformats.org/drawingml/2006/main">
              <a:ext uri="{FF2B5EF4-FFF2-40B4-BE49-F238E27FC236}">
                <a16:creationId xmlns:a16="http://schemas.microsoft.com/office/drawing/2014/main" id="{68AFEFCE-ED58-4950-9599-228EFB45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8A37E-B065-497A-9787-66F9FEB358DB}"/>
              </a:ext>
            </a:extLst>
          </p:cNvPr>
          <p:cNvGraphicFramePr/>
          <p:nvPr/>
        </p:nvGraphicFramePr>
        <p:xfrm>
          <a:off xmlns:a="http://schemas.openxmlformats.org/drawingml/2006/main" x="533400" y="2000250"/>
          <a:ext xmlns:a="http://schemas.openxmlformats.org/drawingml/2006/main" cx="11125200" cy="3419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7029450"/>
              </a:tblGrid>
              <a:tr h="68389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Задача предприятия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722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даёт Alageum Service Hub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7223D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Обслуживать парк оборудования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Паспорта и история доступны по объекту и QR-коду.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Распределять обращения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Общая очередь, приоритет и назначенный инженер.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Контролировать выполнение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Сроки, причины пауз, отчёт и подтверждение клиента.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Готовить решения руководителя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Показатели сервиса связаны с конкретными заявками.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</a:tr>
            </a:tbl>
          </a:graphicData>
        </a:graphic>
      </p:graphicFrame>
      <p:sp>
        <p:nvSpPr>
          <p:cNvPr id="5" name="Для развития: интеграция с ERP/1С, складской учёт и эле">
            <a:extLst xmlns:a="http://schemas.openxmlformats.org/drawingml/2006/main">
              <a:ext uri="{FF2B5EF4-FFF2-40B4-BE49-F238E27FC236}">
                <a16:creationId xmlns:a16="http://schemas.microsoft.com/office/drawing/2014/main" id="{8266EC93-7C2E-4808-8072-96DA6C7E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085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Для развития: интеграция с ERP/1С, складской учёт и электронная подпись.</a:t>
            </a:r>
          </a:p>
        </p:txBody>
      </p:sp>
    </p:spTree>
    <p:extLst>
      <p:ext uri="{BB962C8B-B14F-4D97-AF65-F5344CB8AC3E}">
        <p14:creationId xmlns:p14="http://schemas.microsoft.com/office/powerpoint/2010/main" val="10342961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722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Предложение: пилот на одном процессе">
            <a:extLst xmlns:a="http://schemas.openxmlformats.org/drawingml/2006/main">
              <a:ext uri="{FF2B5EF4-FFF2-40B4-BE49-F238E27FC236}">
                <a16:creationId xmlns:a16="http://schemas.microsoft.com/office/drawing/2014/main" id="{D23B52E1-2E03-4BD2-86EA-ED2455F1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Предложение: пилот на одном процессе</a:t>
            </a:r>
          </a:p>
        </p:txBody>
      </p:sp>
      <p:sp>
        <p:nvSpPr>
          <p:cNvPr id="2" name="Небольшой масштаб позволит проверить пользу на реальной">
            <a:extLst xmlns:a="http://schemas.openxmlformats.org/drawingml/2006/main">
              <a:ext uri="{FF2B5EF4-FFF2-40B4-BE49-F238E27FC236}">
                <a16:creationId xmlns:a16="http://schemas.microsoft.com/office/drawing/2014/main" id="{F622FF79-AAA0-43CC-A6E6-D6C231E8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4D9EA"/>
                </a:solidFill>
                <a:latin typeface="Arial"/>
                <a:ea typeface="Arial"/>
                <a:cs typeface="Arial"/>
              </a:rPr>
              <a:t>Небольшой масштаб позволит проверить пользу на реальной работе</a:t>
            </a:r>
          </a:p>
        </p:txBody>
      </p:sp>
      <p:sp>
        <p:nvSpPr>
          <p:cNvPr id="3" name="20">
            <a:extLst xmlns:a="http://schemas.openxmlformats.org/drawingml/2006/main">
              <a:ext uri="{FF2B5EF4-FFF2-40B4-BE49-F238E27FC236}">
                <a16:creationId xmlns:a16="http://schemas.microsoft.com/office/drawing/2014/main" id="{0D5D129B-C0C5-4F0A-9EAE-455D62AE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DB8D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2–4 недели">
            <a:extLst xmlns:a="http://schemas.openxmlformats.org/drawingml/2006/main">
              <a:ext uri="{FF2B5EF4-FFF2-40B4-BE49-F238E27FC236}">
                <a16:creationId xmlns:a16="http://schemas.microsoft.com/office/drawing/2014/main" id="{504A9304-756D-47DB-B998-7A42F7D3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666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D5CCFF"/>
                </a:solidFill>
                <a:latin typeface="Arial"/>
                <a:ea typeface="Arial"/>
                <a:cs typeface="Arial"/>
              </a:rPr>
              <a:t>2–4 недели</a:t>
            </a:r>
          </a:p>
        </p:txBody>
      </p:sp>
      <p:sp>
        <p:nvSpPr>
          <p:cNvPr id="5" name="Ориентир для согласования:&#10;до 10 объектов, 1 диспетчер ">
            <a:extLst xmlns:a="http://schemas.openxmlformats.org/drawingml/2006/main">
              <a:ext uri="{FF2B5EF4-FFF2-40B4-BE49-F238E27FC236}">
                <a16:creationId xmlns:a16="http://schemas.microsoft.com/office/drawing/2014/main" id="{CA945B28-BA33-45E0-A326-7F5C3C56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6762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Ориентир для согласования: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 10 объектов, 1 диспетчер и 2 инженера.</a:t>
            </a:r>
          </a:p>
        </p:txBody>
      </p:sp>
      <p:sp>
        <p:nvSpPr>
          <p:cNvPr id="6" name="Что сравним до и после">
            <a:extLst xmlns:a="http://schemas.openxmlformats.org/drawingml/2006/main">
              <a:ext uri="{FF2B5EF4-FFF2-40B4-BE49-F238E27FC236}">
                <a16:creationId xmlns:a16="http://schemas.microsoft.com/office/drawing/2014/main" id="{9643BC7B-C85C-4BC8-993D-4B495B09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Что сравним до и после</a:t>
            </a:r>
          </a:p>
        </p:txBody>
      </p:sp>
      <p:sp>
        <p:nvSpPr>
          <p:cNvPr id="7" name="Время назначения и поиска документов.&#10;Полноту отчётов и">
            <a:extLst xmlns:a="http://schemas.openxmlformats.org/drawingml/2006/main">
              <a:ext uri="{FF2B5EF4-FFF2-40B4-BE49-F238E27FC236}">
                <a16:creationId xmlns:a16="http://schemas.microsoft.com/office/drawing/2014/main" id="{F782985E-C4DD-4500-ACB3-7CF6F399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33950"/>
            <a:ext cx="6953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4D9EA"/>
                </a:solidFill>
                <a:latin typeface="Arial"/>
                <a:ea typeface="Arial"/>
                <a:cs typeface="Arial"/>
              </a:rPr>
              <a:t>Время назначения и поиска документов.</a:t>
            </a:r>
          </a:p>
          <a:p xmlns:a="http://schemas.openxmlformats.org/drawingml/2006/main">
            <a: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4D9EA"/>
                </a:solidFill>
                <a:latin typeface="Arial"/>
                <a:ea typeface="Arial"/>
                <a:cs typeface="Arial"/>
              </a:rPr>
              <a:t>Полноту отчётов и актуальность статусов.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D4746-06FC-4526-A328-B66E0DEE42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50874d4cff40a8"/>
          <a:stretch xmlns:a="http://schemas.openxmlformats.org/drawingml/2006/main"/>
        </p:blipFill>
        <p:spPr>
          <a:xfrm xmlns:a="http://schemas.openxmlformats.org/drawingml/2006/main">
            <a:off x="9115425" y="2374900"/>
            <a:ext cx="2295525" cy="3060700"/>
          </a:xfrm>
          <a:prstGeom xmlns:a="http://schemas.openxmlformats.org/drawingml/2006/main" prst="rect">
            <a:avLst/>
          </a:prstGeom>
        </p:spPr>
      </p:pic>
      <p:sp>
        <p:nvSpPr>
          <p:cNvPr id="9" name="Следующий шаг: рабочая встреча и выбор сервисного сцена">
            <a:extLst xmlns:a="http://schemas.openxmlformats.org/drawingml/2006/main">
              <a:ext uri="{FF2B5EF4-FFF2-40B4-BE49-F238E27FC236}">
                <a16:creationId xmlns:a16="http://schemas.microsoft.com/office/drawing/2014/main" id="{F3B5A1D5-AA57-456D-9974-D2954D07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5CCFF"/>
                </a:solidFill>
                <a:latin typeface="Arial"/>
                <a:ea typeface="Arial"/>
                <a:cs typeface="Arial"/>
              </a:rPr>
              <a:t>Следующий шаг: рабочая встреча и выбор сервисного сценария.</a:t>
            </a:r>
          </a:p>
        </p:txBody>
      </p:sp>
    </p:spTree>
    <p:extLst>
      <p:ext uri="{BB962C8B-B14F-4D97-AF65-F5344CB8AC3E}">
        <p14:creationId xmlns:p14="http://schemas.microsoft.com/office/powerpoint/2010/main" val="7117644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2026-10-20T05:53:32.0570000Z</dcterms:created>
  <dcterms:modified xsi:type="dcterms:W3CDTF">2026-10-20T05:53:32.0570000Z</dcterms:modified>
</coreProperties>
</file>