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versit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93192"/>
            <a:ext cx="1234440" cy="5122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508760"/>
            <a:ext cx="46634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rial"/>
              </a:defRPr>
            </a:pPr>
            <a:r>
              <a:t>Qural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04288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rial"/>
              </a:defRPr>
            </a:pPr>
            <a:r>
              <a:t>Сервис производителя</a:t>
            </a:r>
            <a:br/>
            <a:r>
              <a:t>трансформаторов и КТП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877056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0">
                <a:solidFill>
                  <a:srgbClr val="D0D2F2"/>
                </a:solidFill>
                <a:latin typeface="Arial"/>
              </a:defRPr>
            </a:pPr>
            <a:r>
              <a:t>От ввода в эксплуатацию и гарантии</a:t>
            </a:r>
            <a:br/>
            <a:r>
              <a:t>до заявки, ремонта и замены</a:t>
            </a:r>
          </a:p>
        </p:txBody>
      </p:sp>
      <p:pic>
        <p:nvPicPr>
          <p:cNvPr id="7" name="Picture 6" descr="equipment-2026-10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61722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04688" y="5074920"/>
            <a:ext cx="60350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0">
                <a:solidFill>
                  <a:srgbClr val="D0D2F2"/>
                </a:solidFill>
                <a:latin typeface="Arial"/>
              </a:defRPr>
            </a:pPr>
            <a:r>
              <a:t>Реальный экран Qural Hub · демонстрационные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900" b="0">
                <a:solidFill>
                  <a:srgbClr val="C2C9DE"/>
                </a:solidFill>
                <a:latin typeface="Arial"/>
              </a:defRPr>
            </a:pPr>
            <a:r>
              <a:t>Qural Hub · демонстрационный сценарий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92240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00" b="0">
                <a:solidFill>
                  <a:srgbClr val="C2C9DE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700" b="1">
                <a:solidFill>
                  <a:srgbClr val="19243E"/>
                </a:solidFill>
                <a:latin typeface="Arial"/>
              </a:defRPr>
            </a:pPr>
            <a:r>
              <a:t>Один сбой питания — много последствий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600" b="0">
                <a:solidFill>
                  <a:srgbClr val="5A6477"/>
                </a:solidFill>
                <a:latin typeface="Arial"/>
              </a:defRPr>
            </a:pPr>
            <a:r>
              <a:t>Если потребители питаются от одной КТП, её отказ затрагивает их одновременно.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45336"/>
            <a:ext cx="11018520" cy="27432"/>
          </a:xfrm>
          <a:prstGeom prst="rect">
            <a:avLst/>
          </a:prstGeom>
          <a:solidFill>
            <a:srgbClr val="584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73936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200" b="1">
                <a:solidFill>
                  <a:srgbClr val="5841DE"/>
                </a:solidFill>
                <a:latin typeface="Arial"/>
              </a:defRPr>
            </a:pPr>
            <a:r>
              <a:t>Продукты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755648"/>
            <a:ext cx="797356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0">
                <a:solidFill>
                  <a:srgbClr val="19243E"/>
                </a:solidFill>
                <a:latin typeface="Arial"/>
              </a:defRPr>
            </a:pPr>
            <a:r>
              <a:t>Холодильники и морозильники останавливаются. При долгом отключении мясо, молочные продукты и мороженое могут испортиться.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752344"/>
            <a:ext cx="10881360" cy="10972"/>
          </a:xfrm>
          <a:prstGeom prst="rect">
            <a:avLst/>
          </a:prstGeom>
          <a:solidFill>
            <a:srgbClr val="DC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16936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200" b="1">
                <a:solidFill>
                  <a:srgbClr val="5841DE"/>
                </a:solidFill>
                <a:latin typeface="Arial"/>
              </a:defRPr>
            </a:pPr>
            <a:r>
              <a:t>Жара и медицина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98648"/>
            <a:ext cx="797356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0">
                <a:solidFill>
                  <a:srgbClr val="19243E"/>
                </a:solidFill>
                <a:latin typeface="Arial"/>
              </a:defRPr>
            </a:pPr>
            <a:r>
              <a:t>Летом перестают работать кондиционеры. Охлаждение и вентиляция медучреждений зависят от возможностей резервного питания.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95344"/>
            <a:ext cx="10881360" cy="10972"/>
          </a:xfrm>
          <a:prstGeom prst="rect">
            <a:avLst/>
          </a:prstGeom>
          <a:solidFill>
            <a:srgbClr val="DC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59936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200" b="1">
                <a:solidFill>
                  <a:srgbClr val="5841DE"/>
                </a:solidFill>
                <a:latin typeface="Arial"/>
              </a:defRPr>
            </a:pPr>
            <a:r>
              <a:t>Производство и офис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041648"/>
            <a:ext cx="797356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0">
                <a:solidFill>
                  <a:srgbClr val="19243E"/>
                </a:solidFill>
                <a:latin typeface="Arial"/>
              </a:defRPr>
            </a:pPr>
            <a:r>
              <a:t>Станки, насосы и подъёмные механизмы простаивают; без достаточного резерва останавливаются серверы, компьютеры и кассы.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15584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700" b="1">
                <a:solidFill>
                  <a:srgbClr val="19243E"/>
                </a:solidFill>
                <a:latin typeface="Arial"/>
              </a:defRPr>
            </a:pPr>
            <a:r>
              <a:t>Qural Hub помогает быстрее найти объект, проверить обязательства и организовать выезд.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900" b="0">
                <a:solidFill>
                  <a:srgbClr val="5A6477"/>
                </a:solidFill>
                <a:latin typeface="Arial"/>
              </a:defRPr>
            </a:pPr>
            <a:r>
              <a:t>Qural Hub · демонстрационный сценарий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92240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00" b="0">
                <a:solidFill>
                  <a:srgbClr val="5A6477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700" b="1">
                <a:solidFill>
                  <a:srgbClr val="19243E"/>
                </a:solidFill>
                <a:latin typeface="Arial"/>
              </a:defRPr>
            </a:pPr>
            <a:r>
              <a:t>От обращения до выезда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600" b="0">
                <a:solidFill>
                  <a:srgbClr val="5A6477"/>
                </a:solidFill>
                <a:latin typeface="Arial"/>
              </a:defRPr>
            </a:pPr>
            <a:r>
              <a:t>Qural Hub связывает отключение с установленным оборудованием и историей его обслуживания.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36776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5841D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6184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700" b="1">
                <a:solidFill>
                  <a:srgbClr val="19243E"/>
                </a:solidFill>
                <a:latin typeface="Arial"/>
              </a:defRPr>
            </a:pPr>
            <a:r>
              <a:t>Сообщение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911095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 b="0">
                <a:solidFill>
                  <a:srgbClr val="5A6477"/>
                </a:solidFill>
                <a:latin typeface="Arial"/>
              </a:defRPr>
            </a:pPr>
            <a:r>
              <a:t>Житель называет адрес и наблюдаемый факт. При угрозе людям — 112.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96896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5841D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57860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700" b="1">
                <a:solidFill>
                  <a:srgbClr val="19243E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71215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 b="0">
                <a:solidFill>
                  <a:srgbClr val="5A6477"/>
                </a:solidFill>
                <a:latin typeface="Arial"/>
              </a:defRPr>
            </a:pPr>
            <a:r>
              <a:t>Диспетчер связывает обращения, находит паспорт КТП и условия гарантии.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57016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5841D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5387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700" b="1">
                <a:solidFill>
                  <a:srgbClr val="19243E"/>
                </a:solidFill>
                <a:latin typeface="Arial"/>
              </a:defRPr>
            </a:pPr>
            <a:r>
              <a:t>Выезд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831336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 b="0">
                <a:solidFill>
                  <a:srgbClr val="5A6477"/>
                </a:solidFill>
                <a:latin typeface="Arial"/>
              </a:defRPr>
            </a:pPr>
            <a:r>
              <a:t>Квалифицированные специалисты устанавливают причину и выполняют работы.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800" b="1">
                <a:solidFill>
                  <a:srgbClr val="5841D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4988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700" b="1">
                <a:solidFill>
                  <a:srgbClr val="19243E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791456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 b="0">
                <a:solidFill>
                  <a:srgbClr val="5A6477"/>
                </a:solidFill>
                <a:latin typeface="Arial"/>
              </a:defRPr>
            </a:pPr>
            <a:r>
              <a:t>Владелец видит статус и акт; после срока готовится обоснованная замена.</a:t>
            </a:r>
          </a:p>
        </p:txBody>
      </p:sp>
      <p:pic>
        <p:nvPicPr>
          <p:cNvPr id="17" name="Picture 16" descr="board-2026-10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91056"/>
            <a:ext cx="5925312" cy="3337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24144" y="5074920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000" b="0">
                <a:solidFill>
                  <a:srgbClr val="5A6477"/>
                </a:solidFill>
                <a:latin typeface="Arial"/>
              </a:defRPr>
            </a:pPr>
            <a:r>
              <a:t>Новый снимок экрана · демонстрационные заявки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5760720"/>
            <a:ext cx="10972800" cy="18288"/>
          </a:xfrm>
          <a:prstGeom prst="rect">
            <a:avLst/>
          </a:prstGeom>
          <a:solidFill>
            <a:srgbClr val="DC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92531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400" b="1">
                <a:solidFill>
                  <a:srgbClr val="19243E"/>
                </a:solidFill>
                <a:latin typeface="Arial"/>
              </a:defRPr>
            </a:pPr>
            <a:r>
              <a:t>Сегодня: паспорта и заявки. Связь с 109, датчики и назначение бригад — следующий этап пилота.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900" b="0">
                <a:solidFill>
                  <a:srgbClr val="5A6477"/>
                </a:solidFill>
                <a:latin typeface="Arial"/>
              </a:defRPr>
            </a:pPr>
            <a:r>
              <a:t>Qural Hub · демонстрационный сценарий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92240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900" b="0">
                <a:solidFill>
                  <a:srgbClr val="5A6477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